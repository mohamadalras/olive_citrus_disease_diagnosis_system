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notesMasterIdLst>
    <p:notesMasterId r:id="rId25"/>
  </p:notesMasterIdLst>
  <p:sldIdLst>
    <p:sldId id="256" r:id="rId2"/>
    <p:sldId id="279" r:id="rId3"/>
    <p:sldId id="257" r:id="rId4"/>
    <p:sldId id="280" r:id="rId5"/>
    <p:sldId id="281" r:id="rId6"/>
    <p:sldId id="273" r:id="rId7"/>
    <p:sldId id="274" r:id="rId8"/>
    <p:sldId id="284" r:id="rId9"/>
    <p:sldId id="268" r:id="rId10"/>
    <p:sldId id="276" r:id="rId11"/>
    <p:sldId id="277" r:id="rId12"/>
    <p:sldId id="282" r:id="rId13"/>
    <p:sldId id="261" r:id="rId14"/>
    <p:sldId id="262" r:id="rId15"/>
    <p:sldId id="263" r:id="rId16"/>
    <p:sldId id="266" r:id="rId17"/>
    <p:sldId id="272" r:id="rId18"/>
    <p:sldId id="283" r:id="rId19"/>
    <p:sldId id="285" r:id="rId20"/>
    <p:sldId id="271" r:id="rId21"/>
    <p:sldId id="265" r:id="rId22"/>
    <p:sldId id="278" r:id="rId23"/>
    <p:sldId id="286" r:id="rId24"/>
  </p:sldIdLst>
  <p:sldSz cx="9144000" cy="6858000" type="screen4x3"/>
  <p:notesSz cx="6858000" cy="9144000"/>
  <p:defaultText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ohamad alras" initials="ma" lastIdx="1" clrIdx="0">
    <p:extLst>
      <p:ext uri="{19B8F6BF-5375-455C-9EA6-DF929625EA0E}">
        <p15:presenceInfo xmlns:p15="http://schemas.microsoft.com/office/powerpoint/2012/main" userId="dad1d5cafc032a9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نمط متوسط 2 - تميي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4412" autoAdjust="0"/>
    <p:restoredTop sz="94662" autoAdjust="0"/>
  </p:normalViewPr>
  <p:slideViewPr>
    <p:cSldViewPr>
      <p:cViewPr varScale="1">
        <p:scale>
          <a:sx n="68" d="100"/>
          <a:sy n="68" d="100"/>
        </p:scale>
        <p:origin x="144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DC87BC0-532C-4459-9D6B-EE8EBC943924}"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pPr rtl="1"/>
          <a:endParaRPr lang="ar-SY"/>
        </a:p>
      </dgm:t>
    </dgm:pt>
    <dgm:pt modelId="{24C20D88-C828-44A9-8440-63CB2A707739}">
      <dgm:prSet phldrT="[Text]" custT="1"/>
      <dgm:spPr>
        <a:solidFill>
          <a:schemeClr val="accent3">
            <a:lumMod val="60000"/>
            <a:lumOff val="40000"/>
          </a:schemeClr>
        </a:solidFill>
      </dgm:spPr>
      <dgm:t>
        <a:bodyPr/>
        <a:lstStyle/>
        <a:p>
          <a:pPr algn="r" rtl="1"/>
          <a:r>
            <a:rPr lang="ar-SY" sz="2400" b="1" dirty="0">
              <a:solidFill>
                <a:schemeClr val="tx1">
                  <a:lumMod val="95000"/>
                  <a:lumOff val="5000"/>
                </a:schemeClr>
              </a:solidFill>
              <a:latin typeface="Simplified Arabic" pitchFamily="18" charset="-78"/>
              <a:cs typeface="Simplified Arabic" pitchFamily="18" charset="-78"/>
            </a:rPr>
            <a:t>تطوير نظام ذكي لتصنيف أمراض</a:t>
          </a:r>
          <a:r>
            <a:rPr lang="ar-SA" sz="2400" b="1" dirty="0">
              <a:solidFill>
                <a:schemeClr val="tx1">
                  <a:lumMod val="95000"/>
                  <a:lumOff val="5000"/>
                </a:schemeClr>
              </a:solidFill>
              <a:latin typeface="Simplified Arabic" pitchFamily="18" charset="-78"/>
              <a:cs typeface="Simplified Arabic" pitchFamily="18" charset="-78"/>
            </a:rPr>
            <a:t> أشجار</a:t>
          </a:r>
          <a:r>
            <a:rPr lang="ar-SY" sz="2400" b="1" dirty="0">
              <a:solidFill>
                <a:schemeClr val="tx1">
                  <a:lumMod val="95000"/>
                  <a:lumOff val="5000"/>
                </a:schemeClr>
              </a:solidFill>
              <a:latin typeface="Simplified Arabic" pitchFamily="18" charset="-78"/>
              <a:cs typeface="Simplified Arabic" pitchFamily="18" charset="-78"/>
            </a:rPr>
            <a:t> الزيتون والحمضيات باستخدام تقنيات معالجة الصور الرقمية والتعلم العميق، </a:t>
          </a:r>
          <a:endParaRPr lang="ar-SY" sz="2400" b="1" dirty="0"/>
        </a:p>
      </dgm:t>
    </dgm:pt>
    <dgm:pt modelId="{76570F43-09DA-4377-8609-3191896A75C6}" type="parTrans" cxnId="{3A85A579-C4C0-442E-9CB7-FF147089B9C6}">
      <dgm:prSet/>
      <dgm:spPr/>
      <dgm:t>
        <a:bodyPr/>
        <a:lstStyle/>
        <a:p>
          <a:pPr rtl="1"/>
          <a:endParaRPr lang="ar-SY"/>
        </a:p>
      </dgm:t>
    </dgm:pt>
    <dgm:pt modelId="{13912814-4FA9-4394-80AC-F5E8DFD267DB}" type="sibTrans" cxnId="{3A85A579-C4C0-442E-9CB7-FF147089B9C6}">
      <dgm:prSet/>
      <dgm:spPr>
        <a:solidFill>
          <a:schemeClr val="accent3">
            <a:lumMod val="75000"/>
            <a:alpha val="90000"/>
          </a:schemeClr>
        </a:solidFill>
      </dgm:spPr>
      <dgm:t>
        <a:bodyPr/>
        <a:lstStyle/>
        <a:p>
          <a:pPr rtl="1"/>
          <a:endParaRPr lang="ar-SY"/>
        </a:p>
      </dgm:t>
    </dgm:pt>
    <dgm:pt modelId="{6DBF612D-16BA-4BD1-AC14-31FD1BEA18FD}">
      <dgm:prSet phldrT="[Text]" custT="1"/>
      <dgm:spPr>
        <a:solidFill>
          <a:schemeClr val="accent3">
            <a:lumMod val="60000"/>
            <a:lumOff val="40000"/>
          </a:schemeClr>
        </a:solidFill>
      </dgm:spPr>
      <dgm:t>
        <a:bodyPr/>
        <a:lstStyle/>
        <a:p>
          <a:pPr algn="r" rtl="1"/>
          <a:r>
            <a:rPr lang="ar-SY" sz="2400" b="1" dirty="0">
              <a:solidFill>
                <a:schemeClr val="tx1">
                  <a:lumMod val="95000"/>
                  <a:lumOff val="5000"/>
                </a:schemeClr>
              </a:solidFill>
              <a:latin typeface="Simplified Arabic" pitchFamily="18" charset="-78"/>
              <a:cs typeface="Simplified Arabic" pitchFamily="18" charset="-78"/>
            </a:rPr>
            <a:t>بناء </a:t>
          </a:r>
          <a:r>
            <a:rPr lang="ar-SA" sz="2400" b="1" dirty="0">
              <a:solidFill>
                <a:schemeClr val="tx1">
                  <a:lumMod val="95000"/>
                  <a:lumOff val="5000"/>
                </a:schemeClr>
              </a:solidFill>
              <a:latin typeface="Simplified Arabic" pitchFamily="18" charset="-78"/>
              <a:cs typeface="Simplified Arabic" pitchFamily="18" charset="-78"/>
            </a:rPr>
            <a:t>مجموعة</a:t>
          </a:r>
          <a:r>
            <a:rPr lang="ar-SY" sz="2400" b="1" dirty="0">
              <a:solidFill>
                <a:schemeClr val="tx1">
                  <a:lumMod val="95000"/>
                  <a:lumOff val="5000"/>
                </a:schemeClr>
              </a:solidFill>
              <a:latin typeface="Simplified Arabic" pitchFamily="18" charset="-78"/>
              <a:cs typeface="Simplified Arabic" pitchFamily="18" charset="-78"/>
            </a:rPr>
            <a:t> بيانات صور شاملة</a:t>
          </a:r>
          <a:r>
            <a:rPr lang="ar-SA" sz="2400" b="1" dirty="0">
              <a:solidFill>
                <a:schemeClr val="tx1">
                  <a:lumMod val="95000"/>
                  <a:lumOff val="5000"/>
                </a:schemeClr>
              </a:solidFill>
              <a:latin typeface="Simplified Arabic" pitchFamily="18" charset="-78"/>
              <a:cs typeface="Simplified Arabic" pitchFamily="18" charset="-78"/>
            </a:rPr>
            <a:t> للأمراض</a:t>
          </a:r>
          <a:r>
            <a:rPr lang="ar-SY" sz="2400" b="1" dirty="0">
              <a:solidFill>
                <a:schemeClr val="tx1">
                  <a:lumMod val="95000"/>
                  <a:lumOff val="5000"/>
                </a:schemeClr>
              </a:solidFill>
              <a:latin typeface="Simplified Arabic" pitchFamily="18" charset="-78"/>
              <a:cs typeface="Simplified Arabic" pitchFamily="18" charset="-78"/>
            </a:rPr>
            <a:t> وتدريب نموذج </a:t>
          </a:r>
          <a:r>
            <a:rPr lang="en-US" sz="2200" b="1" dirty="0">
              <a:solidFill>
                <a:schemeClr val="tx1">
                  <a:lumMod val="95000"/>
                  <a:lumOff val="5000"/>
                </a:schemeClr>
              </a:solidFill>
              <a:latin typeface="Simplified Arabic" pitchFamily="18" charset="-78"/>
              <a:cs typeface="+mj-cs"/>
            </a:rPr>
            <a:t>EfficientNet-B0</a:t>
          </a:r>
          <a:endParaRPr lang="ar-SY" sz="2200" b="1" dirty="0"/>
        </a:p>
      </dgm:t>
    </dgm:pt>
    <dgm:pt modelId="{FDE09A3E-7AAF-455C-B319-B096DB31188D}" type="parTrans" cxnId="{45F34941-B24B-4249-AF42-6FC2F95F5221}">
      <dgm:prSet/>
      <dgm:spPr/>
      <dgm:t>
        <a:bodyPr/>
        <a:lstStyle/>
        <a:p>
          <a:pPr rtl="1"/>
          <a:endParaRPr lang="ar-SY"/>
        </a:p>
      </dgm:t>
    </dgm:pt>
    <dgm:pt modelId="{E8F5103B-11E2-4B1F-8051-B03F1856C672}" type="sibTrans" cxnId="{45F34941-B24B-4249-AF42-6FC2F95F5221}">
      <dgm:prSet/>
      <dgm:spPr>
        <a:solidFill>
          <a:schemeClr val="accent3">
            <a:lumMod val="75000"/>
            <a:alpha val="90000"/>
          </a:schemeClr>
        </a:solidFill>
      </dgm:spPr>
      <dgm:t>
        <a:bodyPr/>
        <a:lstStyle/>
        <a:p>
          <a:pPr rtl="1"/>
          <a:endParaRPr lang="ar-SY"/>
        </a:p>
      </dgm:t>
    </dgm:pt>
    <dgm:pt modelId="{FC6388ED-B5E6-471A-AB12-1B4B50C0C2F3}">
      <dgm:prSet phldrT="[Text]" custT="1"/>
      <dgm:spPr>
        <a:solidFill>
          <a:schemeClr val="accent3">
            <a:lumMod val="60000"/>
            <a:lumOff val="40000"/>
          </a:schemeClr>
        </a:solidFill>
      </dgm:spPr>
      <dgm:t>
        <a:bodyPr/>
        <a:lstStyle/>
        <a:p>
          <a:pPr algn="r" rtl="1"/>
          <a:r>
            <a:rPr lang="ar-SY" sz="2400" b="1" dirty="0">
              <a:solidFill>
                <a:schemeClr val="tx1">
                  <a:lumMod val="95000"/>
                  <a:lumOff val="5000"/>
                </a:schemeClr>
              </a:solidFill>
              <a:latin typeface="Simplified Arabic" pitchFamily="18" charset="-78"/>
              <a:cs typeface="Simplified Arabic" pitchFamily="18" charset="-78"/>
            </a:rPr>
            <a:t>تطوير تطبيق ويب تفاعلي بإطار العمل </a:t>
          </a:r>
          <a:r>
            <a:rPr lang="en-US" sz="2200" b="1" dirty="0">
              <a:solidFill>
                <a:schemeClr val="tx1">
                  <a:lumMod val="95000"/>
                  <a:lumOff val="5000"/>
                </a:schemeClr>
              </a:solidFill>
              <a:latin typeface="Simplified Arabic" pitchFamily="18" charset="-78"/>
              <a:cs typeface="Simplified Arabic" pitchFamily="18" charset="-78"/>
            </a:rPr>
            <a:t>Django</a:t>
          </a:r>
          <a:r>
            <a:rPr lang="ar-SA" sz="2400" b="1" dirty="0">
              <a:solidFill>
                <a:schemeClr val="tx1">
                  <a:lumMod val="95000"/>
                  <a:lumOff val="5000"/>
                </a:schemeClr>
              </a:solidFill>
              <a:latin typeface="Simplified Arabic" pitchFamily="18" charset="-78"/>
              <a:cs typeface="Simplified Arabic" pitchFamily="18" charset="-78"/>
            </a:rPr>
            <a:t> لعرض</a:t>
          </a:r>
          <a:r>
            <a:rPr lang="ar-SY" sz="2400" b="1" dirty="0">
              <a:solidFill>
                <a:schemeClr val="tx1">
                  <a:lumMod val="95000"/>
                  <a:lumOff val="5000"/>
                </a:schemeClr>
              </a:solidFill>
              <a:latin typeface="Simplified Arabic" pitchFamily="18" charset="-78"/>
              <a:cs typeface="Simplified Arabic" pitchFamily="18" charset="-78"/>
            </a:rPr>
            <a:t> التشخيص</a:t>
          </a:r>
          <a:r>
            <a:rPr lang="ar-SA" sz="2400" b="1" dirty="0">
              <a:solidFill>
                <a:schemeClr val="tx1">
                  <a:lumMod val="95000"/>
                  <a:lumOff val="5000"/>
                </a:schemeClr>
              </a:solidFill>
              <a:latin typeface="Simplified Arabic" pitchFamily="18" charset="-78"/>
              <a:cs typeface="Simplified Arabic" pitchFamily="18" charset="-78"/>
            </a:rPr>
            <a:t> ووصف المرض</a:t>
          </a:r>
          <a:r>
            <a:rPr lang="ar-SY" sz="2400" b="1" dirty="0">
              <a:solidFill>
                <a:schemeClr val="tx1">
                  <a:lumMod val="95000"/>
                  <a:lumOff val="5000"/>
                </a:schemeClr>
              </a:solidFill>
              <a:latin typeface="Simplified Arabic" pitchFamily="18" charset="-78"/>
              <a:cs typeface="Simplified Arabic" pitchFamily="18" charset="-78"/>
            </a:rPr>
            <a:t> والتوصيات العلاجية باللغة العربية.</a:t>
          </a:r>
          <a:endParaRPr lang="ar-SY" sz="2400" b="1" dirty="0"/>
        </a:p>
      </dgm:t>
    </dgm:pt>
    <dgm:pt modelId="{4340B17A-1DA3-481B-BFD8-5555C19BF7B8}" type="parTrans" cxnId="{8C308A4B-AB60-4651-B99D-8A6A15619581}">
      <dgm:prSet/>
      <dgm:spPr/>
      <dgm:t>
        <a:bodyPr/>
        <a:lstStyle/>
        <a:p>
          <a:pPr rtl="1"/>
          <a:endParaRPr lang="ar-SY"/>
        </a:p>
      </dgm:t>
    </dgm:pt>
    <dgm:pt modelId="{161253C6-5AEC-436C-AE25-2016AA7D204B}" type="sibTrans" cxnId="{8C308A4B-AB60-4651-B99D-8A6A15619581}">
      <dgm:prSet/>
      <dgm:spPr/>
      <dgm:t>
        <a:bodyPr/>
        <a:lstStyle/>
        <a:p>
          <a:pPr rtl="1"/>
          <a:endParaRPr lang="ar-SY"/>
        </a:p>
      </dgm:t>
    </dgm:pt>
    <dgm:pt modelId="{C3D372B5-570F-4E24-BC45-390EE5274775}" type="pres">
      <dgm:prSet presAssocID="{9DC87BC0-532C-4459-9D6B-EE8EBC943924}" presName="outerComposite" presStyleCnt="0">
        <dgm:presLayoutVars>
          <dgm:chMax val="5"/>
          <dgm:dir/>
          <dgm:resizeHandles val="exact"/>
        </dgm:presLayoutVars>
      </dgm:prSet>
      <dgm:spPr/>
    </dgm:pt>
    <dgm:pt modelId="{531EDFFC-A1A0-4C54-8782-7D70C11C2C62}" type="pres">
      <dgm:prSet presAssocID="{9DC87BC0-532C-4459-9D6B-EE8EBC943924}" presName="dummyMaxCanvas" presStyleCnt="0">
        <dgm:presLayoutVars/>
      </dgm:prSet>
      <dgm:spPr/>
    </dgm:pt>
    <dgm:pt modelId="{EC40D9AA-CCE9-4F6B-98FA-34671E20651E}" type="pres">
      <dgm:prSet presAssocID="{9DC87BC0-532C-4459-9D6B-EE8EBC943924}" presName="ThreeNodes_1" presStyleLbl="node1" presStyleIdx="0" presStyleCnt="3" custScaleX="97260">
        <dgm:presLayoutVars>
          <dgm:bulletEnabled val="1"/>
        </dgm:presLayoutVars>
      </dgm:prSet>
      <dgm:spPr/>
    </dgm:pt>
    <dgm:pt modelId="{E83D1CE2-0195-4A5E-8AFC-EB4C0858340C}" type="pres">
      <dgm:prSet presAssocID="{9DC87BC0-532C-4459-9D6B-EE8EBC943924}" presName="ThreeNodes_2" presStyleLbl="node1" presStyleIdx="1" presStyleCnt="3">
        <dgm:presLayoutVars>
          <dgm:bulletEnabled val="1"/>
        </dgm:presLayoutVars>
      </dgm:prSet>
      <dgm:spPr/>
    </dgm:pt>
    <dgm:pt modelId="{6D4A0CEC-39A2-4CAB-A369-0038A706C801}" type="pres">
      <dgm:prSet presAssocID="{9DC87BC0-532C-4459-9D6B-EE8EBC943924}" presName="ThreeNodes_3" presStyleLbl="node1" presStyleIdx="2" presStyleCnt="3">
        <dgm:presLayoutVars>
          <dgm:bulletEnabled val="1"/>
        </dgm:presLayoutVars>
      </dgm:prSet>
      <dgm:spPr/>
    </dgm:pt>
    <dgm:pt modelId="{33B8B9DC-0637-4D8A-ABE2-EEF0289B85B0}" type="pres">
      <dgm:prSet presAssocID="{9DC87BC0-532C-4459-9D6B-EE8EBC943924}" presName="ThreeConn_1-2" presStyleLbl="fgAccFollowNode1" presStyleIdx="0" presStyleCnt="2">
        <dgm:presLayoutVars>
          <dgm:bulletEnabled val="1"/>
        </dgm:presLayoutVars>
      </dgm:prSet>
      <dgm:spPr/>
    </dgm:pt>
    <dgm:pt modelId="{0BCFE70B-7C42-40F8-895A-DB84FFB00033}" type="pres">
      <dgm:prSet presAssocID="{9DC87BC0-532C-4459-9D6B-EE8EBC943924}" presName="ThreeConn_2-3" presStyleLbl="fgAccFollowNode1" presStyleIdx="1" presStyleCnt="2">
        <dgm:presLayoutVars>
          <dgm:bulletEnabled val="1"/>
        </dgm:presLayoutVars>
      </dgm:prSet>
      <dgm:spPr/>
    </dgm:pt>
    <dgm:pt modelId="{4E4D8C4E-CBDB-4EA7-A0C5-812114A3657B}" type="pres">
      <dgm:prSet presAssocID="{9DC87BC0-532C-4459-9D6B-EE8EBC943924}" presName="ThreeNodes_1_text" presStyleLbl="node1" presStyleIdx="2" presStyleCnt="3">
        <dgm:presLayoutVars>
          <dgm:bulletEnabled val="1"/>
        </dgm:presLayoutVars>
      </dgm:prSet>
      <dgm:spPr/>
    </dgm:pt>
    <dgm:pt modelId="{D529D041-98AC-46EE-A8D3-20F3993D8C33}" type="pres">
      <dgm:prSet presAssocID="{9DC87BC0-532C-4459-9D6B-EE8EBC943924}" presName="ThreeNodes_2_text" presStyleLbl="node1" presStyleIdx="2" presStyleCnt="3">
        <dgm:presLayoutVars>
          <dgm:bulletEnabled val="1"/>
        </dgm:presLayoutVars>
      </dgm:prSet>
      <dgm:spPr/>
    </dgm:pt>
    <dgm:pt modelId="{8DB71E2C-A012-4F27-A677-5D505DD5C367}" type="pres">
      <dgm:prSet presAssocID="{9DC87BC0-532C-4459-9D6B-EE8EBC943924}" presName="ThreeNodes_3_text" presStyleLbl="node1" presStyleIdx="2" presStyleCnt="3">
        <dgm:presLayoutVars>
          <dgm:bulletEnabled val="1"/>
        </dgm:presLayoutVars>
      </dgm:prSet>
      <dgm:spPr/>
    </dgm:pt>
  </dgm:ptLst>
  <dgm:cxnLst>
    <dgm:cxn modelId="{A2FFB609-BDE8-42FE-8546-B256E212CC41}" type="presOf" srcId="{24C20D88-C828-44A9-8440-63CB2A707739}" destId="{EC40D9AA-CCE9-4F6B-98FA-34671E20651E}" srcOrd="0" destOrd="0" presId="urn:microsoft.com/office/officeart/2005/8/layout/vProcess5"/>
    <dgm:cxn modelId="{5CD2C00B-2D5D-4127-983D-84A375EFAEF1}" type="presOf" srcId="{13912814-4FA9-4394-80AC-F5E8DFD267DB}" destId="{33B8B9DC-0637-4D8A-ABE2-EEF0289B85B0}" srcOrd="0" destOrd="0" presId="urn:microsoft.com/office/officeart/2005/8/layout/vProcess5"/>
    <dgm:cxn modelId="{70FCE510-7C9C-4FF3-871A-C93A29B536F0}" type="presOf" srcId="{6DBF612D-16BA-4BD1-AC14-31FD1BEA18FD}" destId="{D529D041-98AC-46EE-A8D3-20F3993D8C33}" srcOrd="1" destOrd="0" presId="urn:microsoft.com/office/officeart/2005/8/layout/vProcess5"/>
    <dgm:cxn modelId="{2100BD36-6739-4B4D-A3EA-95E68AF34FB3}" type="presOf" srcId="{E8F5103B-11E2-4B1F-8051-B03F1856C672}" destId="{0BCFE70B-7C42-40F8-895A-DB84FFB00033}" srcOrd="0" destOrd="0" presId="urn:microsoft.com/office/officeart/2005/8/layout/vProcess5"/>
    <dgm:cxn modelId="{45F34941-B24B-4249-AF42-6FC2F95F5221}" srcId="{9DC87BC0-532C-4459-9D6B-EE8EBC943924}" destId="{6DBF612D-16BA-4BD1-AC14-31FD1BEA18FD}" srcOrd="1" destOrd="0" parTransId="{FDE09A3E-7AAF-455C-B319-B096DB31188D}" sibTransId="{E8F5103B-11E2-4B1F-8051-B03F1856C672}"/>
    <dgm:cxn modelId="{0C424467-6B1B-42D1-9311-8CCBDE5981DF}" type="presOf" srcId="{24C20D88-C828-44A9-8440-63CB2A707739}" destId="{4E4D8C4E-CBDB-4EA7-A0C5-812114A3657B}" srcOrd="1" destOrd="0" presId="urn:microsoft.com/office/officeart/2005/8/layout/vProcess5"/>
    <dgm:cxn modelId="{8C308A4B-AB60-4651-B99D-8A6A15619581}" srcId="{9DC87BC0-532C-4459-9D6B-EE8EBC943924}" destId="{FC6388ED-B5E6-471A-AB12-1B4B50C0C2F3}" srcOrd="2" destOrd="0" parTransId="{4340B17A-1DA3-481B-BFD8-5555C19BF7B8}" sibTransId="{161253C6-5AEC-436C-AE25-2016AA7D204B}"/>
    <dgm:cxn modelId="{5E81BE76-85CB-44F4-89FA-9572E31D4EE0}" type="presOf" srcId="{FC6388ED-B5E6-471A-AB12-1B4B50C0C2F3}" destId="{8DB71E2C-A012-4F27-A677-5D505DD5C367}" srcOrd="1" destOrd="0" presId="urn:microsoft.com/office/officeart/2005/8/layout/vProcess5"/>
    <dgm:cxn modelId="{3A85A579-C4C0-442E-9CB7-FF147089B9C6}" srcId="{9DC87BC0-532C-4459-9D6B-EE8EBC943924}" destId="{24C20D88-C828-44A9-8440-63CB2A707739}" srcOrd="0" destOrd="0" parTransId="{76570F43-09DA-4377-8609-3191896A75C6}" sibTransId="{13912814-4FA9-4394-80AC-F5E8DFD267DB}"/>
    <dgm:cxn modelId="{EE19A0BC-A08E-4FF0-9ABE-4CD9D08E82FF}" type="presOf" srcId="{6DBF612D-16BA-4BD1-AC14-31FD1BEA18FD}" destId="{E83D1CE2-0195-4A5E-8AFC-EB4C0858340C}" srcOrd="0" destOrd="0" presId="urn:microsoft.com/office/officeart/2005/8/layout/vProcess5"/>
    <dgm:cxn modelId="{131F51C0-E92D-41BE-9FD5-2A17D0933974}" type="presOf" srcId="{FC6388ED-B5E6-471A-AB12-1B4B50C0C2F3}" destId="{6D4A0CEC-39A2-4CAB-A369-0038A706C801}" srcOrd="0" destOrd="0" presId="urn:microsoft.com/office/officeart/2005/8/layout/vProcess5"/>
    <dgm:cxn modelId="{B02359DE-10F1-4ABC-8507-6FB3F94C3DEA}" type="presOf" srcId="{9DC87BC0-532C-4459-9D6B-EE8EBC943924}" destId="{C3D372B5-570F-4E24-BC45-390EE5274775}" srcOrd="0" destOrd="0" presId="urn:microsoft.com/office/officeart/2005/8/layout/vProcess5"/>
    <dgm:cxn modelId="{25B72A08-ED49-4BFA-82EB-B3C164CA4616}" type="presParOf" srcId="{C3D372B5-570F-4E24-BC45-390EE5274775}" destId="{531EDFFC-A1A0-4C54-8782-7D70C11C2C62}" srcOrd="0" destOrd="0" presId="urn:microsoft.com/office/officeart/2005/8/layout/vProcess5"/>
    <dgm:cxn modelId="{AA761206-A8A8-4C40-AC4E-16221806E833}" type="presParOf" srcId="{C3D372B5-570F-4E24-BC45-390EE5274775}" destId="{EC40D9AA-CCE9-4F6B-98FA-34671E20651E}" srcOrd="1" destOrd="0" presId="urn:microsoft.com/office/officeart/2005/8/layout/vProcess5"/>
    <dgm:cxn modelId="{6F18C76F-876C-47F5-B49A-65BDFC5FB0DF}" type="presParOf" srcId="{C3D372B5-570F-4E24-BC45-390EE5274775}" destId="{E83D1CE2-0195-4A5E-8AFC-EB4C0858340C}" srcOrd="2" destOrd="0" presId="urn:microsoft.com/office/officeart/2005/8/layout/vProcess5"/>
    <dgm:cxn modelId="{13C7DE1C-079A-4CFD-A23F-9744A1189056}" type="presParOf" srcId="{C3D372B5-570F-4E24-BC45-390EE5274775}" destId="{6D4A0CEC-39A2-4CAB-A369-0038A706C801}" srcOrd="3" destOrd="0" presId="urn:microsoft.com/office/officeart/2005/8/layout/vProcess5"/>
    <dgm:cxn modelId="{4606E886-F4EC-48D1-870B-0742D14AAEF2}" type="presParOf" srcId="{C3D372B5-570F-4E24-BC45-390EE5274775}" destId="{33B8B9DC-0637-4D8A-ABE2-EEF0289B85B0}" srcOrd="4" destOrd="0" presId="urn:microsoft.com/office/officeart/2005/8/layout/vProcess5"/>
    <dgm:cxn modelId="{E825EA60-BC9E-436B-B478-7802F2C69523}" type="presParOf" srcId="{C3D372B5-570F-4E24-BC45-390EE5274775}" destId="{0BCFE70B-7C42-40F8-895A-DB84FFB00033}" srcOrd="5" destOrd="0" presId="urn:microsoft.com/office/officeart/2005/8/layout/vProcess5"/>
    <dgm:cxn modelId="{36D21365-F579-4E3E-9DBB-3DB08F3ABC7F}" type="presParOf" srcId="{C3D372B5-570F-4E24-BC45-390EE5274775}" destId="{4E4D8C4E-CBDB-4EA7-A0C5-812114A3657B}" srcOrd="6" destOrd="0" presId="urn:microsoft.com/office/officeart/2005/8/layout/vProcess5"/>
    <dgm:cxn modelId="{DF6B04F7-0E84-40B5-B8A7-3F2B399973EC}" type="presParOf" srcId="{C3D372B5-570F-4E24-BC45-390EE5274775}" destId="{D529D041-98AC-46EE-A8D3-20F3993D8C33}" srcOrd="7" destOrd="0" presId="urn:microsoft.com/office/officeart/2005/8/layout/vProcess5"/>
    <dgm:cxn modelId="{E5FB2B25-D719-40E1-9CF7-9B1494743BF7}" type="presParOf" srcId="{C3D372B5-570F-4E24-BC45-390EE5274775}" destId="{8DB71E2C-A012-4F27-A677-5D505DD5C367}" srcOrd="8"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F30C7C5-2FE4-4E5F-AB96-EC9DBC445060}" type="doc">
      <dgm:prSet loTypeId="urn:microsoft.com/office/officeart/2005/8/layout/default" loCatId="list" qsTypeId="urn:microsoft.com/office/officeart/2005/8/quickstyle/simple1" qsCatId="simple" csTypeId="urn:microsoft.com/office/officeart/2005/8/colors/accent1_2" csCatId="accent1" phldr="1"/>
      <dgm:spPr/>
      <dgm:t>
        <a:bodyPr/>
        <a:lstStyle/>
        <a:p>
          <a:pPr rtl="1"/>
          <a:endParaRPr lang="ar-SY"/>
        </a:p>
      </dgm:t>
    </dgm:pt>
    <dgm:pt modelId="{346D0AD9-7E90-40C7-A029-1E306BF22264}">
      <dgm:prSet phldrT="[Text]" custT="1"/>
      <dgm:spPr>
        <a:solidFill>
          <a:schemeClr val="accent3">
            <a:lumMod val="60000"/>
            <a:lumOff val="40000"/>
          </a:schemeClr>
        </a:solidFill>
      </dgm:spPr>
      <dgm:t>
        <a:bodyPr/>
        <a:lstStyle/>
        <a:p>
          <a:pPr rtl="1"/>
          <a:r>
            <a:rPr lang="ar-SA" sz="2200" b="1" dirty="0">
              <a:solidFill>
                <a:schemeClr val="bg2">
                  <a:lumMod val="10000"/>
                </a:schemeClr>
              </a:solidFill>
              <a:latin typeface="Simplified Arabic" pitchFamily="18" charset="-78"/>
              <a:cs typeface="Simplified Arabic" pitchFamily="18" charset="-78"/>
            </a:rPr>
            <a:t>تشابه الأعراض المرضية:</a:t>
          </a:r>
          <a:br>
            <a:rPr lang="ar-SA" sz="2200" b="1" dirty="0">
              <a:solidFill>
                <a:schemeClr val="bg2">
                  <a:lumMod val="10000"/>
                </a:schemeClr>
              </a:solidFill>
              <a:latin typeface="Simplified Arabic" pitchFamily="18" charset="-78"/>
              <a:cs typeface="Simplified Arabic" pitchFamily="18" charset="-78"/>
            </a:rPr>
          </a:br>
          <a:r>
            <a:rPr lang="ar-SA" sz="2200" dirty="0">
              <a:solidFill>
                <a:schemeClr val="bg2">
                  <a:lumMod val="10000"/>
                </a:schemeClr>
              </a:solidFill>
              <a:latin typeface="Simplified Arabic" pitchFamily="18" charset="-78"/>
              <a:cs typeface="Simplified Arabic" pitchFamily="18" charset="-78"/>
            </a:rPr>
            <a:t>تتشابه البقع واصفرار الأوراق وجفاف الحواف بين أمراض مختلفة، مما يُصعّب التمييز.</a:t>
          </a:r>
          <a:endParaRPr lang="ar-SY" sz="2200" dirty="0"/>
        </a:p>
      </dgm:t>
    </dgm:pt>
    <dgm:pt modelId="{F284899F-9F7F-4564-89A3-24D664DCE881}" type="parTrans" cxnId="{34EE1FA9-C24D-4762-8519-BDADAD397181}">
      <dgm:prSet/>
      <dgm:spPr/>
      <dgm:t>
        <a:bodyPr/>
        <a:lstStyle/>
        <a:p>
          <a:pPr rtl="1"/>
          <a:endParaRPr lang="ar-SY"/>
        </a:p>
      </dgm:t>
    </dgm:pt>
    <dgm:pt modelId="{6B773A7D-54CF-4021-967B-B0DAD810A158}" type="sibTrans" cxnId="{34EE1FA9-C24D-4762-8519-BDADAD397181}">
      <dgm:prSet/>
      <dgm:spPr/>
      <dgm:t>
        <a:bodyPr/>
        <a:lstStyle/>
        <a:p>
          <a:pPr rtl="1"/>
          <a:endParaRPr lang="ar-SY"/>
        </a:p>
      </dgm:t>
    </dgm:pt>
    <dgm:pt modelId="{AF3383FD-803B-4FA3-91CC-733E7938D815}">
      <dgm:prSet phldrT="[Text]" custT="1"/>
      <dgm:spPr>
        <a:solidFill>
          <a:schemeClr val="accent3">
            <a:lumMod val="60000"/>
            <a:lumOff val="40000"/>
          </a:schemeClr>
        </a:solidFill>
      </dgm:spPr>
      <dgm:t>
        <a:bodyPr/>
        <a:lstStyle/>
        <a:p>
          <a:pPr rtl="1"/>
          <a:r>
            <a:rPr lang="ar-SA" altLang="en-US" sz="2200" b="1" dirty="0">
              <a:solidFill>
                <a:schemeClr val="bg2">
                  <a:lumMod val="10000"/>
                </a:schemeClr>
              </a:solidFill>
              <a:latin typeface="Simplified Arabic" pitchFamily="18" charset="-78"/>
              <a:cs typeface="Simplified Arabic" pitchFamily="18" charset="-78"/>
            </a:rPr>
            <a:t>الاعتماد على الخبرة البشرية:</a:t>
          </a:r>
          <a:br>
            <a:rPr lang="ar-SA" altLang="en-US" sz="2200" b="1" dirty="0">
              <a:solidFill>
                <a:schemeClr val="bg2">
                  <a:lumMod val="10000"/>
                </a:schemeClr>
              </a:solidFill>
              <a:latin typeface="Simplified Arabic" pitchFamily="18" charset="-78"/>
              <a:cs typeface="Simplified Arabic" pitchFamily="18" charset="-78"/>
            </a:rPr>
          </a:br>
          <a:r>
            <a:rPr lang="ar-SA" sz="2200" dirty="0">
              <a:solidFill>
                <a:schemeClr val="bg2">
                  <a:lumMod val="10000"/>
                </a:schemeClr>
              </a:solidFill>
              <a:latin typeface="Simplified Arabic" pitchFamily="18" charset="-78"/>
              <a:cs typeface="Simplified Arabic" pitchFamily="18" charset="-78"/>
            </a:rPr>
            <a:t>يتطلب التشخيص الدقيق مهندساً زراعياً متخصصاً غير متاح دائماً، وتختلف الدقة بحسب الخبرة.</a:t>
          </a:r>
          <a:endParaRPr lang="ar-SY" sz="2200" dirty="0"/>
        </a:p>
      </dgm:t>
    </dgm:pt>
    <dgm:pt modelId="{BE25DCB2-EADD-470B-9AE8-266F4C02E394}" type="parTrans" cxnId="{F1877CD0-E903-48C4-9465-2E909F29E9D3}">
      <dgm:prSet/>
      <dgm:spPr/>
      <dgm:t>
        <a:bodyPr/>
        <a:lstStyle/>
        <a:p>
          <a:pPr rtl="1"/>
          <a:endParaRPr lang="ar-SY"/>
        </a:p>
      </dgm:t>
    </dgm:pt>
    <dgm:pt modelId="{942E5020-B091-43A8-9F81-1F3CA1542C63}" type="sibTrans" cxnId="{F1877CD0-E903-48C4-9465-2E909F29E9D3}">
      <dgm:prSet/>
      <dgm:spPr/>
      <dgm:t>
        <a:bodyPr/>
        <a:lstStyle/>
        <a:p>
          <a:pPr rtl="1"/>
          <a:endParaRPr lang="ar-SY"/>
        </a:p>
      </dgm:t>
    </dgm:pt>
    <dgm:pt modelId="{BFC3577A-E10E-4916-AA7B-C97A7748E2F1}">
      <dgm:prSet phldrT="[Text]" custT="1"/>
      <dgm:spPr>
        <a:solidFill>
          <a:schemeClr val="accent3">
            <a:lumMod val="60000"/>
            <a:lumOff val="40000"/>
          </a:schemeClr>
        </a:solidFill>
      </dgm:spPr>
      <dgm:t>
        <a:bodyPr/>
        <a:lstStyle/>
        <a:p>
          <a:pPr rtl="1"/>
          <a:r>
            <a:rPr lang="ar-SA" sz="2200" b="1" dirty="0">
              <a:solidFill>
                <a:schemeClr val="bg2">
                  <a:lumMod val="10000"/>
                </a:schemeClr>
              </a:solidFill>
              <a:latin typeface="Simplified Arabic" pitchFamily="18" charset="-78"/>
              <a:cs typeface="Simplified Arabic" pitchFamily="18" charset="-78"/>
            </a:rPr>
            <a:t>نقص الأنظمة المتخصصة:</a:t>
          </a:r>
          <a:br>
            <a:rPr lang="ar-SA" sz="2200" b="0" dirty="0">
              <a:solidFill>
                <a:schemeClr val="bg2">
                  <a:lumMod val="10000"/>
                </a:schemeClr>
              </a:solidFill>
              <a:latin typeface="Simplified Arabic" pitchFamily="18" charset="-78"/>
              <a:cs typeface="Simplified Arabic" pitchFamily="18" charset="-78"/>
            </a:rPr>
          </a:br>
          <a:r>
            <a:rPr lang="ar-SA" sz="2200" b="0" dirty="0">
              <a:solidFill>
                <a:schemeClr val="bg2">
                  <a:lumMod val="10000"/>
                </a:schemeClr>
              </a:solidFill>
              <a:latin typeface="Simplified Arabic" pitchFamily="18" charset="-78"/>
              <a:cs typeface="Simplified Arabic" pitchFamily="18" charset="-78"/>
            </a:rPr>
            <a:t>معظم الأنظمة الحالية عامة ولا تدعم اللغة العربية ولا تقدم توصيات علاجية.</a:t>
          </a:r>
          <a:endParaRPr lang="ar-SY" sz="2200" b="0" dirty="0"/>
        </a:p>
      </dgm:t>
    </dgm:pt>
    <dgm:pt modelId="{E2E144E6-7BD7-4F91-A9ED-940496108ADA}" type="parTrans" cxnId="{1CD7E7FC-19E7-4E0E-9F5B-728529B4DF7F}">
      <dgm:prSet/>
      <dgm:spPr/>
      <dgm:t>
        <a:bodyPr/>
        <a:lstStyle/>
        <a:p>
          <a:pPr rtl="1"/>
          <a:endParaRPr lang="ar-SY"/>
        </a:p>
      </dgm:t>
    </dgm:pt>
    <dgm:pt modelId="{AC15DAD3-EE80-403D-A9BC-021C321D9983}" type="sibTrans" cxnId="{1CD7E7FC-19E7-4E0E-9F5B-728529B4DF7F}">
      <dgm:prSet/>
      <dgm:spPr/>
      <dgm:t>
        <a:bodyPr/>
        <a:lstStyle/>
        <a:p>
          <a:pPr rtl="1"/>
          <a:endParaRPr lang="ar-SY"/>
        </a:p>
      </dgm:t>
    </dgm:pt>
    <dgm:pt modelId="{0C085A43-34DA-4E38-A585-5B2128F6D8FF}">
      <dgm:prSet phldrT="[Text]" custT="1"/>
      <dgm:spPr>
        <a:solidFill>
          <a:schemeClr val="accent3">
            <a:lumMod val="60000"/>
            <a:lumOff val="40000"/>
          </a:schemeClr>
        </a:solidFill>
      </dgm:spPr>
      <dgm:t>
        <a:bodyPr/>
        <a:lstStyle/>
        <a:p>
          <a:pPr rtl="1"/>
          <a:r>
            <a:rPr lang="ar-SA" sz="2200" b="1" dirty="0">
              <a:solidFill>
                <a:schemeClr val="bg2">
                  <a:lumMod val="10000"/>
                </a:schemeClr>
              </a:solidFill>
              <a:latin typeface="Simplified Arabic" pitchFamily="18" charset="-78"/>
              <a:cs typeface="Simplified Arabic" pitchFamily="18" charset="-78"/>
            </a:rPr>
            <a:t>التأخر في اكتشاف المرض:</a:t>
          </a:r>
          <a:br>
            <a:rPr lang="ar-SA" sz="2200" b="1" dirty="0">
              <a:solidFill>
                <a:schemeClr val="bg2">
                  <a:lumMod val="10000"/>
                </a:schemeClr>
              </a:solidFill>
              <a:latin typeface="Simplified Arabic" pitchFamily="18" charset="-78"/>
              <a:cs typeface="Simplified Arabic" pitchFamily="18" charset="-78"/>
            </a:rPr>
          </a:br>
          <a:r>
            <a:rPr lang="ar-SA" sz="2200" dirty="0">
              <a:solidFill>
                <a:schemeClr val="bg2">
                  <a:lumMod val="10000"/>
                </a:schemeClr>
              </a:solidFill>
              <a:latin typeface="Simplified Arabic" pitchFamily="18" charset="-78"/>
              <a:cs typeface="Simplified Arabic" pitchFamily="18" charset="-78"/>
            </a:rPr>
            <a:t>كلما تأخر الاكتشاف زادت احتمالية انتشار المرض وحدوث خسائر كبيرة.</a:t>
          </a:r>
          <a:endParaRPr lang="ar-SY" sz="2200" dirty="0"/>
        </a:p>
      </dgm:t>
    </dgm:pt>
    <dgm:pt modelId="{3E9B1AA0-9D74-43C5-BA2B-DFFF87AADD3B}" type="parTrans" cxnId="{BFD6C6A3-04BC-4A5D-A47A-817711E41033}">
      <dgm:prSet/>
      <dgm:spPr/>
      <dgm:t>
        <a:bodyPr/>
        <a:lstStyle/>
        <a:p>
          <a:pPr rtl="1"/>
          <a:endParaRPr lang="ar-SY"/>
        </a:p>
      </dgm:t>
    </dgm:pt>
    <dgm:pt modelId="{CED92AD0-645F-4919-BA35-644BB0C7D7ED}" type="sibTrans" cxnId="{BFD6C6A3-04BC-4A5D-A47A-817711E41033}">
      <dgm:prSet/>
      <dgm:spPr/>
      <dgm:t>
        <a:bodyPr/>
        <a:lstStyle/>
        <a:p>
          <a:pPr rtl="1"/>
          <a:endParaRPr lang="ar-SY"/>
        </a:p>
      </dgm:t>
    </dgm:pt>
    <dgm:pt modelId="{4BF7F27B-5A88-4264-996B-D381C218B4FD}">
      <dgm:prSet phldrT="[Text]" custT="1"/>
      <dgm:spPr>
        <a:solidFill>
          <a:schemeClr val="accent3">
            <a:lumMod val="60000"/>
            <a:lumOff val="40000"/>
          </a:schemeClr>
        </a:solidFill>
      </dgm:spPr>
      <dgm:t>
        <a:bodyPr/>
        <a:lstStyle/>
        <a:p>
          <a:pPr rtl="1"/>
          <a:r>
            <a:rPr lang="ar-SA" sz="2200" b="1" dirty="0">
              <a:solidFill>
                <a:schemeClr val="bg2">
                  <a:lumMod val="10000"/>
                </a:schemeClr>
              </a:solidFill>
              <a:latin typeface="Simplified Arabic" pitchFamily="18" charset="-78"/>
              <a:cs typeface="Simplified Arabic" pitchFamily="18" charset="-78"/>
            </a:rPr>
            <a:t>صعوبة التصنيف الدقيق:</a:t>
          </a:r>
          <a:br>
            <a:rPr lang="ar-SA" sz="2200" b="1" dirty="0">
              <a:solidFill>
                <a:schemeClr val="bg2">
                  <a:lumMod val="10000"/>
                </a:schemeClr>
              </a:solidFill>
              <a:latin typeface="Simplified Arabic" pitchFamily="18" charset="-78"/>
              <a:cs typeface="Simplified Arabic" pitchFamily="18" charset="-78"/>
            </a:rPr>
          </a:br>
          <a:r>
            <a:rPr lang="ar-SA" sz="2200" dirty="0">
              <a:solidFill>
                <a:schemeClr val="bg2">
                  <a:lumMod val="10000"/>
                </a:schemeClr>
              </a:solidFill>
              <a:latin typeface="Simplified Arabic" pitchFamily="18" charset="-78"/>
              <a:cs typeface="Simplified Arabic" pitchFamily="18" charset="-78"/>
            </a:rPr>
            <a:t>تُعدّ </a:t>
          </a:r>
          <a:r>
            <a:rPr lang="en-US" sz="2000" dirty="0">
              <a:solidFill>
                <a:schemeClr val="bg2">
                  <a:lumMod val="10000"/>
                </a:schemeClr>
              </a:solidFill>
              <a:latin typeface="Simplified Arabic" pitchFamily="18" charset="-78"/>
              <a:cs typeface="Simplified Arabic" pitchFamily="18" charset="-78"/>
            </a:rPr>
            <a:t>Fine-Grained Classification</a:t>
          </a:r>
          <a:r>
            <a:rPr lang="ar-SA" sz="2000" dirty="0">
              <a:solidFill>
                <a:schemeClr val="bg2">
                  <a:lumMod val="10000"/>
                </a:schemeClr>
              </a:solidFill>
              <a:latin typeface="Simplified Arabic" pitchFamily="18" charset="-78"/>
              <a:cs typeface="Simplified Arabic" pitchFamily="18" charset="-78"/>
            </a:rPr>
            <a:t> </a:t>
          </a:r>
          <a:r>
            <a:rPr lang="ar-SA" sz="2200" dirty="0">
              <a:solidFill>
                <a:schemeClr val="bg2">
                  <a:lumMod val="10000"/>
                </a:schemeClr>
              </a:solidFill>
              <a:latin typeface="Simplified Arabic" pitchFamily="18" charset="-78"/>
              <a:cs typeface="Simplified Arabic" pitchFamily="18" charset="-78"/>
            </a:rPr>
            <a:t>من التحديات الصعبة عندما تكون الفروقات بين الأمراض طفيفة</a:t>
          </a:r>
          <a:r>
            <a:rPr lang="ar-SA" sz="2200" dirty="0">
              <a:latin typeface="Simplified Arabic" pitchFamily="18" charset="-78"/>
              <a:cs typeface="Simplified Arabic" pitchFamily="18" charset="-78"/>
            </a:rPr>
            <a:t>.</a:t>
          </a:r>
          <a:br>
            <a:rPr lang="ar-SA" sz="1600" b="1" dirty="0">
              <a:solidFill>
                <a:schemeClr val="bg2">
                  <a:lumMod val="10000"/>
                </a:schemeClr>
              </a:solidFill>
              <a:latin typeface="Simplified Arabic" pitchFamily="18" charset="-78"/>
              <a:cs typeface="Simplified Arabic" pitchFamily="18" charset="-78"/>
            </a:rPr>
          </a:br>
          <a:endParaRPr lang="ar-SY" sz="1600" dirty="0"/>
        </a:p>
      </dgm:t>
    </dgm:pt>
    <dgm:pt modelId="{44AF3770-ADBF-4B80-98C3-BB1E14EF0732}" type="parTrans" cxnId="{3BB4F311-267A-48BE-BD63-68A6FE282045}">
      <dgm:prSet/>
      <dgm:spPr/>
      <dgm:t>
        <a:bodyPr/>
        <a:lstStyle/>
        <a:p>
          <a:pPr rtl="1"/>
          <a:endParaRPr lang="ar-SY"/>
        </a:p>
      </dgm:t>
    </dgm:pt>
    <dgm:pt modelId="{55C26E9C-2713-426A-9D61-85A7A4FEFA06}" type="sibTrans" cxnId="{3BB4F311-267A-48BE-BD63-68A6FE282045}">
      <dgm:prSet/>
      <dgm:spPr/>
      <dgm:t>
        <a:bodyPr/>
        <a:lstStyle/>
        <a:p>
          <a:pPr rtl="1"/>
          <a:endParaRPr lang="ar-SY"/>
        </a:p>
      </dgm:t>
    </dgm:pt>
    <dgm:pt modelId="{2CCB375D-E252-4783-99B4-EA4E0000D438}">
      <dgm:prSet phldrT="[Text]" custT="1"/>
      <dgm:spPr>
        <a:solidFill>
          <a:schemeClr val="accent3">
            <a:lumMod val="60000"/>
            <a:lumOff val="40000"/>
          </a:schemeClr>
        </a:solidFill>
      </dgm:spPr>
      <dgm:t>
        <a:bodyPr/>
        <a:lstStyle/>
        <a:p>
          <a:pPr rtl="1"/>
          <a:r>
            <a:rPr lang="ar-SA" sz="2200" b="1" dirty="0">
              <a:solidFill>
                <a:schemeClr val="bg2">
                  <a:lumMod val="10000"/>
                </a:schemeClr>
              </a:solidFill>
              <a:latin typeface="Simplified Arabic" pitchFamily="18" charset="-78"/>
              <a:cs typeface="Simplified Arabic" pitchFamily="18" charset="-78"/>
            </a:rPr>
            <a:t>اختلاف ظروف التصوير:</a:t>
          </a:r>
          <a:br>
            <a:rPr lang="ar-SA" sz="2200" b="1" dirty="0">
              <a:solidFill>
                <a:schemeClr val="bg2">
                  <a:lumMod val="10000"/>
                </a:schemeClr>
              </a:solidFill>
              <a:latin typeface="Simplified Arabic" pitchFamily="18" charset="-78"/>
              <a:cs typeface="Simplified Arabic" pitchFamily="18" charset="-78"/>
            </a:rPr>
          </a:br>
          <a:r>
            <a:rPr lang="ar-SA" sz="2200" dirty="0">
              <a:solidFill>
                <a:schemeClr val="bg2">
                  <a:lumMod val="10000"/>
                </a:schemeClr>
              </a:solidFill>
              <a:latin typeface="Simplified Arabic" pitchFamily="18" charset="-78"/>
              <a:cs typeface="Simplified Arabic" pitchFamily="18" charset="-78"/>
            </a:rPr>
            <a:t>تؤثر الإضاءة وزاوية التصوير وجودة الكاميرا والخلفية والظلال سلباً على دقة التشخيص.</a:t>
          </a:r>
          <a:endParaRPr lang="ar-SY" sz="2200" dirty="0"/>
        </a:p>
      </dgm:t>
    </dgm:pt>
    <dgm:pt modelId="{B87A07C5-AF53-4955-81A4-6DB04D073D1D}" type="parTrans" cxnId="{AAF3AAA8-F172-4708-A6EA-6E71F6C4F154}">
      <dgm:prSet/>
      <dgm:spPr/>
      <dgm:t>
        <a:bodyPr/>
        <a:lstStyle/>
        <a:p>
          <a:pPr rtl="1"/>
          <a:endParaRPr lang="ar-SY"/>
        </a:p>
      </dgm:t>
    </dgm:pt>
    <dgm:pt modelId="{941EDC9F-9E4F-4897-8399-BCF97688834F}" type="sibTrans" cxnId="{AAF3AAA8-F172-4708-A6EA-6E71F6C4F154}">
      <dgm:prSet/>
      <dgm:spPr/>
      <dgm:t>
        <a:bodyPr/>
        <a:lstStyle/>
        <a:p>
          <a:pPr rtl="1"/>
          <a:endParaRPr lang="ar-SY"/>
        </a:p>
      </dgm:t>
    </dgm:pt>
    <dgm:pt modelId="{5E9771F4-81A2-4CD4-8702-5C39EC61BD04}" type="pres">
      <dgm:prSet presAssocID="{DF30C7C5-2FE4-4E5F-AB96-EC9DBC445060}" presName="diagram" presStyleCnt="0">
        <dgm:presLayoutVars>
          <dgm:dir/>
          <dgm:resizeHandles val="exact"/>
        </dgm:presLayoutVars>
      </dgm:prSet>
      <dgm:spPr/>
    </dgm:pt>
    <dgm:pt modelId="{A105E950-C82B-41EE-9EC2-A0A52C917FB1}" type="pres">
      <dgm:prSet presAssocID="{346D0AD9-7E90-40C7-A029-1E306BF22264}" presName="node" presStyleLbl="node1" presStyleIdx="0" presStyleCnt="6" custScaleX="111191" custScaleY="185101">
        <dgm:presLayoutVars>
          <dgm:bulletEnabled val="1"/>
        </dgm:presLayoutVars>
      </dgm:prSet>
      <dgm:spPr/>
    </dgm:pt>
    <dgm:pt modelId="{E61A07EC-8AB1-4589-BF62-EC422B8EC7C2}" type="pres">
      <dgm:prSet presAssocID="{6B773A7D-54CF-4021-967B-B0DAD810A158}" presName="sibTrans" presStyleCnt="0"/>
      <dgm:spPr/>
    </dgm:pt>
    <dgm:pt modelId="{D875AA63-C059-4A86-8701-ED2544C4CD1B}" type="pres">
      <dgm:prSet presAssocID="{AF3383FD-803B-4FA3-91CC-733E7938D815}" presName="node" presStyleLbl="node1" presStyleIdx="1" presStyleCnt="6" custScaleX="112625" custScaleY="185101">
        <dgm:presLayoutVars>
          <dgm:bulletEnabled val="1"/>
        </dgm:presLayoutVars>
      </dgm:prSet>
      <dgm:spPr/>
    </dgm:pt>
    <dgm:pt modelId="{8F4B40FF-2B5F-4D62-A6F5-2C3369FDDFDD}" type="pres">
      <dgm:prSet presAssocID="{942E5020-B091-43A8-9F81-1F3CA1542C63}" presName="sibTrans" presStyleCnt="0"/>
      <dgm:spPr/>
    </dgm:pt>
    <dgm:pt modelId="{251AC3DC-0DF3-4101-9323-AB05E44943AF}" type="pres">
      <dgm:prSet presAssocID="{BFC3577A-E10E-4916-AA7B-C97A7748E2F1}" presName="node" presStyleLbl="node1" presStyleIdx="2" presStyleCnt="6" custScaleX="108174" custScaleY="185100">
        <dgm:presLayoutVars>
          <dgm:bulletEnabled val="1"/>
        </dgm:presLayoutVars>
      </dgm:prSet>
      <dgm:spPr/>
    </dgm:pt>
    <dgm:pt modelId="{870B57F5-16F4-4D3E-BBBE-835B18095013}" type="pres">
      <dgm:prSet presAssocID="{AC15DAD3-EE80-403D-A9BC-021C321D9983}" presName="sibTrans" presStyleCnt="0"/>
      <dgm:spPr/>
    </dgm:pt>
    <dgm:pt modelId="{9DC4D81C-48B4-4C0B-A8C4-D08AF82D9B54}" type="pres">
      <dgm:prSet presAssocID="{0C085A43-34DA-4E38-A585-5B2128F6D8FF}" presName="node" presStyleLbl="node1" presStyleIdx="3" presStyleCnt="6" custScaleY="176630">
        <dgm:presLayoutVars>
          <dgm:bulletEnabled val="1"/>
        </dgm:presLayoutVars>
      </dgm:prSet>
      <dgm:spPr/>
    </dgm:pt>
    <dgm:pt modelId="{E57A3824-B9B8-4F12-BEF4-DDA05C2D718A}" type="pres">
      <dgm:prSet presAssocID="{CED92AD0-645F-4919-BA35-644BB0C7D7ED}" presName="sibTrans" presStyleCnt="0"/>
      <dgm:spPr/>
    </dgm:pt>
    <dgm:pt modelId="{BC67F372-3AC0-45EB-BA8B-65C921BE9F7E}" type="pres">
      <dgm:prSet presAssocID="{4BF7F27B-5A88-4264-996B-D381C218B4FD}" presName="node" presStyleLbl="node1" presStyleIdx="4" presStyleCnt="6" custScaleX="140559" custScaleY="176630">
        <dgm:presLayoutVars>
          <dgm:bulletEnabled val="1"/>
        </dgm:presLayoutVars>
      </dgm:prSet>
      <dgm:spPr/>
    </dgm:pt>
    <dgm:pt modelId="{1BE08363-C1A7-46D8-A09A-8F562EF88AB4}" type="pres">
      <dgm:prSet presAssocID="{55C26E9C-2713-426A-9D61-85A7A4FEFA06}" presName="sibTrans" presStyleCnt="0"/>
      <dgm:spPr/>
    </dgm:pt>
    <dgm:pt modelId="{92C4F4C2-B4EA-405F-9485-35BFF0B86D70}" type="pres">
      <dgm:prSet presAssocID="{2CCB375D-E252-4783-99B4-EA4E0000D438}" presName="node" presStyleLbl="node1" presStyleIdx="5" presStyleCnt="6" custScaleY="176630">
        <dgm:presLayoutVars>
          <dgm:bulletEnabled val="1"/>
        </dgm:presLayoutVars>
      </dgm:prSet>
      <dgm:spPr/>
    </dgm:pt>
  </dgm:ptLst>
  <dgm:cxnLst>
    <dgm:cxn modelId="{3BB4F311-267A-48BE-BD63-68A6FE282045}" srcId="{DF30C7C5-2FE4-4E5F-AB96-EC9DBC445060}" destId="{4BF7F27B-5A88-4264-996B-D381C218B4FD}" srcOrd="4" destOrd="0" parTransId="{44AF3770-ADBF-4B80-98C3-BB1E14EF0732}" sibTransId="{55C26E9C-2713-426A-9D61-85A7A4FEFA06}"/>
    <dgm:cxn modelId="{29A3363E-91CE-49F0-89F7-BCB033FB8B06}" type="presOf" srcId="{346D0AD9-7E90-40C7-A029-1E306BF22264}" destId="{A105E950-C82B-41EE-9EC2-A0A52C917FB1}" srcOrd="0" destOrd="0" presId="urn:microsoft.com/office/officeart/2005/8/layout/default"/>
    <dgm:cxn modelId="{5F08B063-2379-4D19-A479-E7DC450CF2BD}" type="presOf" srcId="{AF3383FD-803B-4FA3-91CC-733E7938D815}" destId="{D875AA63-C059-4A86-8701-ED2544C4CD1B}" srcOrd="0" destOrd="0" presId="urn:microsoft.com/office/officeart/2005/8/layout/default"/>
    <dgm:cxn modelId="{761FAC4D-E73E-4FFC-9824-62A93ED57C8A}" type="presOf" srcId="{4BF7F27B-5A88-4264-996B-D381C218B4FD}" destId="{BC67F372-3AC0-45EB-BA8B-65C921BE9F7E}" srcOrd="0" destOrd="0" presId="urn:microsoft.com/office/officeart/2005/8/layout/default"/>
    <dgm:cxn modelId="{925AF975-538D-4132-A2AE-18A86628CDAE}" type="presOf" srcId="{BFC3577A-E10E-4916-AA7B-C97A7748E2F1}" destId="{251AC3DC-0DF3-4101-9323-AB05E44943AF}" srcOrd="0" destOrd="0" presId="urn:microsoft.com/office/officeart/2005/8/layout/default"/>
    <dgm:cxn modelId="{1E61B79C-AEAE-46DB-AB31-17848B01F24E}" type="presOf" srcId="{0C085A43-34DA-4E38-A585-5B2128F6D8FF}" destId="{9DC4D81C-48B4-4C0B-A8C4-D08AF82D9B54}" srcOrd="0" destOrd="0" presId="urn:microsoft.com/office/officeart/2005/8/layout/default"/>
    <dgm:cxn modelId="{BFD6C6A3-04BC-4A5D-A47A-817711E41033}" srcId="{DF30C7C5-2FE4-4E5F-AB96-EC9DBC445060}" destId="{0C085A43-34DA-4E38-A585-5B2128F6D8FF}" srcOrd="3" destOrd="0" parTransId="{3E9B1AA0-9D74-43C5-BA2B-DFFF87AADD3B}" sibTransId="{CED92AD0-645F-4919-BA35-644BB0C7D7ED}"/>
    <dgm:cxn modelId="{AAF3AAA8-F172-4708-A6EA-6E71F6C4F154}" srcId="{DF30C7C5-2FE4-4E5F-AB96-EC9DBC445060}" destId="{2CCB375D-E252-4783-99B4-EA4E0000D438}" srcOrd="5" destOrd="0" parTransId="{B87A07C5-AF53-4955-81A4-6DB04D073D1D}" sibTransId="{941EDC9F-9E4F-4897-8399-BCF97688834F}"/>
    <dgm:cxn modelId="{34EE1FA9-C24D-4762-8519-BDADAD397181}" srcId="{DF30C7C5-2FE4-4E5F-AB96-EC9DBC445060}" destId="{346D0AD9-7E90-40C7-A029-1E306BF22264}" srcOrd="0" destOrd="0" parTransId="{F284899F-9F7F-4564-89A3-24D664DCE881}" sibTransId="{6B773A7D-54CF-4021-967B-B0DAD810A158}"/>
    <dgm:cxn modelId="{F1877CD0-E903-48C4-9465-2E909F29E9D3}" srcId="{DF30C7C5-2FE4-4E5F-AB96-EC9DBC445060}" destId="{AF3383FD-803B-4FA3-91CC-733E7938D815}" srcOrd="1" destOrd="0" parTransId="{BE25DCB2-EADD-470B-9AE8-266F4C02E394}" sibTransId="{942E5020-B091-43A8-9F81-1F3CA1542C63}"/>
    <dgm:cxn modelId="{1BF024D9-4AA2-4746-8927-3A346CFBB13C}" type="presOf" srcId="{2CCB375D-E252-4783-99B4-EA4E0000D438}" destId="{92C4F4C2-B4EA-405F-9485-35BFF0B86D70}" srcOrd="0" destOrd="0" presId="urn:microsoft.com/office/officeart/2005/8/layout/default"/>
    <dgm:cxn modelId="{D22A56D9-99F8-4421-BFDB-39C3BE716E2F}" type="presOf" srcId="{DF30C7C5-2FE4-4E5F-AB96-EC9DBC445060}" destId="{5E9771F4-81A2-4CD4-8702-5C39EC61BD04}" srcOrd="0" destOrd="0" presId="urn:microsoft.com/office/officeart/2005/8/layout/default"/>
    <dgm:cxn modelId="{1CD7E7FC-19E7-4E0E-9F5B-728529B4DF7F}" srcId="{DF30C7C5-2FE4-4E5F-AB96-EC9DBC445060}" destId="{BFC3577A-E10E-4916-AA7B-C97A7748E2F1}" srcOrd="2" destOrd="0" parTransId="{E2E144E6-7BD7-4F91-A9ED-940496108ADA}" sibTransId="{AC15DAD3-EE80-403D-A9BC-021C321D9983}"/>
    <dgm:cxn modelId="{182D5253-7106-4DA3-A8A5-DAB22A290F70}" type="presParOf" srcId="{5E9771F4-81A2-4CD4-8702-5C39EC61BD04}" destId="{A105E950-C82B-41EE-9EC2-A0A52C917FB1}" srcOrd="0" destOrd="0" presId="urn:microsoft.com/office/officeart/2005/8/layout/default"/>
    <dgm:cxn modelId="{77880688-1DFF-435F-9CB8-EF69347CAD9F}" type="presParOf" srcId="{5E9771F4-81A2-4CD4-8702-5C39EC61BD04}" destId="{E61A07EC-8AB1-4589-BF62-EC422B8EC7C2}" srcOrd="1" destOrd="0" presId="urn:microsoft.com/office/officeart/2005/8/layout/default"/>
    <dgm:cxn modelId="{154A1D2E-55DC-4CA8-93BF-F4CD3C34C002}" type="presParOf" srcId="{5E9771F4-81A2-4CD4-8702-5C39EC61BD04}" destId="{D875AA63-C059-4A86-8701-ED2544C4CD1B}" srcOrd="2" destOrd="0" presId="urn:microsoft.com/office/officeart/2005/8/layout/default"/>
    <dgm:cxn modelId="{F46ED013-8A7E-4FDD-964D-93A9CA2FD87C}" type="presParOf" srcId="{5E9771F4-81A2-4CD4-8702-5C39EC61BD04}" destId="{8F4B40FF-2B5F-4D62-A6F5-2C3369FDDFDD}" srcOrd="3" destOrd="0" presId="urn:microsoft.com/office/officeart/2005/8/layout/default"/>
    <dgm:cxn modelId="{E94A6EFF-22BE-482D-8DB9-F8DA5C0EB312}" type="presParOf" srcId="{5E9771F4-81A2-4CD4-8702-5C39EC61BD04}" destId="{251AC3DC-0DF3-4101-9323-AB05E44943AF}" srcOrd="4" destOrd="0" presId="urn:microsoft.com/office/officeart/2005/8/layout/default"/>
    <dgm:cxn modelId="{898458D3-32F0-4262-8245-F590E86B8906}" type="presParOf" srcId="{5E9771F4-81A2-4CD4-8702-5C39EC61BD04}" destId="{870B57F5-16F4-4D3E-BBBE-835B18095013}" srcOrd="5" destOrd="0" presId="urn:microsoft.com/office/officeart/2005/8/layout/default"/>
    <dgm:cxn modelId="{676D01A2-DFBA-44B0-A148-2B4D68E2002B}" type="presParOf" srcId="{5E9771F4-81A2-4CD4-8702-5C39EC61BD04}" destId="{9DC4D81C-48B4-4C0B-A8C4-D08AF82D9B54}" srcOrd="6" destOrd="0" presId="urn:microsoft.com/office/officeart/2005/8/layout/default"/>
    <dgm:cxn modelId="{B83A02BB-8DB2-49C9-8C00-12AC2FFD64C2}" type="presParOf" srcId="{5E9771F4-81A2-4CD4-8702-5C39EC61BD04}" destId="{E57A3824-B9B8-4F12-BEF4-DDA05C2D718A}" srcOrd="7" destOrd="0" presId="urn:microsoft.com/office/officeart/2005/8/layout/default"/>
    <dgm:cxn modelId="{F0B57931-5A67-496D-BBCC-9F3001D813FD}" type="presParOf" srcId="{5E9771F4-81A2-4CD4-8702-5C39EC61BD04}" destId="{BC67F372-3AC0-45EB-BA8B-65C921BE9F7E}" srcOrd="8" destOrd="0" presId="urn:microsoft.com/office/officeart/2005/8/layout/default"/>
    <dgm:cxn modelId="{D936C74A-42C5-4C81-9110-5AB509594F82}" type="presParOf" srcId="{5E9771F4-81A2-4CD4-8702-5C39EC61BD04}" destId="{1BE08363-C1A7-46D8-A09A-8F562EF88AB4}" srcOrd="9" destOrd="0" presId="urn:microsoft.com/office/officeart/2005/8/layout/default"/>
    <dgm:cxn modelId="{563A0FD9-91C6-4171-9BFA-D538705A0C9C}" type="presParOf" srcId="{5E9771F4-81A2-4CD4-8702-5C39EC61BD04}" destId="{92C4F4C2-B4EA-405F-9485-35BFF0B86D70}"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CED4B92-3077-405D-A0D7-EDCD75E387F6}" type="doc">
      <dgm:prSet loTypeId="urn:microsoft.com/office/officeart/2005/8/layout/list1" loCatId="list" qsTypeId="urn:microsoft.com/office/officeart/2005/8/quickstyle/simple1" qsCatId="simple" csTypeId="urn:microsoft.com/office/officeart/2005/8/colors/accent1_2" csCatId="accent1" phldr="1"/>
      <dgm:spPr/>
      <dgm:t>
        <a:bodyPr/>
        <a:lstStyle/>
        <a:p>
          <a:pPr rtl="1"/>
          <a:endParaRPr lang="ar-SY"/>
        </a:p>
      </dgm:t>
    </dgm:pt>
    <dgm:pt modelId="{37EE174F-28F4-418D-B3B3-4C5C7A5CEF3C}">
      <dgm:prSet phldrT="[Text]" custT="1"/>
      <dgm:spPr>
        <a:solidFill>
          <a:schemeClr val="accent3">
            <a:lumMod val="60000"/>
            <a:lumOff val="40000"/>
          </a:schemeClr>
        </a:solidFill>
        <a:ln>
          <a:solidFill>
            <a:schemeClr val="accent3">
              <a:lumMod val="50000"/>
            </a:schemeClr>
          </a:solidFill>
        </a:ln>
      </dgm:spPr>
      <dgm:t>
        <a:bodyPr/>
        <a:lstStyle/>
        <a:p>
          <a:pPr algn="r" rtl="1">
            <a:buSzPct val="100000"/>
            <a:buChar char="•"/>
          </a:pPr>
          <a:r>
            <a:rPr lang="ar-SA" altLang="en-US" sz="2000" dirty="0">
              <a:solidFill>
                <a:srgbClr val="000000"/>
              </a:solidFill>
              <a:latin typeface="Simplified Arabic" pitchFamily="18" charset="-78"/>
              <a:ea typeface="Mukta Light" pitchFamily="34" charset="-122"/>
              <a:cs typeface="Simplified Arabic" pitchFamily="18" charset="-78"/>
            </a:rPr>
            <a:t>تطوير نظام ذكي يعتمد على التعلم العميق والرؤية الحاسوبية لتشخيص أمراض الزيتون والحمضيات بدقة عالية.</a:t>
          </a:r>
          <a:endParaRPr lang="ar-SY" sz="2000" dirty="0"/>
        </a:p>
      </dgm:t>
    </dgm:pt>
    <dgm:pt modelId="{EC4B54EC-7EDE-4177-A2C3-D19061C2A59D}" type="parTrans" cxnId="{C06A0376-23C1-4A1F-AE94-CD2F876B97A3}">
      <dgm:prSet/>
      <dgm:spPr/>
      <dgm:t>
        <a:bodyPr/>
        <a:lstStyle/>
        <a:p>
          <a:pPr rtl="1"/>
          <a:endParaRPr lang="ar-SY"/>
        </a:p>
      </dgm:t>
    </dgm:pt>
    <dgm:pt modelId="{E42B0B10-C9C0-4480-A280-3E7996BFEE3C}" type="sibTrans" cxnId="{C06A0376-23C1-4A1F-AE94-CD2F876B97A3}">
      <dgm:prSet/>
      <dgm:spPr/>
      <dgm:t>
        <a:bodyPr/>
        <a:lstStyle/>
        <a:p>
          <a:pPr rtl="1"/>
          <a:endParaRPr lang="ar-SY"/>
        </a:p>
      </dgm:t>
    </dgm:pt>
    <dgm:pt modelId="{BEA3869E-CA5E-47BC-BE0D-EB0674755EE8}">
      <dgm:prSet phldrT="[Text]" custT="1"/>
      <dgm:spPr>
        <a:solidFill>
          <a:schemeClr val="accent3">
            <a:lumMod val="60000"/>
            <a:lumOff val="40000"/>
          </a:schemeClr>
        </a:solidFill>
        <a:ln>
          <a:solidFill>
            <a:schemeClr val="accent3">
              <a:lumMod val="50000"/>
            </a:schemeClr>
          </a:solidFill>
        </a:ln>
      </dgm:spPr>
      <dgm:t>
        <a:bodyPr/>
        <a:lstStyle/>
        <a:p>
          <a:pPr algn="r" rtl="1">
            <a:buSzPct val="100000"/>
            <a:buChar char="•"/>
          </a:pPr>
          <a:r>
            <a:rPr lang="ar-SA" altLang="en-US" sz="2000" kern="1200" dirty="0">
              <a:solidFill>
                <a:srgbClr val="000000"/>
              </a:solidFill>
              <a:latin typeface="Simplified Arabic" pitchFamily="18" charset="-78"/>
              <a:ea typeface="Mukta Light" pitchFamily="34" charset="-122"/>
              <a:cs typeface="Simplified Arabic" pitchFamily="18" charset="-78"/>
            </a:rPr>
            <a:t>إنشاء تطبيق ويب يتيح رفع الصور والحصول على: اسم المرض (عربي/إنكليزي)، نسبة الثقة، وتوصيات علاجية.</a:t>
          </a:r>
          <a:endParaRPr lang="ar-SY" sz="2000" kern="1200" dirty="0">
            <a:solidFill>
              <a:srgbClr val="000000"/>
            </a:solidFill>
            <a:latin typeface="Simplified Arabic" pitchFamily="18" charset="-78"/>
            <a:ea typeface="Mukta Light" pitchFamily="34" charset="-122"/>
            <a:cs typeface="Simplified Arabic" pitchFamily="18" charset="-78"/>
          </a:endParaRPr>
        </a:p>
      </dgm:t>
    </dgm:pt>
    <dgm:pt modelId="{34F0FD47-1515-42AF-B372-8C6B660E77F3}" type="parTrans" cxnId="{B5A83750-05F3-4D33-8872-96D23A636E7F}">
      <dgm:prSet/>
      <dgm:spPr/>
      <dgm:t>
        <a:bodyPr/>
        <a:lstStyle/>
        <a:p>
          <a:pPr rtl="1"/>
          <a:endParaRPr lang="ar-SY"/>
        </a:p>
      </dgm:t>
    </dgm:pt>
    <dgm:pt modelId="{42B1048D-121F-4557-B0DC-2D85B8D2D769}" type="sibTrans" cxnId="{B5A83750-05F3-4D33-8872-96D23A636E7F}">
      <dgm:prSet/>
      <dgm:spPr/>
      <dgm:t>
        <a:bodyPr/>
        <a:lstStyle/>
        <a:p>
          <a:pPr rtl="1"/>
          <a:endParaRPr lang="ar-SY"/>
        </a:p>
      </dgm:t>
    </dgm:pt>
    <dgm:pt modelId="{B2CA0CD0-109E-4873-83AC-AE9DE93ACAB3}">
      <dgm:prSet phldrT="[Text]" custT="1"/>
      <dgm:spPr>
        <a:solidFill>
          <a:schemeClr val="accent3">
            <a:lumMod val="60000"/>
            <a:lumOff val="40000"/>
          </a:schemeClr>
        </a:solidFill>
        <a:ln>
          <a:solidFill>
            <a:schemeClr val="accent3">
              <a:lumMod val="50000"/>
            </a:schemeClr>
          </a:solidFill>
        </a:ln>
      </dgm:spPr>
      <dgm:t>
        <a:bodyPr/>
        <a:lstStyle/>
        <a:p>
          <a:pPr algn="r" rtl="1">
            <a:buSzPct val="100000"/>
            <a:buChar char="•"/>
          </a:pPr>
          <a:r>
            <a:rPr lang="ar-SA" altLang="en-US" sz="2000" kern="1200" dirty="0">
              <a:solidFill>
                <a:srgbClr val="000000"/>
              </a:solidFill>
              <a:latin typeface="Simplified Arabic" pitchFamily="18" charset="-78"/>
              <a:ea typeface="Mukta Light" pitchFamily="34" charset="-122"/>
              <a:cs typeface="Simplified Arabic" pitchFamily="18" charset="-78"/>
            </a:rPr>
            <a:t>بناء أداة دعم قرار زراعي (Decision Support System) تساعد المزارعين على اتخاذ إجراءات صحيحة بسرعة.</a:t>
          </a:r>
          <a:endParaRPr lang="ar-SY" sz="2000" kern="1200" dirty="0">
            <a:solidFill>
              <a:srgbClr val="000000"/>
            </a:solidFill>
            <a:latin typeface="Simplified Arabic" pitchFamily="18" charset="-78"/>
            <a:ea typeface="Mukta Light" pitchFamily="34" charset="-122"/>
            <a:cs typeface="Simplified Arabic" pitchFamily="18" charset="-78"/>
          </a:endParaRPr>
        </a:p>
      </dgm:t>
    </dgm:pt>
    <dgm:pt modelId="{EFAA97C9-00B9-4AD0-8A30-3D9F80D01AEE}" type="parTrans" cxnId="{6321FD22-7E55-46C7-BD51-600750484A7A}">
      <dgm:prSet/>
      <dgm:spPr/>
      <dgm:t>
        <a:bodyPr/>
        <a:lstStyle/>
        <a:p>
          <a:pPr rtl="1"/>
          <a:endParaRPr lang="ar-SY"/>
        </a:p>
      </dgm:t>
    </dgm:pt>
    <dgm:pt modelId="{4AD190E3-DA3E-4264-9C23-3C51745FD97F}" type="sibTrans" cxnId="{6321FD22-7E55-46C7-BD51-600750484A7A}">
      <dgm:prSet/>
      <dgm:spPr/>
      <dgm:t>
        <a:bodyPr/>
        <a:lstStyle/>
        <a:p>
          <a:pPr rtl="1"/>
          <a:endParaRPr lang="ar-SY"/>
        </a:p>
      </dgm:t>
    </dgm:pt>
    <dgm:pt modelId="{282FA357-D041-491F-8A15-C8A68E365746}" type="pres">
      <dgm:prSet presAssocID="{5CED4B92-3077-405D-A0D7-EDCD75E387F6}" presName="linear" presStyleCnt="0">
        <dgm:presLayoutVars>
          <dgm:dir/>
          <dgm:animLvl val="lvl"/>
          <dgm:resizeHandles val="exact"/>
        </dgm:presLayoutVars>
      </dgm:prSet>
      <dgm:spPr/>
    </dgm:pt>
    <dgm:pt modelId="{39FA3160-F6A5-4736-AF58-586BA3921F35}" type="pres">
      <dgm:prSet presAssocID="{37EE174F-28F4-418D-B3B3-4C5C7A5CEF3C}" presName="parentLin" presStyleCnt="0"/>
      <dgm:spPr/>
    </dgm:pt>
    <dgm:pt modelId="{0A13FF50-9583-46D4-80D7-2A3CA8C486D8}" type="pres">
      <dgm:prSet presAssocID="{37EE174F-28F4-418D-B3B3-4C5C7A5CEF3C}" presName="parentLeftMargin" presStyleLbl="node1" presStyleIdx="0" presStyleCnt="3"/>
      <dgm:spPr/>
    </dgm:pt>
    <dgm:pt modelId="{2551B432-AEA0-41DA-93D8-436271266CD7}" type="pres">
      <dgm:prSet presAssocID="{37EE174F-28F4-418D-B3B3-4C5C7A5CEF3C}" presName="parentText" presStyleLbl="node1" presStyleIdx="0" presStyleCnt="3" custScaleX="131770" custScaleY="147995" custLinFactX="5619" custLinFactNeighborX="100000" custLinFactNeighborY="7103">
        <dgm:presLayoutVars>
          <dgm:chMax val="0"/>
          <dgm:bulletEnabled val="1"/>
        </dgm:presLayoutVars>
      </dgm:prSet>
      <dgm:spPr/>
    </dgm:pt>
    <dgm:pt modelId="{73168AC1-85D9-4D9F-B78D-E0E2C357D49A}" type="pres">
      <dgm:prSet presAssocID="{37EE174F-28F4-418D-B3B3-4C5C7A5CEF3C}" presName="negativeSpace" presStyleCnt="0"/>
      <dgm:spPr/>
    </dgm:pt>
    <dgm:pt modelId="{AFCBB2B5-4D00-48B8-BCE2-2D7217140973}" type="pres">
      <dgm:prSet presAssocID="{37EE174F-28F4-418D-B3B3-4C5C7A5CEF3C}" presName="childText" presStyleLbl="conFgAcc1" presStyleIdx="0" presStyleCnt="3">
        <dgm:presLayoutVars>
          <dgm:bulletEnabled val="1"/>
        </dgm:presLayoutVars>
      </dgm:prSet>
      <dgm:spPr>
        <a:ln>
          <a:solidFill>
            <a:schemeClr val="accent3">
              <a:lumMod val="50000"/>
            </a:schemeClr>
          </a:solidFill>
        </a:ln>
      </dgm:spPr>
    </dgm:pt>
    <dgm:pt modelId="{BA904237-E78F-4F61-B88F-2274543E786B}" type="pres">
      <dgm:prSet presAssocID="{E42B0B10-C9C0-4480-A280-3E7996BFEE3C}" presName="spaceBetweenRectangles" presStyleCnt="0"/>
      <dgm:spPr/>
    </dgm:pt>
    <dgm:pt modelId="{3536A3BC-91DB-4E48-9C44-EF385CA8DB9C}" type="pres">
      <dgm:prSet presAssocID="{BEA3869E-CA5E-47BC-BE0D-EB0674755EE8}" presName="parentLin" presStyleCnt="0"/>
      <dgm:spPr/>
    </dgm:pt>
    <dgm:pt modelId="{907D3DB9-580F-45FC-8ED6-2A34E097DFD9}" type="pres">
      <dgm:prSet presAssocID="{BEA3869E-CA5E-47BC-BE0D-EB0674755EE8}" presName="parentLeftMargin" presStyleLbl="node1" presStyleIdx="0" presStyleCnt="3"/>
      <dgm:spPr/>
    </dgm:pt>
    <dgm:pt modelId="{CF7071B3-A0FF-43F5-89AA-67CC668E5109}" type="pres">
      <dgm:prSet presAssocID="{BEA3869E-CA5E-47BC-BE0D-EB0674755EE8}" presName="parentText" presStyleLbl="node1" presStyleIdx="1" presStyleCnt="3" custScaleX="130484" custScaleY="168470" custLinFactX="1416" custLinFactNeighborX="100000" custLinFactNeighborY="4582">
        <dgm:presLayoutVars>
          <dgm:chMax val="0"/>
          <dgm:bulletEnabled val="1"/>
        </dgm:presLayoutVars>
      </dgm:prSet>
      <dgm:spPr/>
    </dgm:pt>
    <dgm:pt modelId="{72D25C6A-7AF2-4241-AF83-9A38FC828048}" type="pres">
      <dgm:prSet presAssocID="{BEA3869E-CA5E-47BC-BE0D-EB0674755EE8}" presName="negativeSpace" presStyleCnt="0"/>
      <dgm:spPr/>
    </dgm:pt>
    <dgm:pt modelId="{615AAAA3-9928-4635-A19C-316A6C2C4009}" type="pres">
      <dgm:prSet presAssocID="{BEA3869E-CA5E-47BC-BE0D-EB0674755EE8}" presName="childText" presStyleLbl="conFgAcc1" presStyleIdx="1" presStyleCnt="3">
        <dgm:presLayoutVars>
          <dgm:bulletEnabled val="1"/>
        </dgm:presLayoutVars>
      </dgm:prSet>
      <dgm:spPr>
        <a:ln>
          <a:solidFill>
            <a:schemeClr val="accent3">
              <a:lumMod val="50000"/>
            </a:schemeClr>
          </a:solidFill>
        </a:ln>
      </dgm:spPr>
    </dgm:pt>
    <dgm:pt modelId="{E08B335B-92AB-40E1-8DFB-84CA0ADCDD2D}" type="pres">
      <dgm:prSet presAssocID="{42B1048D-121F-4557-B0DC-2D85B8D2D769}" presName="spaceBetweenRectangles" presStyleCnt="0"/>
      <dgm:spPr/>
    </dgm:pt>
    <dgm:pt modelId="{BFF7A5D1-EE1A-42EB-A63B-8BC935ACEC32}" type="pres">
      <dgm:prSet presAssocID="{B2CA0CD0-109E-4873-83AC-AE9DE93ACAB3}" presName="parentLin" presStyleCnt="0"/>
      <dgm:spPr/>
    </dgm:pt>
    <dgm:pt modelId="{AEA5A8BD-F3DC-41E0-A138-0CC1F59987E7}" type="pres">
      <dgm:prSet presAssocID="{B2CA0CD0-109E-4873-83AC-AE9DE93ACAB3}" presName="parentLeftMargin" presStyleLbl="node1" presStyleIdx="1" presStyleCnt="3"/>
      <dgm:spPr/>
    </dgm:pt>
    <dgm:pt modelId="{DAFEDCAA-BA2E-4605-895B-9E18116ED9B1}" type="pres">
      <dgm:prSet presAssocID="{B2CA0CD0-109E-4873-83AC-AE9DE93ACAB3}" presName="parentText" presStyleLbl="node1" presStyleIdx="2" presStyleCnt="3" custScaleX="131769" custScaleY="170203" custLinFactX="21503" custLinFactNeighborX="100000" custLinFactNeighborY="7904">
        <dgm:presLayoutVars>
          <dgm:chMax val="0"/>
          <dgm:bulletEnabled val="1"/>
        </dgm:presLayoutVars>
      </dgm:prSet>
      <dgm:spPr/>
    </dgm:pt>
    <dgm:pt modelId="{85349B9C-8812-4AF5-8130-09EDDC76B132}" type="pres">
      <dgm:prSet presAssocID="{B2CA0CD0-109E-4873-83AC-AE9DE93ACAB3}" presName="negativeSpace" presStyleCnt="0"/>
      <dgm:spPr/>
    </dgm:pt>
    <dgm:pt modelId="{70E5DFF0-2972-49A3-8486-81EAAEB15381}" type="pres">
      <dgm:prSet presAssocID="{B2CA0CD0-109E-4873-83AC-AE9DE93ACAB3}" presName="childText" presStyleLbl="conFgAcc1" presStyleIdx="2" presStyleCnt="3">
        <dgm:presLayoutVars>
          <dgm:bulletEnabled val="1"/>
        </dgm:presLayoutVars>
      </dgm:prSet>
      <dgm:spPr>
        <a:ln>
          <a:solidFill>
            <a:schemeClr val="accent3">
              <a:lumMod val="50000"/>
            </a:schemeClr>
          </a:solidFill>
        </a:ln>
      </dgm:spPr>
    </dgm:pt>
  </dgm:ptLst>
  <dgm:cxnLst>
    <dgm:cxn modelId="{6321FD22-7E55-46C7-BD51-600750484A7A}" srcId="{5CED4B92-3077-405D-A0D7-EDCD75E387F6}" destId="{B2CA0CD0-109E-4873-83AC-AE9DE93ACAB3}" srcOrd="2" destOrd="0" parTransId="{EFAA97C9-00B9-4AD0-8A30-3D9F80D01AEE}" sibTransId="{4AD190E3-DA3E-4264-9C23-3C51745FD97F}"/>
    <dgm:cxn modelId="{A931D436-0F79-4667-9CAD-4032C3EA7330}" type="presOf" srcId="{BEA3869E-CA5E-47BC-BE0D-EB0674755EE8}" destId="{907D3DB9-580F-45FC-8ED6-2A34E097DFD9}" srcOrd="0" destOrd="0" presId="urn:microsoft.com/office/officeart/2005/8/layout/list1"/>
    <dgm:cxn modelId="{B5A83750-05F3-4D33-8872-96D23A636E7F}" srcId="{5CED4B92-3077-405D-A0D7-EDCD75E387F6}" destId="{BEA3869E-CA5E-47BC-BE0D-EB0674755EE8}" srcOrd="1" destOrd="0" parTransId="{34F0FD47-1515-42AF-B372-8C6B660E77F3}" sibTransId="{42B1048D-121F-4557-B0DC-2D85B8D2D769}"/>
    <dgm:cxn modelId="{C06A0376-23C1-4A1F-AE94-CD2F876B97A3}" srcId="{5CED4B92-3077-405D-A0D7-EDCD75E387F6}" destId="{37EE174F-28F4-418D-B3B3-4C5C7A5CEF3C}" srcOrd="0" destOrd="0" parTransId="{EC4B54EC-7EDE-4177-A2C3-D19061C2A59D}" sibTransId="{E42B0B10-C9C0-4480-A280-3E7996BFEE3C}"/>
    <dgm:cxn modelId="{0D008E9D-B4A1-49FE-A35F-2C9DB6BA17C8}" type="presOf" srcId="{37EE174F-28F4-418D-B3B3-4C5C7A5CEF3C}" destId="{0A13FF50-9583-46D4-80D7-2A3CA8C486D8}" srcOrd="0" destOrd="0" presId="urn:microsoft.com/office/officeart/2005/8/layout/list1"/>
    <dgm:cxn modelId="{BB11F29E-708B-4810-9A3A-8460B6457213}" type="presOf" srcId="{B2CA0CD0-109E-4873-83AC-AE9DE93ACAB3}" destId="{AEA5A8BD-F3DC-41E0-A138-0CC1F59987E7}" srcOrd="0" destOrd="0" presId="urn:microsoft.com/office/officeart/2005/8/layout/list1"/>
    <dgm:cxn modelId="{1DF7A5AE-C712-48FF-8781-5B1207B3931D}" type="presOf" srcId="{5CED4B92-3077-405D-A0D7-EDCD75E387F6}" destId="{282FA357-D041-491F-8A15-C8A68E365746}" srcOrd="0" destOrd="0" presId="urn:microsoft.com/office/officeart/2005/8/layout/list1"/>
    <dgm:cxn modelId="{6C7907C5-A734-4E19-8569-A7C7B79C654E}" type="presOf" srcId="{B2CA0CD0-109E-4873-83AC-AE9DE93ACAB3}" destId="{DAFEDCAA-BA2E-4605-895B-9E18116ED9B1}" srcOrd="1" destOrd="0" presId="urn:microsoft.com/office/officeart/2005/8/layout/list1"/>
    <dgm:cxn modelId="{DC1794E1-423A-4F09-9F4F-9F28BD8588B1}" type="presOf" srcId="{BEA3869E-CA5E-47BC-BE0D-EB0674755EE8}" destId="{CF7071B3-A0FF-43F5-89AA-67CC668E5109}" srcOrd="1" destOrd="0" presId="urn:microsoft.com/office/officeart/2005/8/layout/list1"/>
    <dgm:cxn modelId="{65F955F7-9D3E-48D9-9953-1FA9B3D4373C}" type="presOf" srcId="{37EE174F-28F4-418D-B3B3-4C5C7A5CEF3C}" destId="{2551B432-AEA0-41DA-93D8-436271266CD7}" srcOrd="1" destOrd="0" presId="urn:microsoft.com/office/officeart/2005/8/layout/list1"/>
    <dgm:cxn modelId="{F2D8CD42-D4A6-4A93-A0CA-8AC126AC423C}" type="presParOf" srcId="{282FA357-D041-491F-8A15-C8A68E365746}" destId="{39FA3160-F6A5-4736-AF58-586BA3921F35}" srcOrd="0" destOrd="0" presId="urn:microsoft.com/office/officeart/2005/8/layout/list1"/>
    <dgm:cxn modelId="{B70A243F-0D9B-419F-AFB4-66EA915FB2A7}" type="presParOf" srcId="{39FA3160-F6A5-4736-AF58-586BA3921F35}" destId="{0A13FF50-9583-46D4-80D7-2A3CA8C486D8}" srcOrd="0" destOrd="0" presId="urn:microsoft.com/office/officeart/2005/8/layout/list1"/>
    <dgm:cxn modelId="{E81FEA4F-A208-426F-8328-1327D21238D5}" type="presParOf" srcId="{39FA3160-F6A5-4736-AF58-586BA3921F35}" destId="{2551B432-AEA0-41DA-93D8-436271266CD7}" srcOrd="1" destOrd="0" presId="urn:microsoft.com/office/officeart/2005/8/layout/list1"/>
    <dgm:cxn modelId="{F5C9D50F-0432-46C6-936C-FF57DE283C55}" type="presParOf" srcId="{282FA357-D041-491F-8A15-C8A68E365746}" destId="{73168AC1-85D9-4D9F-B78D-E0E2C357D49A}" srcOrd="1" destOrd="0" presId="urn:microsoft.com/office/officeart/2005/8/layout/list1"/>
    <dgm:cxn modelId="{128448E6-E629-418D-B6AF-769D14B92991}" type="presParOf" srcId="{282FA357-D041-491F-8A15-C8A68E365746}" destId="{AFCBB2B5-4D00-48B8-BCE2-2D7217140973}" srcOrd="2" destOrd="0" presId="urn:microsoft.com/office/officeart/2005/8/layout/list1"/>
    <dgm:cxn modelId="{2D6FDCAA-5C5A-404A-B68A-96DED5214435}" type="presParOf" srcId="{282FA357-D041-491F-8A15-C8A68E365746}" destId="{BA904237-E78F-4F61-B88F-2274543E786B}" srcOrd="3" destOrd="0" presId="urn:microsoft.com/office/officeart/2005/8/layout/list1"/>
    <dgm:cxn modelId="{227ECB3A-2B90-4B42-AA79-06270F75342C}" type="presParOf" srcId="{282FA357-D041-491F-8A15-C8A68E365746}" destId="{3536A3BC-91DB-4E48-9C44-EF385CA8DB9C}" srcOrd="4" destOrd="0" presId="urn:microsoft.com/office/officeart/2005/8/layout/list1"/>
    <dgm:cxn modelId="{50DE5BD3-5612-42EF-90F1-9D73DECF76C6}" type="presParOf" srcId="{3536A3BC-91DB-4E48-9C44-EF385CA8DB9C}" destId="{907D3DB9-580F-45FC-8ED6-2A34E097DFD9}" srcOrd="0" destOrd="0" presId="urn:microsoft.com/office/officeart/2005/8/layout/list1"/>
    <dgm:cxn modelId="{EDDD046E-636D-4447-A9FD-3800892F29AC}" type="presParOf" srcId="{3536A3BC-91DB-4E48-9C44-EF385CA8DB9C}" destId="{CF7071B3-A0FF-43F5-89AA-67CC668E5109}" srcOrd="1" destOrd="0" presId="urn:microsoft.com/office/officeart/2005/8/layout/list1"/>
    <dgm:cxn modelId="{E149C05A-A1E4-4D9F-8738-4A27FD7F34AB}" type="presParOf" srcId="{282FA357-D041-491F-8A15-C8A68E365746}" destId="{72D25C6A-7AF2-4241-AF83-9A38FC828048}" srcOrd="5" destOrd="0" presId="urn:microsoft.com/office/officeart/2005/8/layout/list1"/>
    <dgm:cxn modelId="{1C9F923A-81B2-4B33-8163-1DC5F230CC0D}" type="presParOf" srcId="{282FA357-D041-491F-8A15-C8A68E365746}" destId="{615AAAA3-9928-4635-A19C-316A6C2C4009}" srcOrd="6" destOrd="0" presId="urn:microsoft.com/office/officeart/2005/8/layout/list1"/>
    <dgm:cxn modelId="{09561F56-CEB8-4434-9787-FCC5B496DD1F}" type="presParOf" srcId="{282FA357-D041-491F-8A15-C8A68E365746}" destId="{E08B335B-92AB-40E1-8DFB-84CA0ADCDD2D}" srcOrd="7" destOrd="0" presId="urn:microsoft.com/office/officeart/2005/8/layout/list1"/>
    <dgm:cxn modelId="{6F91CC0B-B17C-4A62-A2A8-257D957B4084}" type="presParOf" srcId="{282FA357-D041-491F-8A15-C8A68E365746}" destId="{BFF7A5D1-EE1A-42EB-A63B-8BC935ACEC32}" srcOrd="8" destOrd="0" presId="urn:microsoft.com/office/officeart/2005/8/layout/list1"/>
    <dgm:cxn modelId="{9D9AC4D8-1616-49E3-8815-D8CB8E06C03E}" type="presParOf" srcId="{BFF7A5D1-EE1A-42EB-A63B-8BC935ACEC32}" destId="{AEA5A8BD-F3DC-41E0-A138-0CC1F59987E7}" srcOrd="0" destOrd="0" presId="urn:microsoft.com/office/officeart/2005/8/layout/list1"/>
    <dgm:cxn modelId="{57F01D08-D34D-4869-A867-702214C99E75}" type="presParOf" srcId="{BFF7A5D1-EE1A-42EB-A63B-8BC935ACEC32}" destId="{DAFEDCAA-BA2E-4605-895B-9E18116ED9B1}" srcOrd="1" destOrd="0" presId="urn:microsoft.com/office/officeart/2005/8/layout/list1"/>
    <dgm:cxn modelId="{E7D1F10B-9B44-4530-BC45-D9C4D0B589BB}" type="presParOf" srcId="{282FA357-D041-491F-8A15-C8A68E365746}" destId="{85349B9C-8812-4AF5-8130-09EDDC76B132}" srcOrd="9" destOrd="0" presId="urn:microsoft.com/office/officeart/2005/8/layout/list1"/>
    <dgm:cxn modelId="{A2A52D76-0447-45F7-9649-ACDB32A9C94F}" type="presParOf" srcId="{282FA357-D041-491F-8A15-C8A68E365746}" destId="{70E5DFF0-2972-49A3-8486-81EAAEB15381}"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40D9AA-CCE9-4F6B-98FA-34671E20651E}">
      <dsp:nvSpPr>
        <dsp:cNvPr id="0" name=""/>
        <dsp:cNvSpPr/>
      </dsp:nvSpPr>
      <dsp:spPr>
        <a:xfrm>
          <a:off x="85530" y="0"/>
          <a:ext cx="6072032" cy="1572134"/>
        </a:xfrm>
        <a:prstGeom prst="roundRect">
          <a:avLst>
            <a:gd name="adj" fmla="val 10000"/>
          </a:avLst>
        </a:prstGeom>
        <a:solidFill>
          <a:schemeClr val="accent3">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r" defTabSz="1066800" rtl="1">
            <a:lnSpc>
              <a:spcPct val="90000"/>
            </a:lnSpc>
            <a:spcBef>
              <a:spcPct val="0"/>
            </a:spcBef>
            <a:spcAft>
              <a:spcPct val="35000"/>
            </a:spcAft>
            <a:buNone/>
          </a:pPr>
          <a:r>
            <a:rPr lang="ar-SY" sz="2400" b="1" kern="1200" dirty="0">
              <a:solidFill>
                <a:schemeClr val="tx1">
                  <a:lumMod val="95000"/>
                  <a:lumOff val="5000"/>
                </a:schemeClr>
              </a:solidFill>
              <a:latin typeface="Simplified Arabic" pitchFamily="18" charset="-78"/>
              <a:cs typeface="Simplified Arabic" pitchFamily="18" charset="-78"/>
            </a:rPr>
            <a:t>تطوير نظام ذكي لتصنيف أمراض</a:t>
          </a:r>
          <a:r>
            <a:rPr lang="ar-SA" sz="2400" b="1" kern="1200" dirty="0">
              <a:solidFill>
                <a:schemeClr val="tx1">
                  <a:lumMod val="95000"/>
                  <a:lumOff val="5000"/>
                </a:schemeClr>
              </a:solidFill>
              <a:latin typeface="Simplified Arabic" pitchFamily="18" charset="-78"/>
              <a:cs typeface="Simplified Arabic" pitchFamily="18" charset="-78"/>
            </a:rPr>
            <a:t> أشجار</a:t>
          </a:r>
          <a:r>
            <a:rPr lang="ar-SY" sz="2400" b="1" kern="1200" dirty="0">
              <a:solidFill>
                <a:schemeClr val="tx1">
                  <a:lumMod val="95000"/>
                  <a:lumOff val="5000"/>
                </a:schemeClr>
              </a:solidFill>
              <a:latin typeface="Simplified Arabic" pitchFamily="18" charset="-78"/>
              <a:cs typeface="Simplified Arabic" pitchFamily="18" charset="-78"/>
            </a:rPr>
            <a:t> الزيتون والحمضيات باستخدام تقنيات معالجة الصور الرقمية والتعلم العميق، </a:t>
          </a:r>
          <a:endParaRPr lang="ar-SY" sz="2400" b="1" kern="1200" dirty="0"/>
        </a:p>
      </dsp:txBody>
      <dsp:txXfrm>
        <a:off x="131576" y="46046"/>
        <a:ext cx="4419536" cy="1480042"/>
      </dsp:txXfrm>
    </dsp:sp>
    <dsp:sp modelId="{E83D1CE2-0195-4A5E-8AFC-EB4C0858340C}">
      <dsp:nvSpPr>
        <dsp:cNvPr id="0" name=""/>
        <dsp:cNvSpPr/>
      </dsp:nvSpPr>
      <dsp:spPr>
        <a:xfrm>
          <a:off x="550861" y="1834157"/>
          <a:ext cx="6243093" cy="1572134"/>
        </a:xfrm>
        <a:prstGeom prst="roundRect">
          <a:avLst>
            <a:gd name="adj" fmla="val 10000"/>
          </a:avLst>
        </a:prstGeom>
        <a:solidFill>
          <a:schemeClr val="accent3">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r" defTabSz="1066800" rtl="1">
            <a:lnSpc>
              <a:spcPct val="90000"/>
            </a:lnSpc>
            <a:spcBef>
              <a:spcPct val="0"/>
            </a:spcBef>
            <a:spcAft>
              <a:spcPct val="35000"/>
            </a:spcAft>
            <a:buNone/>
          </a:pPr>
          <a:r>
            <a:rPr lang="ar-SY" sz="2400" b="1" kern="1200" dirty="0">
              <a:solidFill>
                <a:schemeClr val="tx1">
                  <a:lumMod val="95000"/>
                  <a:lumOff val="5000"/>
                </a:schemeClr>
              </a:solidFill>
              <a:latin typeface="Simplified Arabic" pitchFamily="18" charset="-78"/>
              <a:cs typeface="Simplified Arabic" pitchFamily="18" charset="-78"/>
            </a:rPr>
            <a:t>بناء </a:t>
          </a:r>
          <a:r>
            <a:rPr lang="ar-SA" sz="2400" b="1" kern="1200" dirty="0">
              <a:solidFill>
                <a:schemeClr val="tx1">
                  <a:lumMod val="95000"/>
                  <a:lumOff val="5000"/>
                </a:schemeClr>
              </a:solidFill>
              <a:latin typeface="Simplified Arabic" pitchFamily="18" charset="-78"/>
              <a:cs typeface="Simplified Arabic" pitchFamily="18" charset="-78"/>
            </a:rPr>
            <a:t>مجموعة</a:t>
          </a:r>
          <a:r>
            <a:rPr lang="ar-SY" sz="2400" b="1" kern="1200" dirty="0">
              <a:solidFill>
                <a:schemeClr val="tx1">
                  <a:lumMod val="95000"/>
                  <a:lumOff val="5000"/>
                </a:schemeClr>
              </a:solidFill>
              <a:latin typeface="Simplified Arabic" pitchFamily="18" charset="-78"/>
              <a:cs typeface="Simplified Arabic" pitchFamily="18" charset="-78"/>
            </a:rPr>
            <a:t> بيانات صور شاملة</a:t>
          </a:r>
          <a:r>
            <a:rPr lang="ar-SA" sz="2400" b="1" kern="1200" dirty="0">
              <a:solidFill>
                <a:schemeClr val="tx1">
                  <a:lumMod val="95000"/>
                  <a:lumOff val="5000"/>
                </a:schemeClr>
              </a:solidFill>
              <a:latin typeface="Simplified Arabic" pitchFamily="18" charset="-78"/>
              <a:cs typeface="Simplified Arabic" pitchFamily="18" charset="-78"/>
            </a:rPr>
            <a:t> للأمراض</a:t>
          </a:r>
          <a:r>
            <a:rPr lang="ar-SY" sz="2400" b="1" kern="1200" dirty="0">
              <a:solidFill>
                <a:schemeClr val="tx1">
                  <a:lumMod val="95000"/>
                  <a:lumOff val="5000"/>
                </a:schemeClr>
              </a:solidFill>
              <a:latin typeface="Simplified Arabic" pitchFamily="18" charset="-78"/>
              <a:cs typeface="Simplified Arabic" pitchFamily="18" charset="-78"/>
            </a:rPr>
            <a:t> وتدريب نموذج </a:t>
          </a:r>
          <a:r>
            <a:rPr lang="en-US" sz="2200" b="1" kern="1200" dirty="0">
              <a:solidFill>
                <a:schemeClr val="tx1">
                  <a:lumMod val="95000"/>
                  <a:lumOff val="5000"/>
                </a:schemeClr>
              </a:solidFill>
              <a:latin typeface="Simplified Arabic" pitchFamily="18" charset="-78"/>
              <a:cs typeface="+mj-cs"/>
            </a:rPr>
            <a:t>EfficientNet-B0</a:t>
          </a:r>
          <a:endParaRPr lang="ar-SY" sz="2200" b="1" kern="1200" dirty="0"/>
        </a:p>
      </dsp:txBody>
      <dsp:txXfrm>
        <a:off x="596907" y="1880203"/>
        <a:ext cx="4578252" cy="1480042"/>
      </dsp:txXfrm>
    </dsp:sp>
    <dsp:sp modelId="{6D4A0CEC-39A2-4CAB-A369-0038A706C801}">
      <dsp:nvSpPr>
        <dsp:cNvPr id="0" name=""/>
        <dsp:cNvSpPr/>
      </dsp:nvSpPr>
      <dsp:spPr>
        <a:xfrm>
          <a:off x="1101722" y="3668314"/>
          <a:ext cx="6243093" cy="1572134"/>
        </a:xfrm>
        <a:prstGeom prst="roundRect">
          <a:avLst>
            <a:gd name="adj" fmla="val 10000"/>
          </a:avLst>
        </a:prstGeom>
        <a:solidFill>
          <a:schemeClr val="accent3">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r" defTabSz="1066800" rtl="1">
            <a:lnSpc>
              <a:spcPct val="90000"/>
            </a:lnSpc>
            <a:spcBef>
              <a:spcPct val="0"/>
            </a:spcBef>
            <a:spcAft>
              <a:spcPct val="35000"/>
            </a:spcAft>
            <a:buNone/>
          </a:pPr>
          <a:r>
            <a:rPr lang="ar-SY" sz="2400" b="1" kern="1200" dirty="0">
              <a:solidFill>
                <a:schemeClr val="tx1">
                  <a:lumMod val="95000"/>
                  <a:lumOff val="5000"/>
                </a:schemeClr>
              </a:solidFill>
              <a:latin typeface="Simplified Arabic" pitchFamily="18" charset="-78"/>
              <a:cs typeface="Simplified Arabic" pitchFamily="18" charset="-78"/>
            </a:rPr>
            <a:t>تطوير تطبيق ويب تفاعلي بإطار العمل </a:t>
          </a:r>
          <a:r>
            <a:rPr lang="en-US" sz="2200" b="1" kern="1200" dirty="0">
              <a:solidFill>
                <a:schemeClr val="tx1">
                  <a:lumMod val="95000"/>
                  <a:lumOff val="5000"/>
                </a:schemeClr>
              </a:solidFill>
              <a:latin typeface="Simplified Arabic" pitchFamily="18" charset="-78"/>
              <a:cs typeface="Simplified Arabic" pitchFamily="18" charset="-78"/>
            </a:rPr>
            <a:t>Django</a:t>
          </a:r>
          <a:r>
            <a:rPr lang="ar-SA" sz="2400" b="1" kern="1200" dirty="0">
              <a:solidFill>
                <a:schemeClr val="tx1">
                  <a:lumMod val="95000"/>
                  <a:lumOff val="5000"/>
                </a:schemeClr>
              </a:solidFill>
              <a:latin typeface="Simplified Arabic" pitchFamily="18" charset="-78"/>
              <a:cs typeface="Simplified Arabic" pitchFamily="18" charset="-78"/>
            </a:rPr>
            <a:t> لعرض</a:t>
          </a:r>
          <a:r>
            <a:rPr lang="ar-SY" sz="2400" b="1" kern="1200" dirty="0">
              <a:solidFill>
                <a:schemeClr val="tx1">
                  <a:lumMod val="95000"/>
                  <a:lumOff val="5000"/>
                </a:schemeClr>
              </a:solidFill>
              <a:latin typeface="Simplified Arabic" pitchFamily="18" charset="-78"/>
              <a:cs typeface="Simplified Arabic" pitchFamily="18" charset="-78"/>
            </a:rPr>
            <a:t> التشخيص</a:t>
          </a:r>
          <a:r>
            <a:rPr lang="ar-SA" sz="2400" b="1" kern="1200" dirty="0">
              <a:solidFill>
                <a:schemeClr val="tx1">
                  <a:lumMod val="95000"/>
                  <a:lumOff val="5000"/>
                </a:schemeClr>
              </a:solidFill>
              <a:latin typeface="Simplified Arabic" pitchFamily="18" charset="-78"/>
              <a:cs typeface="Simplified Arabic" pitchFamily="18" charset="-78"/>
            </a:rPr>
            <a:t> ووصف المرض</a:t>
          </a:r>
          <a:r>
            <a:rPr lang="ar-SY" sz="2400" b="1" kern="1200" dirty="0">
              <a:solidFill>
                <a:schemeClr val="tx1">
                  <a:lumMod val="95000"/>
                  <a:lumOff val="5000"/>
                </a:schemeClr>
              </a:solidFill>
              <a:latin typeface="Simplified Arabic" pitchFamily="18" charset="-78"/>
              <a:cs typeface="Simplified Arabic" pitchFamily="18" charset="-78"/>
            </a:rPr>
            <a:t> والتوصيات العلاجية باللغة العربية.</a:t>
          </a:r>
          <a:endParaRPr lang="ar-SY" sz="2400" b="1" kern="1200" dirty="0"/>
        </a:p>
      </dsp:txBody>
      <dsp:txXfrm>
        <a:off x="1147768" y="3714360"/>
        <a:ext cx="4578252" cy="1480042"/>
      </dsp:txXfrm>
    </dsp:sp>
    <dsp:sp modelId="{33B8B9DC-0637-4D8A-ABE2-EEF0289B85B0}">
      <dsp:nvSpPr>
        <dsp:cNvPr id="0" name=""/>
        <dsp:cNvSpPr/>
      </dsp:nvSpPr>
      <dsp:spPr>
        <a:xfrm>
          <a:off x="5221206" y="1192202"/>
          <a:ext cx="1021887" cy="1021887"/>
        </a:xfrm>
        <a:prstGeom prst="downArrow">
          <a:avLst>
            <a:gd name="adj1" fmla="val 55000"/>
            <a:gd name="adj2" fmla="val 45000"/>
          </a:avLst>
        </a:prstGeom>
        <a:solidFill>
          <a:schemeClr val="accent3">
            <a:lumMod val="75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rtl="1">
            <a:lnSpc>
              <a:spcPct val="90000"/>
            </a:lnSpc>
            <a:spcBef>
              <a:spcPct val="0"/>
            </a:spcBef>
            <a:spcAft>
              <a:spcPct val="35000"/>
            </a:spcAft>
            <a:buNone/>
          </a:pPr>
          <a:endParaRPr lang="ar-SY" sz="3600" kern="1200"/>
        </a:p>
      </dsp:txBody>
      <dsp:txXfrm>
        <a:off x="5451131" y="1192202"/>
        <a:ext cx="562037" cy="768970"/>
      </dsp:txXfrm>
    </dsp:sp>
    <dsp:sp modelId="{0BCFE70B-7C42-40F8-895A-DB84FFB00033}">
      <dsp:nvSpPr>
        <dsp:cNvPr id="0" name=""/>
        <dsp:cNvSpPr/>
      </dsp:nvSpPr>
      <dsp:spPr>
        <a:xfrm>
          <a:off x="5772067" y="3015878"/>
          <a:ext cx="1021887" cy="1021887"/>
        </a:xfrm>
        <a:prstGeom prst="downArrow">
          <a:avLst>
            <a:gd name="adj1" fmla="val 55000"/>
            <a:gd name="adj2" fmla="val 45000"/>
          </a:avLst>
        </a:prstGeom>
        <a:solidFill>
          <a:schemeClr val="accent3">
            <a:lumMod val="75000"/>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rtl="1">
            <a:lnSpc>
              <a:spcPct val="90000"/>
            </a:lnSpc>
            <a:spcBef>
              <a:spcPct val="0"/>
            </a:spcBef>
            <a:spcAft>
              <a:spcPct val="35000"/>
            </a:spcAft>
            <a:buNone/>
          </a:pPr>
          <a:endParaRPr lang="ar-SY" sz="3600" kern="1200"/>
        </a:p>
      </dsp:txBody>
      <dsp:txXfrm>
        <a:off x="6001992" y="3015878"/>
        <a:ext cx="562037" cy="76897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05E950-C82B-41EE-9EC2-A0A52C917FB1}">
      <dsp:nvSpPr>
        <dsp:cNvPr id="0" name=""/>
        <dsp:cNvSpPr/>
      </dsp:nvSpPr>
      <dsp:spPr>
        <a:xfrm>
          <a:off x="101019" y="169149"/>
          <a:ext cx="2620298" cy="2617225"/>
        </a:xfrm>
        <a:prstGeom prst="rect">
          <a:avLst/>
        </a:prstGeom>
        <a:solidFill>
          <a:schemeClr val="accent3">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rtl="1">
            <a:lnSpc>
              <a:spcPct val="90000"/>
            </a:lnSpc>
            <a:spcBef>
              <a:spcPct val="0"/>
            </a:spcBef>
            <a:spcAft>
              <a:spcPct val="35000"/>
            </a:spcAft>
            <a:buNone/>
          </a:pPr>
          <a:r>
            <a:rPr lang="ar-SA" sz="2200" b="1" kern="1200" dirty="0">
              <a:solidFill>
                <a:schemeClr val="bg2">
                  <a:lumMod val="10000"/>
                </a:schemeClr>
              </a:solidFill>
              <a:latin typeface="Simplified Arabic" pitchFamily="18" charset="-78"/>
              <a:cs typeface="Simplified Arabic" pitchFamily="18" charset="-78"/>
            </a:rPr>
            <a:t>تشابه الأعراض المرضية:</a:t>
          </a:r>
          <a:br>
            <a:rPr lang="ar-SA" sz="2200" b="1" kern="1200" dirty="0">
              <a:solidFill>
                <a:schemeClr val="bg2">
                  <a:lumMod val="10000"/>
                </a:schemeClr>
              </a:solidFill>
              <a:latin typeface="Simplified Arabic" pitchFamily="18" charset="-78"/>
              <a:cs typeface="Simplified Arabic" pitchFamily="18" charset="-78"/>
            </a:rPr>
          </a:br>
          <a:r>
            <a:rPr lang="ar-SA" sz="2200" kern="1200" dirty="0">
              <a:solidFill>
                <a:schemeClr val="bg2">
                  <a:lumMod val="10000"/>
                </a:schemeClr>
              </a:solidFill>
              <a:latin typeface="Simplified Arabic" pitchFamily="18" charset="-78"/>
              <a:cs typeface="Simplified Arabic" pitchFamily="18" charset="-78"/>
            </a:rPr>
            <a:t>تتشابه البقع واصفرار الأوراق وجفاف الحواف بين أمراض مختلفة، مما يُصعّب التمييز.</a:t>
          </a:r>
          <a:endParaRPr lang="ar-SY" sz="2200" kern="1200" dirty="0"/>
        </a:p>
      </dsp:txBody>
      <dsp:txXfrm>
        <a:off x="101019" y="169149"/>
        <a:ext cx="2620298" cy="2617225"/>
      </dsp:txXfrm>
    </dsp:sp>
    <dsp:sp modelId="{D875AA63-C059-4A86-8701-ED2544C4CD1B}">
      <dsp:nvSpPr>
        <dsp:cNvPr id="0" name=""/>
        <dsp:cNvSpPr/>
      </dsp:nvSpPr>
      <dsp:spPr>
        <a:xfrm>
          <a:off x="2956975" y="169149"/>
          <a:ext cx="2654091" cy="2617225"/>
        </a:xfrm>
        <a:prstGeom prst="rect">
          <a:avLst/>
        </a:prstGeom>
        <a:solidFill>
          <a:schemeClr val="accent3">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rtl="1">
            <a:lnSpc>
              <a:spcPct val="90000"/>
            </a:lnSpc>
            <a:spcBef>
              <a:spcPct val="0"/>
            </a:spcBef>
            <a:spcAft>
              <a:spcPct val="35000"/>
            </a:spcAft>
            <a:buNone/>
          </a:pPr>
          <a:r>
            <a:rPr lang="ar-SA" altLang="en-US" sz="2200" b="1" kern="1200" dirty="0">
              <a:solidFill>
                <a:schemeClr val="bg2">
                  <a:lumMod val="10000"/>
                </a:schemeClr>
              </a:solidFill>
              <a:latin typeface="Simplified Arabic" pitchFamily="18" charset="-78"/>
              <a:cs typeface="Simplified Arabic" pitchFamily="18" charset="-78"/>
            </a:rPr>
            <a:t>الاعتماد على الخبرة البشرية:</a:t>
          </a:r>
          <a:br>
            <a:rPr lang="ar-SA" altLang="en-US" sz="2200" b="1" kern="1200" dirty="0">
              <a:solidFill>
                <a:schemeClr val="bg2">
                  <a:lumMod val="10000"/>
                </a:schemeClr>
              </a:solidFill>
              <a:latin typeface="Simplified Arabic" pitchFamily="18" charset="-78"/>
              <a:cs typeface="Simplified Arabic" pitchFamily="18" charset="-78"/>
            </a:rPr>
          </a:br>
          <a:r>
            <a:rPr lang="ar-SA" sz="2200" kern="1200" dirty="0">
              <a:solidFill>
                <a:schemeClr val="bg2">
                  <a:lumMod val="10000"/>
                </a:schemeClr>
              </a:solidFill>
              <a:latin typeface="Simplified Arabic" pitchFamily="18" charset="-78"/>
              <a:cs typeface="Simplified Arabic" pitchFamily="18" charset="-78"/>
            </a:rPr>
            <a:t>يتطلب التشخيص الدقيق مهندساً زراعياً متخصصاً غير متاح دائماً، وتختلف الدقة بحسب الخبرة.</a:t>
          </a:r>
          <a:endParaRPr lang="ar-SY" sz="2200" kern="1200" dirty="0"/>
        </a:p>
      </dsp:txBody>
      <dsp:txXfrm>
        <a:off x="2956975" y="169149"/>
        <a:ext cx="2654091" cy="2617225"/>
      </dsp:txXfrm>
    </dsp:sp>
    <dsp:sp modelId="{251AC3DC-0DF3-4101-9323-AB05E44943AF}">
      <dsp:nvSpPr>
        <dsp:cNvPr id="0" name=""/>
        <dsp:cNvSpPr/>
      </dsp:nvSpPr>
      <dsp:spPr>
        <a:xfrm>
          <a:off x="5846724" y="169156"/>
          <a:ext cx="2549200" cy="2617211"/>
        </a:xfrm>
        <a:prstGeom prst="rect">
          <a:avLst/>
        </a:prstGeom>
        <a:solidFill>
          <a:schemeClr val="accent3">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rtl="1">
            <a:lnSpc>
              <a:spcPct val="90000"/>
            </a:lnSpc>
            <a:spcBef>
              <a:spcPct val="0"/>
            </a:spcBef>
            <a:spcAft>
              <a:spcPct val="35000"/>
            </a:spcAft>
            <a:buNone/>
          </a:pPr>
          <a:r>
            <a:rPr lang="ar-SA" sz="2200" b="1" kern="1200" dirty="0">
              <a:solidFill>
                <a:schemeClr val="bg2">
                  <a:lumMod val="10000"/>
                </a:schemeClr>
              </a:solidFill>
              <a:latin typeface="Simplified Arabic" pitchFamily="18" charset="-78"/>
              <a:cs typeface="Simplified Arabic" pitchFamily="18" charset="-78"/>
            </a:rPr>
            <a:t>نقص الأنظمة المتخصصة:</a:t>
          </a:r>
          <a:br>
            <a:rPr lang="ar-SA" sz="2200" b="0" kern="1200" dirty="0">
              <a:solidFill>
                <a:schemeClr val="bg2">
                  <a:lumMod val="10000"/>
                </a:schemeClr>
              </a:solidFill>
              <a:latin typeface="Simplified Arabic" pitchFamily="18" charset="-78"/>
              <a:cs typeface="Simplified Arabic" pitchFamily="18" charset="-78"/>
            </a:rPr>
          </a:br>
          <a:r>
            <a:rPr lang="ar-SA" sz="2200" b="0" kern="1200" dirty="0">
              <a:solidFill>
                <a:schemeClr val="bg2">
                  <a:lumMod val="10000"/>
                </a:schemeClr>
              </a:solidFill>
              <a:latin typeface="Simplified Arabic" pitchFamily="18" charset="-78"/>
              <a:cs typeface="Simplified Arabic" pitchFamily="18" charset="-78"/>
            </a:rPr>
            <a:t>معظم الأنظمة الحالية عامة ولا تدعم اللغة العربية ولا تقدم توصيات علاجية.</a:t>
          </a:r>
          <a:endParaRPr lang="ar-SY" sz="2200" b="0" kern="1200" dirty="0"/>
        </a:p>
      </dsp:txBody>
      <dsp:txXfrm>
        <a:off x="5846724" y="169156"/>
        <a:ext cx="2549200" cy="2617211"/>
      </dsp:txXfrm>
    </dsp:sp>
    <dsp:sp modelId="{9DC4D81C-48B4-4C0B-A8C4-D08AF82D9B54}">
      <dsp:nvSpPr>
        <dsp:cNvPr id="0" name=""/>
        <dsp:cNvSpPr/>
      </dsp:nvSpPr>
      <dsp:spPr>
        <a:xfrm>
          <a:off x="51" y="3022032"/>
          <a:ext cx="2356574" cy="2497450"/>
        </a:xfrm>
        <a:prstGeom prst="rect">
          <a:avLst/>
        </a:prstGeom>
        <a:solidFill>
          <a:schemeClr val="accent3">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rtl="1">
            <a:lnSpc>
              <a:spcPct val="90000"/>
            </a:lnSpc>
            <a:spcBef>
              <a:spcPct val="0"/>
            </a:spcBef>
            <a:spcAft>
              <a:spcPct val="35000"/>
            </a:spcAft>
            <a:buNone/>
          </a:pPr>
          <a:r>
            <a:rPr lang="ar-SA" sz="2200" b="1" kern="1200" dirty="0">
              <a:solidFill>
                <a:schemeClr val="bg2">
                  <a:lumMod val="10000"/>
                </a:schemeClr>
              </a:solidFill>
              <a:latin typeface="Simplified Arabic" pitchFamily="18" charset="-78"/>
              <a:cs typeface="Simplified Arabic" pitchFamily="18" charset="-78"/>
            </a:rPr>
            <a:t>التأخر في اكتشاف المرض:</a:t>
          </a:r>
          <a:br>
            <a:rPr lang="ar-SA" sz="2200" b="1" kern="1200" dirty="0">
              <a:solidFill>
                <a:schemeClr val="bg2">
                  <a:lumMod val="10000"/>
                </a:schemeClr>
              </a:solidFill>
              <a:latin typeface="Simplified Arabic" pitchFamily="18" charset="-78"/>
              <a:cs typeface="Simplified Arabic" pitchFamily="18" charset="-78"/>
            </a:rPr>
          </a:br>
          <a:r>
            <a:rPr lang="ar-SA" sz="2200" kern="1200" dirty="0">
              <a:solidFill>
                <a:schemeClr val="bg2">
                  <a:lumMod val="10000"/>
                </a:schemeClr>
              </a:solidFill>
              <a:latin typeface="Simplified Arabic" pitchFamily="18" charset="-78"/>
              <a:cs typeface="Simplified Arabic" pitchFamily="18" charset="-78"/>
            </a:rPr>
            <a:t>كلما تأخر الاكتشاف زادت احتمالية انتشار المرض وحدوث خسائر كبيرة.</a:t>
          </a:r>
          <a:endParaRPr lang="ar-SY" sz="2200" kern="1200" dirty="0"/>
        </a:p>
      </dsp:txBody>
      <dsp:txXfrm>
        <a:off x="51" y="3022032"/>
        <a:ext cx="2356574" cy="2497450"/>
      </dsp:txXfrm>
    </dsp:sp>
    <dsp:sp modelId="{BC67F372-3AC0-45EB-BA8B-65C921BE9F7E}">
      <dsp:nvSpPr>
        <dsp:cNvPr id="0" name=""/>
        <dsp:cNvSpPr/>
      </dsp:nvSpPr>
      <dsp:spPr>
        <a:xfrm>
          <a:off x="2592283" y="3022032"/>
          <a:ext cx="3312377" cy="2497450"/>
        </a:xfrm>
        <a:prstGeom prst="rect">
          <a:avLst/>
        </a:prstGeom>
        <a:solidFill>
          <a:schemeClr val="accent3">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rtl="1">
            <a:lnSpc>
              <a:spcPct val="90000"/>
            </a:lnSpc>
            <a:spcBef>
              <a:spcPct val="0"/>
            </a:spcBef>
            <a:spcAft>
              <a:spcPct val="35000"/>
            </a:spcAft>
            <a:buNone/>
          </a:pPr>
          <a:r>
            <a:rPr lang="ar-SA" sz="2200" b="1" kern="1200" dirty="0">
              <a:solidFill>
                <a:schemeClr val="bg2">
                  <a:lumMod val="10000"/>
                </a:schemeClr>
              </a:solidFill>
              <a:latin typeface="Simplified Arabic" pitchFamily="18" charset="-78"/>
              <a:cs typeface="Simplified Arabic" pitchFamily="18" charset="-78"/>
            </a:rPr>
            <a:t>صعوبة التصنيف الدقيق:</a:t>
          </a:r>
          <a:br>
            <a:rPr lang="ar-SA" sz="2200" b="1" kern="1200" dirty="0">
              <a:solidFill>
                <a:schemeClr val="bg2">
                  <a:lumMod val="10000"/>
                </a:schemeClr>
              </a:solidFill>
              <a:latin typeface="Simplified Arabic" pitchFamily="18" charset="-78"/>
              <a:cs typeface="Simplified Arabic" pitchFamily="18" charset="-78"/>
            </a:rPr>
          </a:br>
          <a:r>
            <a:rPr lang="ar-SA" sz="2200" kern="1200" dirty="0">
              <a:solidFill>
                <a:schemeClr val="bg2">
                  <a:lumMod val="10000"/>
                </a:schemeClr>
              </a:solidFill>
              <a:latin typeface="Simplified Arabic" pitchFamily="18" charset="-78"/>
              <a:cs typeface="Simplified Arabic" pitchFamily="18" charset="-78"/>
            </a:rPr>
            <a:t>تُعدّ </a:t>
          </a:r>
          <a:r>
            <a:rPr lang="en-US" sz="2000" kern="1200" dirty="0">
              <a:solidFill>
                <a:schemeClr val="bg2">
                  <a:lumMod val="10000"/>
                </a:schemeClr>
              </a:solidFill>
              <a:latin typeface="Simplified Arabic" pitchFamily="18" charset="-78"/>
              <a:cs typeface="Simplified Arabic" pitchFamily="18" charset="-78"/>
            </a:rPr>
            <a:t>Fine-Grained Classification</a:t>
          </a:r>
          <a:r>
            <a:rPr lang="ar-SA" sz="2000" kern="1200" dirty="0">
              <a:solidFill>
                <a:schemeClr val="bg2">
                  <a:lumMod val="10000"/>
                </a:schemeClr>
              </a:solidFill>
              <a:latin typeface="Simplified Arabic" pitchFamily="18" charset="-78"/>
              <a:cs typeface="Simplified Arabic" pitchFamily="18" charset="-78"/>
            </a:rPr>
            <a:t> </a:t>
          </a:r>
          <a:r>
            <a:rPr lang="ar-SA" sz="2200" kern="1200" dirty="0">
              <a:solidFill>
                <a:schemeClr val="bg2">
                  <a:lumMod val="10000"/>
                </a:schemeClr>
              </a:solidFill>
              <a:latin typeface="Simplified Arabic" pitchFamily="18" charset="-78"/>
              <a:cs typeface="Simplified Arabic" pitchFamily="18" charset="-78"/>
            </a:rPr>
            <a:t>من التحديات الصعبة عندما تكون الفروقات بين الأمراض طفيفة</a:t>
          </a:r>
          <a:r>
            <a:rPr lang="ar-SA" sz="2200" kern="1200" dirty="0">
              <a:latin typeface="Simplified Arabic" pitchFamily="18" charset="-78"/>
              <a:cs typeface="Simplified Arabic" pitchFamily="18" charset="-78"/>
            </a:rPr>
            <a:t>.</a:t>
          </a:r>
          <a:br>
            <a:rPr lang="ar-SA" sz="1600" b="1" kern="1200" dirty="0">
              <a:solidFill>
                <a:schemeClr val="bg2">
                  <a:lumMod val="10000"/>
                </a:schemeClr>
              </a:solidFill>
              <a:latin typeface="Simplified Arabic" pitchFamily="18" charset="-78"/>
              <a:cs typeface="Simplified Arabic" pitchFamily="18" charset="-78"/>
            </a:rPr>
          </a:br>
          <a:endParaRPr lang="ar-SY" sz="1600" kern="1200" dirty="0"/>
        </a:p>
      </dsp:txBody>
      <dsp:txXfrm>
        <a:off x="2592283" y="3022032"/>
        <a:ext cx="3312377" cy="2497450"/>
      </dsp:txXfrm>
    </dsp:sp>
    <dsp:sp modelId="{92C4F4C2-B4EA-405F-9485-35BFF0B86D70}">
      <dsp:nvSpPr>
        <dsp:cNvPr id="0" name=""/>
        <dsp:cNvSpPr/>
      </dsp:nvSpPr>
      <dsp:spPr>
        <a:xfrm>
          <a:off x="6140318" y="3022032"/>
          <a:ext cx="2356574" cy="2497450"/>
        </a:xfrm>
        <a:prstGeom prst="rect">
          <a:avLst/>
        </a:prstGeom>
        <a:solidFill>
          <a:schemeClr val="accent3">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rtl="1">
            <a:lnSpc>
              <a:spcPct val="90000"/>
            </a:lnSpc>
            <a:spcBef>
              <a:spcPct val="0"/>
            </a:spcBef>
            <a:spcAft>
              <a:spcPct val="35000"/>
            </a:spcAft>
            <a:buNone/>
          </a:pPr>
          <a:r>
            <a:rPr lang="ar-SA" sz="2200" b="1" kern="1200" dirty="0">
              <a:solidFill>
                <a:schemeClr val="bg2">
                  <a:lumMod val="10000"/>
                </a:schemeClr>
              </a:solidFill>
              <a:latin typeface="Simplified Arabic" pitchFamily="18" charset="-78"/>
              <a:cs typeface="Simplified Arabic" pitchFamily="18" charset="-78"/>
            </a:rPr>
            <a:t>اختلاف ظروف التصوير:</a:t>
          </a:r>
          <a:br>
            <a:rPr lang="ar-SA" sz="2200" b="1" kern="1200" dirty="0">
              <a:solidFill>
                <a:schemeClr val="bg2">
                  <a:lumMod val="10000"/>
                </a:schemeClr>
              </a:solidFill>
              <a:latin typeface="Simplified Arabic" pitchFamily="18" charset="-78"/>
              <a:cs typeface="Simplified Arabic" pitchFamily="18" charset="-78"/>
            </a:rPr>
          </a:br>
          <a:r>
            <a:rPr lang="ar-SA" sz="2200" kern="1200" dirty="0">
              <a:solidFill>
                <a:schemeClr val="bg2">
                  <a:lumMod val="10000"/>
                </a:schemeClr>
              </a:solidFill>
              <a:latin typeface="Simplified Arabic" pitchFamily="18" charset="-78"/>
              <a:cs typeface="Simplified Arabic" pitchFamily="18" charset="-78"/>
            </a:rPr>
            <a:t>تؤثر الإضاءة وزاوية التصوير وجودة الكاميرا والخلفية والظلال سلباً على دقة التشخيص.</a:t>
          </a:r>
          <a:endParaRPr lang="ar-SY" sz="2200" kern="1200" dirty="0"/>
        </a:p>
      </dsp:txBody>
      <dsp:txXfrm>
        <a:off x="6140318" y="3022032"/>
        <a:ext cx="2356574" cy="249745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CBB2B5-4D00-48B8-BCE2-2D7217140973}">
      <dsp:nvSpPr>
        <dsp:cNvPr id="0" name=""/>
        <dsp:cNvSpPr/>
      </dsp:nvSpPr>
      <dsp:spPr>
        <a:xfrm>
          <a:off x="0" y="780778"/>
          <a:ext cx="4471921" cy="604800"/>
        </a:xfrm>
        <a:prstGeom prst="rect">
          <a:avLst/>
        </a:prstGeom>
        <a:solidFill>
          <a:schemeClr val="lt1">
            <a:alpha val="90000"/>
            <a:hueOff val="0"/>
            <a:satOff val="0"/>
            <a:lumOff val="0"/>
            <a:alphaOff val="0"/>
          </a:schemeClr>
        </a:solidFill>
        <a:ln w="25400" cap="flat" cmpd="sng" algn="ctr">
          <a:solidFill>
            <a:schemeClr val="accent3">
              <a:lumMod val="50000"/>
            </a:schemeClr>
          </a:solidFill>
          <a:prstDash val="solid"/>
        </a:ln>
        <a:effectLst/>
      </dsp:spPr>
      <dsp:style>
        <a:lnRef idx="2">
          <a:scrgbClr r="0" g="0" b="0"/>
        </a:lnRef>
        <a:fillRef idx="1">
          <a:scrgbClr r="0" g="0" b="0"/>
        </a:fillRef>
        <a:effectRef idx="0">
          <a:scrgbClr r="0" g="0" b="0"/>
        </a:effectRef>
        <a:fontRef idx="minor"/>
      </dsp:style>
    </dsp:sp>
    <dsp:sp modelId="{2551B432-AEA0-41DA-93D8-436271266CD7}">
      <dsp:nvSpPr>
        <dsp:cNvPr id="0" name=""/>
        <dsp:cNvSpPr/>
      </dsp:nvSpPr>
      <dsp:spPr>
        <a:xfrm>
          <a:off x="347065" y="136826"/>
          <a:ext cx="4124855" cy="1048514"/>
        </a:xfrm>
        <a:prstGeom prst="roundRect">
          <a:avLst/>
        </a:prstGeom>
        <a:solidFill>
          <a:schemeClr val="accent3">
            <a:lumMod val="60000"/>
            <a:lumOff val="40000"/>
          </a:schemeClr>
        </a:solidFill>
        <a:ln w="25400" cap="flat" cmpd="sng" algn="ctr">
          <a:solidFill>
            <a:schemeClr val="accent3">
              <a:lumMod val="50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320" tIns="0" rIns="118320" bIns="0" numCol="1" spcCol="1270" anchor="ctr" anchorCtr="0">
          <a:noAutofit/>
        </a:bodyPr>
        <a:lstStyle/>
        <a:p>
          <a:pPr marL="0" lvl="0" indent="0" algn="r" defTabSz="889000" rtl="1">
            <a:lnSpc>
              <a:spcPct val="90000"/>
            </a:lnSpc>
            <a:spcBef>
              <a:spcPct val="0"/>
            </a:spcBef>
            <a:spcAft>
              <a:spcPct val="35000"/>
            </a:spcAft>
            <a:buSzPct val="100000"/>
            <a:buNone/>
          </a:pPr>
          <a:r>
            <a:rPr lang="ar-SA" altLang="en-US" sz="2000" kern="1200" dirty="0">
              <a:solidFill>
                <a:srgbClr val="000000"/>
              </a:solidFill>
              <a:latin typeface="Simplified Arabic" pitchFamily="18" charset="-78"/>
              <a:ea typeface="Mukta Light" pitchFamily="34" charset="-122"/>
              <a:cs typeface="Simplified Arabic" pitchFamily="18" charset="-78"/>
            </a:rPr>
            <a:t>تطوير نظام ذكي يعتمد على التعلم العميق والرؤية الحاسوبية لتشخيص أمراض الزيتون والحمضيات بدقة عالية.</a:t>
          </a:r>
          <a:endParaRPr lang="ar-SY" sz="2000" kern="1200" dirty="0"/>
        </a:p>
      </dsp:txBody>
      <dsp:txXfrm>
        <a:off x="398249" y="188010"/>
        <a:ext cx="4022487" cy="946146"/>
      </dsp:txXfrm>
    </dsp:sp>
    <dsp:sp modelId="{615AAAA3-9928-4635-A19C-316A6C2C4009}">
      <dsp:nvSpPr>
        <dsp:cNvPr id="0" name=""/>
        <dsp:cNvSpPr/>
      </dsp:nvSpPr>
      <dsp:spPr>
        <a:xfrm>
          <a:off x="0" y="2354514"/>
          <a:ext cx="4471921" cy="604800"/>
        </a:xfrm>
        <a:prstGeom prst="rect">
          <a:avLst/>
        </a:prstGeom>
        <a:solidFill>
          <a:schemeClr val="lt1">
            <a:alpha val="90000"/>
            <a:hueOff val="0"/>
            <a:satOff val="0"/>
            <a:lumOff val="0"/>
            <a:alphaOff val="0"/>
          </a:schemeClr>
        </a:solidFill>
        <a:ln w="25400" cap="flat" cmpd="sng" algn="ctr">
          <a:solidFill>
            <a:schemeClr val="accent3">
              <a:lumMod val="50000"/>
            </a:schemeClr>
          </a:solidFill>
          <a:prstDash val="solid"/>
        </a:ln>
        <a:effectLst/>
      </dsp:spPr>
      <dsp:style>
        <a:lnRef idx="2">
          <a:scrgbClr r="0" g="0" b="0"/>
        </a:lnRef>
        <a:fillRef idx="1">
          <a:scrgbClr r="0" g="0" b="0"/>
        </a:fillRef>
        <a:effectRef idx="0">
          <a:scrgbClr r="0" g="0" b="0"/>
        </a:effectRef>
        <a:fontRef idx="minor"/>
      </dsp:style>
    </dsp:sp>
    <dsp:sp modelId="{CF7071B3-A0FF-43F5-89AA-67CC668E5109}">
      <dsp:nvSpPr>
        <dsp:cNvPr id="0" name=""/>
        <dsp:cNvSpPr/>
      </dsp:nvSpPr>
      <dsp:spPr>
        <a:xfrm>
          <a:off x="387322" y="1547640"/>
          <a:ext cx="4084598" cy="1193576"/>
        </a:xfrm>
        <a:prstGeom prst="roundRect">
          <a:avLst/>
        </a:prstGeom>
        <a:solidFill>
          <a:schemeClr val="accent3">
            <a:lumMod val="60000"/>
            <a:lumOff val="40000"/>
          </a:schemeClr>
        </a:solidFill>
        <a:ln w="25400" cap="flat" cmpd="sng" algn="ctr">
          <a:solidFill>
            <a:schemeClr val="accent3">
              <a:lumMod val="50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320" tIns="0" rIns="118320" bIns="0" numCol="1" spcCol="1270" anchor="ctr" anchorCtr="0">
          <a:noAutofit/>
        </a:bodyPr>
        <a:lstStyle/>
        <a:p>
          <a:pPr marL="0" lvl="0" indent="0" algn="r" defTabSz="889000" rtl="1">
            <a:lnSpc>
              <a:spcPct val="90000"/>
            </a:lnSpc>
            <a:spcBef>
              <a:spcPct val="0"/>
            </a:spcBef>
            <a:spcAft>
              <a:spcPct val="35000"/>
            </a:spcAft>
            <a:buSzPct val="100000"/>
            <a:buNone/>
          </a:pPr>
          <a:r>
            <a:rPr lang="ar-SA" altLang="en-US" sz="2000" kern="1200" dirty="0">
              <a:solidFill>
                <a:srgbClr val="000000"/>
              </a:solidFill>
              <a:latin typeface="Simplified Arabic" pitchFamily="18" charset="-78"/>
              <a:ea typeface="Mukta Light" pitchFamily="34" charset="-122"/>
              <a:cs typeface="Simplified Arabic" pitchFamily="18" charset="-78"/>
            </a:rPr>
            <a:t>إنشاء تطبيق ويب يتيح رفع الصور والحصول على: اسم المرض (عربي/إنكليزي)، نسبة الثقة، وتوصيات علاجية.</a:t>
          </a:r>
          <a:endParaRPr lang="ar-SY" sz="2000" kern="1200" dirty="0">
            <a:solidFill>
              <a:srgbClr val="000000"/>
            </a:solidFill>
            <a:latin typeface="Simplified Arabic" pitchFamily="18" charset="-78"/>
            <a:ea typeface="Mukta Light" pitchFamily="34" charset="-122"/>
            <a:cs typeface="Simplified Arabic" pitchFamily="18" charset="-78"/>
          </a:endParaRPr>
        </a:p>
      </dsp:txBody>
      <dsp:txXfrm>
        <a:off x="445588" y="1605906"/>
        <a:ext cx="3968066" cy="1077044"/>
      </dsp:txXfrm>
    </dsp:sp>
    <dsp:sp modelId="{70E5DFF0-2972-49A3-8486-81EAAEB15381}">
      <dsp:nvSpPr>
        <dsp:cNvPr id="0" name=""/>
        <dsp:cNvSpPr/>
      </dsp:nvSpPr>
      <dsp:spPr>
        <a:xfrm>
          <a:off x="0" y="3940528"/>
          <a:ext cx="4471921" cy="604800"/>
        </a:xfrm>
        <a:prstGeom prst="rect">
          <a:avLst/>
        </a:prstGeom>
        <a:solidFill>
          <a:schemeClr val="lt1">
            <a:alpha val="90000"/>
            <a:hueOff val="0"/>
            <a:satOff val="0"/>
            <a:lumOff val="0"/>
            <a:alphaOff val="0"/>
          </a:schemeClr>
        </a:solidFill>
        <a:ln w="25400" cap="flat" cmpd="sng" algn="ctr">
          <a:solidFill>
            <a:schemeClr val="accent3">
              <a:lumMod val="50000"/>
            </a:schemeClr>
          </a:solidFill>
          <a:prstDash val="solid"/>
        </a:ln>
        <a:effectLst/>
      </dsp:spPr>
      <dsp:style>
        <a:lnRef idx="2">
          <a:scrgbClr r="0" g="0" b="0"/>
        </a:lnRef>
        <a:fillRef idx="1">
          <a:scrgbClr r="0" g="0" b="0"/>
        </a:fillRef>
        <a:effectRef idx="0">
          <a:scrgbClr r="0" g="0" b="0"/>
        </a:effectRef>
        <a:fontRef idx="minor"/>
      </dsp:style>
    </dsp:sp>
    <dsp:sp modelId="{DAFEDCAA-BA2E-4605-895B-9E18116ED9B1}">
      <dsp:nvSpPr>
        <dsp:cNvPr id="0" name=""/>
        <dsp:cNvSpPr/>
      </dsp:nvSpPr>
      <dsp:spPr>
        <a:xfrm>
          <a:off x="347097" y="3144912"/>
          <a:ext cx="4124823" cy="1205854"/>
        </a:xfrm>
        <a:prstGeom prst="roundRect">
          <a:avLst/>
        </a:prstGeom>
        <a:solidFill>
          <a:schemeClr val="accent3">
            <a:lumMod val="60000"/>
            <a:lumOff val="40000"/>
          </a:schemeClr>
        </a:solidFill>
        <a:ln w="25400" cap="flat" cmpd="sng" algn="ctr">
          <a:solidFill>
            <a:schemeClr val="accent3">
              <a:lumMod val="50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320" tIns="0" rIns="118320" bIns="0" numCol="1" spcCol="1270" anchor="ctr" anchorCtr="0">
          <a:noAutofit/>
        </a:bodyPr>
        <a:lstStyle/>
        <a:p>
          <a:pPr marL="0" lvl="0" indent="0" algn="r" defTabSz="889000" rtl="1">
            <a:lnSpc>
              <a:spcPct val="90000"/>
            </a:lnSpc>
            <a:spcBef>
              <a:spcPct val="0"/>
            </a:spcBef>
            <a:spcAft>
              <a:spcPct val="35000"/>
            </a:spcAft>
            <a:buSzPct val="100000"/>
            <a:buNone/>
          </a:pPr>
          <a:r>
            <a:rPr lang="ar-SA" altLang="en-US" sz="2000" kern="1200" dirty="0">
              <a:solidFill>
                <a:srgbClr val="000000"/>
              </a:solidFill>
              <a:latin typeface="Simplified Arabic" pitchFamily="18" charset="-78"/>
              <a:ea typeface="Mukta Light" pitchFamily="34" charset="-122"/>
              <a:cs typeface="Simplified Arabic" pitchFamily="18" charset="-78"/>
            </a:rPr>
            <a:t>بناء أداة دعم قرار زراعي (Decision Support System) تساعد المزارعين على اتخاذ إجراءات صحيحة بسرعة.</a:t>
          </a:r>
          <a:endParaRPr lang="ar-SY" sz="2000" kern="1200" dirty="0">
            <a:solidFill>
              <a:srgbClr val="000000"/>
            </a:solidFill>
            <a:latin typeface="Simplified Arabic" pitchFamily="18" charset="-78"/>
            <a:ea typeface="Mukta Light" pitchFamily="34" charset="-122"/>
            <a:cs typeface="Simplified Arabic" pitchFamily="18" charset="-78"/>
          </a:endParaRPr>
        </a:p>
      </dsp:txBody>
      <dsp:txXfrm>
        <a:off x="405962" y="3203777"/>
        <a:ext cx="4007093" cy="1088124"/>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رأس 1"/>
          <p:cNvSpPr>
            <a:spLocks noGrp="1"/>
          </p:cNvSpPr>
          <p:nvPr>
            <p:ph type="hdr" sz="quarter"/>
          </p:nvPr>
        </p:nvSpPr>
        <p:spPr>
          <a:xfrm>
            <a:off x="3886200" y="0"/>
            <a:ext cx="2971800" cy="457200"/>
          </a:xfrm>
          <a:prstGeom prst="rect">
            <a:avLst/>
          </a:prstGeom>
        </p:spPr>
        <p:txBody>
          <a:bodyPr vert="horz" lIns="91440" tIns="45720" rIns="91440" bIns="45720" rtlCol="1"/>
          <a:lstStyle>
            <a:lvl1pPr algn="r">
              <a:defRPr sz="1200"/>
            </a:lvl1pPr>
          </a:lstStyle>
          <a:p>
            <a:endParaRPr lang="ar-SY"/>
          </a:p>
        </p:txBody>
      </p:sp>
      <p:sp>
        <p:nvSpPr>
          <p:cNvPr id="3" name="عنصر نائب للتاريخ 2"/>
          <p:cNvSpPr>
            <a:spLocks noGrp="1"/>
          </p:cNvSpPr>
          <p:nvPr>
            <p:ph type="dt" idx="1"/>
          </p:nvPr>
        </p:nvSpPr>
        <p:spPr>
          <a:xfrm>
            <a:off x="1588" y="0"/>
            <a:ext cx="2971800" cy="457200"/>
          </a:xfrm>
          <a:prstGeom prst="rect">
            <a:avLst/>
          </a:prstGeom>
        </p:spPr>
        <p:txBody>
          <a:bodyPr vert="horz" lIns="91440" tIns="45720" rIns="91440" bIns="45720" rtlCol="1"/>
          <a:lstStyle>
            <a:lvl1pPr algn="l">
              <a:defRPr sz="1200"/>
            </a:lvl1pPr>
          </a:lstStyle>
          <a:p>
            <a:fld id="{20B82B4A-5DBA-466B-BF38-F3A1BAB250C3}" type="datetimeFigureOut">
              <a:rPr lang="ar-SY" smtClean="0"/>
              <a:t>22/03/1448</a:t>
            </a:fld>
            <a:endParaRPr lang="ar-SY"/>
          </a:p>
        </p:txBody>
      </p:sp>
      <p:sp>
        <p:nvSpPr>
          <p:cNvPr id="4" name="عنصر نائب لصورة الشريحة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1" anchor="ctr"/>
          <a:lstStyle/>
          <a:p>
            <a:endParaRPr lang="ar-SY"/>
          </a:p>
        </p:txBody>
      </p:sp>
      <p:sp>
        <p:nvSpPr>
          <p:cNvPr id="5" name="عنصر نائب للملاحظات 4"/>
          <p:cNvSpPr>
            <a:spLocks noGrp="1"/>
          </p:cNvSpPr>
          <p:nvPr>
            <p:ph type="body" sz="quarter" idx="3"/>
          </p:nvPr>
        </p:nvSpPr>
        <p:spPr>
          <a:xfrm>
            <a:off x="685800" y="4343400"/>
            <a:ext cx="5486400" cy="4114800"/>
          </a:xfrm>
          <a:prstGeom prst="rect">
            <a:avLst/>
          </a:prstGeom>
        </p:spPr>
        <p:txBody>
          <a:bodyPr vert="horz" lIns="91440" tIns="45720" rIns="91440" bIns="45720" rtlCol="1"/>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SY"/>
          </a:p>
        </p:txBody>
      </p:sp>
      <p:sp>
        <p:nvSpPr>
          <p:cNvPr id="6" name="عنصر نائب للتذييل 5"/>
          <p:cNvSpPr>
            <a:spLocks noGrp="1"/>
          </p:cNvSpPr>
          <p:nvPr>
            <p:ph type="ftr" sz="quarter" idx="4"/>
          </p:nvPr>
        </p:nvSpPr>
        <p:spPr>
          <a:xfrm>
            <a:off x="3886200" y="8685213"/>
            <a:ext cx="2971800" cy="457200"/>
          </a:xfrm>
          <a:prstGeom prst="rect">
            <a:avLst/>
          </a:prstGeom>
        </p:spPr>
        <p:txBody>
          <a:bodyPr vert="horz" lIns="91440" tIns="45720" rIns="91440" bIns="45720" rtlCol="1" anchor="b"/>
          <a:lstStyle>
            <a:lvl1pPr algn="r">
              <a:defRPr sz="1200"/>
            </a:lvl1pPr>
          </a:lstStyle>
          <a:p>
            <a:endParaRPr lang="ar-SY"/>
          </a:p>
        </p:txBody>
      </p:sp>
      <p:sp>
        <p:nvSpPr>
          <p:cNvPr id="7" name="عنصر نائب لرقم الشريحة 6"/>
          <p:cNvSpPr>
            <a:spLocks noGrp="1"/>
          </p:cNvSpPr>
          <p:nvPr>
            <p:ph type="sldNum" sz="quarter" idx="5"/>
          </p:nvPr>
        </p:nvSpPr>
        <p:spPr>
          <a:xfrm>
            <a:off x="1588" y="8685213"/>
            <a:ext cx="2971800" cy="457200"/>
          </a:xfrm>
          <a:prstGeom prst="rect">
            <a:avLst/>
          </a:prstGeom>
        </p:spPr>
        <p:txBody>
          <a:bodyPr vert="horz" lIns="91440" tIns="45720" rIns="91440" bIns="45720" rtlCol="1" anchor="b"/>
          <a:lstStyle>
            <a:lvl1pPr algn="l">
              <a:defRPr sz="1200"/>
            </a:lvl1pPr>
          </a:lstStyle>
          <a:p>
            <a:fld id="{E19CAF19-E38A-4515-867E-67C509070652}" type="slidenum">
              <a:rPr lang="ar-SY" smtClean="0"/>
              <a:t>‹#›</a:t>
            </a:fld>
            <a:endParaRPr lang="ar-SY"/>
          </a:p>
        </p:txBody>
      </p:sp>
    </p:spTree>
    <p:extLst>
      <p:ext uri="{BB962C8B-B14F-4D97-AF65-F5344CB8AC3E}">
        <p14:creationId xmlns:p14="http://schemas.microsoft.com/office/powerpoint/2010/main" val="2747558376"/>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ar-SY" dirty="0"/>
          </a:p>
        </p:txBody>
      </p:sp>
      <p:sp>
        <p:nvSpPr>
          <p:cNvPr id="4" name="عنصر نائب لرقم الشريحة 3"/>
          <p:cNvSpPr>
            <a:spLocks noGrp="1"/>
          </p:cNvSpPr>
          <p:nvPr>
            <p:ph type="sldNum" sz="quarter" idx="10"/>
          </p:nvPr>
        </p:nvSpPr>
        <p:spPr/>
        <p:txBody>
          <a:bodyPr/>
          <a:lstStyle/>
          <a:p>
            <a:fld id="{E19CAF19-E38A-4515-867E-67C509070652}" type="slidenum">
              <a:rPr lang="ar-SY" smtClean="0"/>
              <a:t>1</a:t>
            </a:fld>
            <a:endParaRPr lang="ar-SY"/>
          </a:p>
        </p:txBody>
      </p:sp>
    </p:spTree>
    <p:extLst>
      <p:ext uri="{BB962C8B-B14F-4D97-AF65-F5344CB8AC3E}">
        <p14:creationId xmlns:p14="http://schemas.microsoft.com/office/powerpoint/2010/main" val="32506704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ar-SY" dirty="0"/>
          </a:p>
        </p:txBody>
      </p:sp>
      <p:sp>
        <p:nvSpPr>
          <p:cNvPr id="4" name="عنصر نائب لرقم الشريحة 3"/>
          <p:cNvSpPr>
            <a:spLocks noGrp="1"/>
          </p:cNvSpPr>
          <p:nvPr>
            <p:ph type="sldNum" sz="quarter" idx="10"/>
          </p:nvPr>
        </p:nvSpPr>
        <p:spPr/>
        <p:txBody>
          <a:bodyPr/>
          <a:lstStyle/>
          <a:p>
            <a:fld id="{E19CAF19-E38A-4515-867E-67C509070652}" type="slidenum">
              <a:rPr lang="ar-SY" smtClean="0"/>
              <a:t>2</a:t>
            </a:fld>
            <a:endParaRPr lang="ar-SY"/>
          </a:p>
        </p:txBody>
      </p:sp>
    </p:spTree>
    <p:extLst>
      <p:ext uri="{BB962C8B-B14F-4D97-AF65-F5344CB8AC3E}">
        <p14:creationId xmlns:p14="http://schemas.microsoft.com/office/powerpoint/2010/main" val="30638455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ar-SY" dirty="0"/>
          </a:p>
        </p:txBody>
      </p:sp>
      <p:sp>
        <p:nvSpPr>
          <p:cNvPr id="4" name="عنصر نائب لرقم الشريحة 3"/>
          <p:cNvSpPr>
            <a:spLocks noGrp="1"/>
          </p:cNvSpPr>
          <p:nvPr>
            <p:ph type="sldNum" sz="quarter" idx="10"/>
          </p:nvPr>
        </p:nvSpPr>
        <p:spPr/>
        <p:txBody>
          <a:bodyPr/>
          <a:lstStyle/>
          <a:p>
            <a:fld id="{E19CAF19-E38A-4515-867E-67C509070652}" type="slidenum">
              <a:rPr lang="ar-SY" smtClean="0"/>
              <a:t>3</a:t>
            </a:fld>
            <a:endParaRPr lang="ar-SY"/>
          </a:p>
        </p:txBody>
      </p:sp>
    </p:spTree>
    <p:extLst>
      <p:ext uri="{BB962C8B-B14F-4D97-AF65-F5344CB8AC3E}">
        <p14:creationId xmlns:p14="http://schemas.microsoft.com/office/powerpoint/2010/main" val="32506704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ar-SY" dirty="0"/>
          </a:p>
        </p:txBody>
      </p:sp>
      <p:sp>
        <p:nvSpPr>
          <p:cNvPr id="4" name="عنصر نائب لرقم الشريحة 3"/>
          <p:cNvSpPr>
            <a:spLocks noGrp="1"/>
          </p:cNvSpPr>
          <p:nvPr>
            <p:ph type="sldNum" sz="quarter" idx="10"/>
          </p:nvPr>
        </p:nvSpPr>
        <p:spPr/>
        <p:txBody>
          <a:bodyPr/>
          <a:lstStyle/>
          <a:p>
            <a:fld id="{E19CAF19-E38A-4515-867E-67C509070652}" type="slidenum">
              <a:rPr lang="ar-SY" smtClean="0"/>
              <a:t>4</a:t>
            </a:fld>
            <a:endParaRPr lang="ar-SY"/>
          </a:p>
        </p:txBody>
      </p:sp>
    </p:spTree>
    <p:extLst>
      <p:ext uri="{BB962C8B-B14F-4D97-AF65-F5344CB8AC3E}">
        <p14:creationId xmlns:p14="http://schemas.microsoft.com/office/powerpoint/2010/main" val="5436347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ar-SY" dirty="0"/>
          </a:p>
        </p:txBody>
      </p:sp>
      <p:sp>
        <p:nvSpPr>
          <p:cNvPr id="4" name="عنصر نائب لرقم الشريحة 3"/>
          <p:cNvSpPr>
            <a:spLocks noGrp="1"/>
          </p:cNvSpPr>
          <p:nvPr>
            <p:ph type="sldNum" sz="quarter" idx="10"/>
          </p:nvPr>
        </p:nvSpPr>
        <p:spPr/>
        <p:txBody>
          <a:bodyPr/>
          <a:lstStyle/>
          <a:p>
            <a:fld id="{E19CAF19-E38A-4515-867E-67C509070652}" type="slidenum">
              <a:rPr lang="ar-SY" smtClean="0"/>
              <a:t>5</a:t>
            </a:fld>
            <a:endParaRPr lang="ar-SY"/>
          </a:p>
        </p:txBody>
      </p:sp>
    </p:spTree>
    <p:extLst>
      <p:ext uri="{BB962C8B-B14F-4D97-AF65-F5344CB8AC3E}">
        <p14:creationId xmlns:p14="http://schemas.microsoft.com/office/powerpoint/2010/main" val="42351737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ar-SY" dirty="0"/>
          </a:p>
        </p:txBody>
      </p:sp>
      <p:sp>
        <p:nvSpPr>
          <p:cNvPr id="4" name="عنصر نائب لرقم الشريحة 3"/>
          <p:cNvSpPr>
            <a:spLocks noGrp="1"/>
          </p:cNvSpPr>
          <p:nvPr>
            <p:ph type="sldNum" sz="quarter" idx="10"/>
          </p:nvPr>
        </p:nvSpPr>
        <p:spPr/>
        <p:txBody>
          <a:bodyPr/>
          <a:lstStyle/>
          <a:p>
            <a:fld id="{E19CAF19-E38A-4515-867E-67C509070652}" type="slidenum">
              <a:rPr lang="ar-SY" smtClean="0"/>
              <a:t>6</a:t>
            </a:fld>
            <a:endParaRPr lang="ar-SY"/>
          </a:p>
        </p:txBody>
      </p:sp>
    </p:spTree>
    <p:extLst>
      <p:ext uri="{BB962C8B-B14F-4D97-AF65-F5344CB8AC3E}">
        <p14:creationId xmlns:p14="http://schemas.microsoft.com/office/powerpoint/2010/main" val="21659524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ar-SY" dirty="0"/>
          </a:p>
        </p:txBody>
      </p:sp>
      <p:sp>
        <p:nvSpPr>
          <p:cNvPr id="4" name="عنصر نائب لرقم الشريحة 3"/>
          <p:cNvSpPr>
            <a:spLocks noGrp="1"/>
          </p:cNvSpPr>
          <p:nvPr>
            <p:ph type="sldNum" sz="quarter" idx="10"/>
          </p:nvPr>
        </p:nvSpPr>
        <p:spPr/>
        <p:txBody>
          <a:bodyPr/>
          <a:lstStyle/>
          <a:p>
            <a:fld id="{E19CAF19-E38A-4515-867E-67C509070652}" type="slidenum">
              <a:rPr lang="ar-SY" smtClean="0"/>
              <a:t>7</a:t>
            </a:fld>
            <a:endParaRPr lang="ar-SY"/>
          </a:p>
        </p:txBody>
      </p:sp>
    </p:spTree>
    <p:extLst>
      <p:ext uri="{BB962C8B-B14F-4D97-AF65-F5344CB8AC3E}">
        <p14:creationId xmlns:p14="http://schemas.microsoft.com/office/powerpoint/2010/main" val="32647469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ar-SY" dirty="0"/>
          </a:p>
        </p:txBody>
      </p:sp>
      <p:sp>
        <p:nvSpPr>
          <p:cNvPr id="4" name="عنصر نائب لرقم الشريحة 3"/>
          <p:cNvSpPr>
            <a:spLocks noGrp="1"/>
          </p:cNvSpPr>
          <p:nvPr>
            <p:ph type="sldNum" sz="quarter" idx="10"/>
          </p:nvPr>
        </p:nvSpPr>
        <p:spPr/>
        <p:txBody>
          <a:bodyPr/>
          <a:lstStyle/>
          <a:p>
            <a:fld id="{E19CAF19-E38A-4515-867E-67C509070652}" type="slidenum">
              <a:rPr lang="ar-SY" smtClean="0"/>
              <a:t>8</a:t>
            </a:fld>
            <a:endParaRPr lang="ar-SY"/>
          </a:p>
        </p:txBody>
      </p:sp>
    </p:spTree>
    <p:extLst>
      <p:ext uri="{BB962C8B-B14F-4D97-AF65-F5344CB8AC3E}">
        <p14:creationId xmlns:p14="http://schemas.microsoft.com/office/powerpoint/2010/main" val="5835496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Y" dirty="0"/>
              <a:t>توضح هذه الشريحة دورة عمل تطبيق </a:t>
            </a:r>
            <a:r>
              <a:rPr lang="en-US" dirty="0"/>
              <a:t>Vera، </a:t>
            </a:r>
            <a:r>
              <a:rPr lang="ar-SY" dirty="0"/>
              <a:t>حيث تبدأ رحلة المستخدم بحجز الموعد عبر التطبيق، ويمكن للنظام إجراء تقييم أولي للحالة لتحديد أولوية المريض. بعد ذلك يقوم الطبيب بتأكيد الموعد ومراجعته، ثم يمكنه إنشاء أوامر سريرية مرتبطة بالزيارة. كما يستطيع المريض رفع الملفات الطبية، بينما يقوم النظام بإرسال إشعارات بالتحديثات المهمة. وفي النهاية يمكن للمريض تسجيل التزامه بتناول الأدوية ومتابعة العلاج.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6890988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ar-SY" dirty="0"/>
          </a:p>
        </p:txBody>
      </p:sp>
      <p:sp>
        <p:nvSpPr>
          <p:cNvPr id="4" name="عنصر نائب لرقم الشريحة 3"/>
          <p:cNvSpPr>
            <a:spLocks noGrp="1"/>
          </p:cNvSpPr>
          <p:nvPr>
            <p:ph type="sldNum" sz="quarter" idx="10"/>
          </p:nvPr>
        </p:nvSpPr>
        <p:spPr/>
        <p:txBody>
          <a:bodyPr/>
          <a:lstStyle/>
          <a:p>
            <a:fld id="{E19CAF19-E38A-4515-867E-67C509070652}" type="slidenum">
              <a:rPr lang="ar-SY" smtClean="0"/>
              <a:t>10</a:t>
            </a:fld>
            <a:endParaRPr lang="ar-SY"/>
          </a:p>
        </p:txBody>
      </p:sp>
    </p:spTree>
    <p:extLst>
      <p:ext uri="{BB962C8B-B14F-4D97-AF65-F5344CB8AC3E}">
        <p14:creationId xmlns:p14="http://schemas.microsoft.com/office/powerpoint/2010/main" val="6304327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ar-SY" dirty="0"/>
          </a:p>
        </p:txBody>
      </p:sp>
      <p:sp>
        <p:nvSpPr>
          <p:cNvPr id="4" name="عنصر نائب لرقم الشريحة 3"/>
          <p:cNvSpPr>
            <a:spLocks noGrp="1"/>
          </p:cNvSpPr>
          <p:nvPr>
            <p:ph type="sldNum" sz="quarter" idx="10"/>
          </p:nvPr>
        </p:nvSpPr>
        <p:spPr/>
        <p:txBody>
          <a:bodyPr/>
          <a:lstStyle/>
          <a:p>
            <a:fld id="{E19CAF19-E38A-4515-867E-67C509070652}" type="slidenum">
              <a:rPr lang="ar-SY" smtClean="0"/>
              <a:t>11</a:t>
            </a:fld>
            <a:endParaRPr lang="ar-SY"/>
          </a:p>
        </p:txBody>
      </p:sp>
    </p:spTree>
    <p:extLst>
      <p:ext uri="{BB962C8B-B14F-4D97-AF65-F5344CB8AC3E}">
        <p14:creationId xmlns:p14="http://schemas.microsoft.com/office/powerpoint/2010/main" val="18449313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ar-SY" dirty="0"/>
          </a:p>
        </p:txBody>
      </p:sp>
      <p:sp>
        <p:nvSpPr>
          <p:cNvPr id="4" name="عنصر نائب لرقم الشريحة 3"/>
          <p:cNvSpPr>
            <a:spLocks noGrp="1"/>
          </p:cNvSpPr>
          <p:nvPr>
            <p:ph type="sldNum" sz="quarter" idx="10"/>
          </p:nvPr>
        </p:nvSpPr>
        <p:spPr/>
        <p:txBody>
          <a:bodyPr/>
          <a:lstStyle/>
          <a:p>
            <a:fld id="{E19CAF19-E38A-4515-867E-67C509070652}" type="slidenum">
              <a:rPr lang="ar-SY" smtClean="0"/>
              <a:t>12</a:t>
            </a:fld>
            <a:endParaRPr lang="ar-SY"/>
          </a:p>
        </p:txBody>
      </p:sp>
    </p:spTree>
    <p:extLst>
      <p:ext uri="{BB962C8B-B14F-4D97-AF65-F5344CB8AC3E}">
        <p14:creationId xmlns:p14="http://schemas.microsoft.com/office/powerpoint/2010/main" val="6512827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ar-SY" dirty="0"/>
          </a:p>
        </p:txBody>
      </p:sp>
      <p:sp>
        <p:nvSpPr>
          <p:cNvPr id="4" name="عنصر نائب لرقم الشريحة 3"/>
          <p:cNvSpPr>
            <a:spLocks noGrp="1"/>
          </p:cNvSpPr>
          <p:nvPr>
            <p:ph type="sldNum" sz="quarter" idx="10"/>
          </p:nvPr>
        </p:nvSpPr>
        <p:spPr/>
        <p:txBody>
          <a:bodyPr/>
          <a:lstStyle/>
          <a:p>
            <a:fld id="{E19CAF19-E38A-4515-867E-67C509070652}" type="slidenum">
              <a:rPr lang="ar-SY" smtClean="0"/>
              <a:t>13</a:t>
            </a:fld>
            <a:endParaRPr lang="ar-SY"/>
          </a:p>
        </p:txBody>
      </p:sp>
    </p:spTree>
    <p:extLst>
      <p:ext uri="{BB962C8B-B14F-4D97-AF65-F5344CB8AC3E}">
        <p14:creationId xmlns:p14="http://schemas.microsoft.com/office/powerpoint/2010/main" val="32506704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ar-SY" dirty="0"/>
          </a:p>
        </p:txBody>
      </p:sp>
      <p:sp>
        <p:nvSpPr>
          <p:cNvPr id="4" name="عنصر نائب لرقم الشريحة 3"/>
          <p:cNvSpPr>
            <a:spLocks noGrp="1"/>
          </p:cNvSpPr>
          <p:nvPr>
            <p:ph type="sldNum" sz="quarter" idx="10"/>
          </p:nvPr>
        </p:nvSpPr>
        <p:spPr/>
        <p:txBody>
          <a:bodyPr/>
          <a:lstStyle/>
          <a:p>
            <a:fld id="{E19CAF19-E38A-4515-867E-67C509070652}" type="slidenum">
              <a:rPr lang="ar-SY" smtClean="0"/>
              <a:t>14</a:t>
            </a:fld>
            <a:endParaRPr lang="ar-SY"/>
          </a:p>
        </p:txBody>
      </p:sp>
    </p:spTree>
    <p:extLst>
      <p:ext uri="{BB962C8B-B14F-4D97-AF65-F5344CB8AC3E}">
        <p14:creationId xmlns:p14="http://schemas.microsoft.com/office/powerpoint/2010/main" val="32506704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ar-SY" dirty="0"/>
          </a:p>
        </p:txBody>
      </p:sp>
      <p:sp>
        <p:nvSpPr>
          <p:cNvPr id="4" name="عنصر نائب لرقم الشريحة 3"/>
          <p:cNvSpPr>
            <a:spLocks noGrp="1"/>
          </p:cNvSpPr>
          <p:nvPr>
            <p:ph type="sldNum" sz="quarter" idx="10"/>
          </p:nvPr>
        </p:nvSpPr>
        <p:spPr/>
        <p:txBody>
          <a:bodyPr/>
          <a:lstStyle/>
          <a:p>
            <a:fld id="{E19CAF19-E38A-4515-867E-67C509070652}" type="slidenum">
              <a:rPr lang="ar-SY" smtClean="0"/>
              <a:t>15</a:t>
            </a:fld>
            <a:endParaRPr lang="ar-SY"/>
          </a:p>
        </p:txBody>
      </p:sp>
    </p:spTree>
    <p:extLst>
      <p:ext uri="{BB962C8B-B14F-4D97-AF65-F5344CB8AC3E}">
        <p14:creationId xmlns:p14="http://schemas.microsoft.com/office/powerpoint/2010/main" val="32506704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ar-SY" dirty="0"/>
          </a:p>
        </p:txBody>
      </p:sp>
      <p:sp>
        <p:nvSpPr>
          <p:cNvPr id="4" name="عنصر نائب لرقم الشريحة 3"/>
          <p:cNvSpPr>
            <a:spLocks noGrp="1"/>
          </p:cNvSpPr>
          <p:nvPr>
            <p:ph type="sldNum" sz="quarter" idx="10"/>
          </p:nvPr>
        </p:nvSpPr>
        <p:spPr/>
        <p:txBody>
          <a:bodyPr/>
          <a:lstStyle/>
          <a:p>
            <a:fld id="{E19CAF19-E38A-4515-867E-67C509070652}" type="slidenum">
              <a:rPr lang="ar-SY" smtClean="0"/>
              <a:t>16</a:t>
            </a:fld>
            <a:endParaRPr lang="ar-SY"/>
          </a:p>
        </p:txBody>
      </p:sp>
    </p:spTree>
    <p:extLst>
      <p:ext uri="{BB962C8B-B14F-4D97-AF65-F5344CB8AC3E}">
        <p14:creationId xmlns:p14="http://schemas.microsoft.com/office/powerpoint/2010/main" val="32506704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ar-SY" dirty="0"/>
          </a:p>
        </p:txBody>
      </p:sp>
      <p:sp>
        <p:nvSpPr>
          <p:cNvPr id="4" name="عنصر نائب لرقم الشريحة 3"/>
          <p:cNvSpPr>
            <a:spLocks noGrp="1"/>
          </p:cNvSpPr>
          <p:nvPr>
            <p:ph type="sldNum" sz="quarter" idx="10"/>
          </p:nvPr>
        </p:nvSpPr>
        <p:spPr/>
        <p:txBody>
          <a:bodyPr/>
          <a:lstStyle/>
          <a:p>
            <a:fld id="{E19CAF19-E38A-4515-867E-67C509070652}" type="slidenum">
              <a:rPr lang="ar-SY" smtClean="0"/>
              <a:t>17</a:t>
            </a:fld>
            <a:endParaRPr lang="ar-SY"/>
          </a:p>
        </p:txBody>
      </p:sp>
    </p:spTree>
    <p:extLst>
      <p:ext uri="{BB962C8B-B14F-4D97-AF65-F5344CB8AC3E}">
        <p14:creationId xmlns:p14="http://schemas.microsoft.com/office/powerpoint/2010/main" val="4618933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ar-SY" dirty="0"/>
          </a:p>
        </p:txBody>
      </p:sp>
      <p:sp>
        <p:nvSpPr>
          <p:cNvPr id="4" name="عنصر نائب لرقم الشريحة 3"/>
          <p:cNvSpPr>
            <a:spLocks noGrp="1"/>
          </p:cNvSpPr>
          <p:nvPr>
            <p:ph type="sldNum" sz="quarter" idx="10"/>
          </p:nvPr>
        </p:nvSpPr>
        <p:spPr/>
        <p:txBody>
          <a:bodyPr/>
          <a:lstStyle/>
          <a:p>
            <a:fld id="{E19CAF19-E38A-4515-867E-67C509070652}" type="slidenum">
              <a:rPr lang="ar-SY" smtClean="0"/>
              <a:t>18</a:t>
            </a:fld>
            <a:endParaRPr lang="ar-SY"/>
          </a:p>
        </p:txBody>
      </p:sp>
    </p:spTree>
    <p:extLst>
      <p:ext uri="{BB962C8B-B14F-4D97-AF65-F5344CB8AC3E}">
        <p14:creationId xmlns:p14="http://schemas.microsoft.com/office/powerpoint/2010/main" val="29696511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ar-SY" dirty="0"/>
          </a:p>
        </p:txBody>
      </p:sp>
      <p:sp>
        <p:nvSpPr>
          <p:cNvPr id="4" name="عنصر نائب لرقم الشريحة 3"/>
          <p:cNvSpPr>
            <a:spLocks noGrp="1"/>
          </p:cNvSpPr>
          <p:nvPr>
            <p:ph type="sldNum" sz="quarter" idx="10"/>
          </p:nvPr>
        </p:nvSpPr>
        <p:spPr/>
        <p:txBody>
          <a:bodyPr/>
          <a:lstStyle/>
          <a:p>
            <a:fld id="{E19CAF19-E38A-4515-867E-67C509070652}" type="slidenum">
              <a:rPr lang="ar-SY" smtClean="0"/>
              <a:t>19</a:t>
            </a:fld>
            <a:endParaRPr lang="ar-SY"/>
          </a:p>
        </p:txBody>
      </p:sp>
    </p:spTree>
    <p:extLst>
      <p:ext uri="{BB962C8B-B14F-4D97-AF65-F5344CB8AC3E}">
        <p14:creationId xmlns:p14="http://schemas.microsoft.com/office/powerpoint/2010/main" val="1281308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ar-SY" dirty="0"/>
          </a:p>
        </p:txBody>
      </p:sp>
      <p:sp>
        <p:nvSpPr>
          <p:cNvPr id="4" name="عنصر نائب لرقم الشريحة 3"/>
          <p:cNvSpPr>
            <a:spLocks noGrp="1"/>
          </p:cNvSpPr>
          <p:nvPr>
            <p:ph type="sldNum" sz="quarter" idx="10"/>
          </p:nvPr>
        </p:nvSpPr>
        <p:spPr/>
        <p:txBody>
          <a:bodyPr/>
          <a:lstStyle/>
          <a:p>
            <a:fld id="{E19CAF19-E38A-4515-867E-67C509070652}" type="slidenum">
              <a:rPr lang="ar-SY" smtClean="0"/>
              <a:t>20</a:t>
            </a:fld>
            <a:endParaRPr lang="ar-SY"/>
          </a:p>
        </p:txBody>
      </p:sp>
    </p:spTree>
    <p:extLst>
      <p:ext uri="{BB962C8B-B14F-4D97-AF65-F5344CB8AC3E}">
        <p14:creationId xmlns:p14="http://schemas.microsoft.com/office/powerpoint/2010/main" val="32506704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ar-SY" dirty="0"/>
          </a:p>
        </p:txBody>
      </p:sp>
      <p:sp>
        <p:nvSpPr>
          <p:cNvPr id="4" name="عنصر نائب لرقم الشريحة 3"/>
          <p:cNvSpPr>
            <a:spLocks noGrp="1"/>
          </p:cNvSpPr>
          <p:nvPr>
            <p:ph type="sldNum" sz="quarter" idx="10"/>
          </p:nvPr>
        </p:nvSpPr>
        <p:spPr/>
        <p:txBody>
          <a:bodyPr/>
          <a:lstStyle/>
          <a:p>
            <a:fld id="{E19CAF19-E38A-4515-867E-67C509070652}" type="slidenum">
              <a:rPr lang="ar-SY" smtClean="0"/>
              <a:t>21</a:t>
            </a:fld>
            <a:endParaRPr lang="ar-SY"/>
          </a:p>
        </p:txBody>
      </p:sp>
    </p:spTree>
    <p:extLst>
      <p:ext uri="{BB962C8B-B14F-4D97-AF65-F5344CB8AC3E}">
        <p14:creationId xmlns:p14="http://schemas.microsoft.com/office/powerpoint/2010/main" val="32506704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ar-SY" dirty="0"/>
          </a:p>
        </p:txBody>
      </p:sp>
      <p:sp>
        <p:nvSpPr>
          <p:cNvPr id="4" name="عنصر نائب لرقم الشريحة 3"/>
          <p:cNvSpPr>
            <a:spLocks noGrp="1"/>
          </p:cNvSpPr>
          <p:nvPr>
            <p:ph type="sldNum" sz="quarter" idx="10"/>
          </p:nvPr>
        </p:nvSpPr>
        <p:spPr/>
        <p:txBody>
          <a:bodyPr/>
          <a:lstStyle/>
          <a:p>
            <a:fld id="{E19CAF19-E38A-4515-867E-67C509070652}" type="slidenum">
              <a:rPr lang="ar-SY" smtClean="0"/>
              <a:t>22</a:t>
            </a:fld>
            <a:endParaRPr lang="ar-SY"/>
          </a:p>
        </p:txBody>
      </p:sp>
    </p:spTree>
    <p:extLst>
      <p:ext uri="{BB962C8B-B14F-4D97-AF65-F5344CB8AC3E}">
        <p14:creationId xmlns:p14="http://schemas.microsoft.com/office/powerpoint/2010/main" val="25529600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ar-SY" dirty="0"/>
          </a:p>
        </p:txBody>
      </p:sp>
      <p:sp>
        <p:nvSpPr>
          <p:cNvPr id="4" name="عنصر نائب لرقم الشريحة 3"/>
          <p:cNvSpPr>
            <a:spLocks noGrp="1"/>
          </p:cNvSpPr>
          <p:nvPr>
            <p:ph type="sldNum" sz="quarter" idx="10"/>
          </p:nvPr>
        </p:nvSpPr>
        <p:spPr/>
        <p:txBody>
          <a:bodyPr/>
          <a:lstStyle/>
          <a:p>
            <a:fld id="{E19CAF19-E38A-4515-867E-67C509070652}" type="slidenum">
              <a:rPr lang="ar-SY" smtClean="0"/>
              <a:t>23</a:t>
            </a:fld>
            <a:endParaRPr lang="ar-SY"/>
          </a:p>
        </p:txBody>
      </p:sp>
    </p:spTree>
    <p:extLst>
      <p:ext uri="{BB962C8B-B14F-4D97-AF65-F5344CB8AC3E}">
        <p14:creationId xmlns:p14="http://schemas.microsoft.com/office/powerpoint/2010/main" val="15920350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شريحة عنوان">
    <p:spTree>
      <p:nvGrpSpPr>
        <p:cNvPr id="1" name=""/>
        <p:cNvGrpSpPr/>
        <p:nvPr/>
      </p:nvGrpSpPr>
      <p:grpSpPr>
        <a:xfrm>
          <a:off x="0" y="0"/>
          <a:ext cx="0" cy="0"/>
          <a:chOff x="0" y="0"/>
          <a:chExt cx="0" cy="0"/>
        </a:xfrm>
      </p:grpSpPr>
      <p:sp>
        <p:nvSpPr>
          <p:cNvPr id="2" name="عنوان 1"/>
          <p:cNvSpPr>
            <a:spLocks noGrp="1"/>
          </p:cNvSpPr>
          <p:nvPr>
            <p:ph type="ctrTitle"/>
          </p:nvPr>
        </p:nvSpPr>
        <p:spPr>
          <a:xfrm>
            <a:off x="685800" y="2130425"/>
            <a:ext cx="7772400" cy="1470025"/>
          </a:xfrm>
        </p:spPr>
        <p:txBody>
          <a:bodyPr/>
          <a:lstStyle/>
          <a:p>
            <a:r>
              <a:rPr lang="ar-SA"/>
              <a:t>انقر لتحرير نمط العنوان الرئيسي</a:t>
            </a:r>
          </a:p>
        </p:txBody>
      </p:sp>
      <p:sp>
        <p:nvSpPr>
          <p:cNvPr id="3" name="عنوان فرعي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ar-SA"/>
              <a:t>انقر لتحرير نمط العنوان الثانوي الرئيسي</a:t>
            </a:r>
          </a:p>
        </p:txBody>
      </p:sp>
      <p:sp>
        <p:nvSpPr>
          <p:cNvPr id="4" name="عنصر نائب للتاريخ 3"/>
          <p:cNvSpPr>
            <a:spLocks noGrp="1"/>
          </p:cNvSpPr>
          <p:nvPr>
            <p:ph type="dt" sz="half" idx="10"/>
          </p:nvPr>
        </p:nvSpPr>
        <p:spPr/>
        <p:txBody>
          <a:bodyPr/>
          <a:lstStyle/>
          <a:p>
            <a:fld id="{82C7B8AD-9330-4D7B-91B9-B8F4876822B9}" type="uaqdatetime1">
              <a:rPr lang="ar-SA" smtClean="0"/>
              <a:t>22/03/1448</a:t>
            </a:fld>
            <a:endParaRPr lang="ar-SA"/>
          </a:p>
        </p:txBody>
      </p:sp>
      <p:sp>
        <p:nvSpPr>
          <p:cNvPr id="5" name="عنصر نائب للتذييل 4"/>
          <p:cNvSpPr>
            <a:spLocks noGrp="1"/>
          </p:cNvSpPr>
          <p:nvPr>
            <p:ph type="ftr" sz="quarter" idx="11"/>
          </p:nvPr>
        </p:nvSpPr>
        <p:spPr/>
        <p:txBody>
          <a:bodyPr/>
          <a:lstStyle/>
          <a:p>
            <a:endParaRPr lang="ar-SA"/>
          </a:p>
        </p:txBody>
      </p:sp>
      <p:sp>
        <p:nvSpPr>
          <p:cNvPr id="6" name="عنصر نائب لرقم الشريحة 5"/>
          <p:cNvSpPr>
            <a:spLocks noGrp="1"/>
          </p:cNvSpPr>
          <p:nvPr>
            <p:ph type="sldNum" sz="quarter" idx="12"/>
          </p:nvPr>
        </p:nvSpPr>
        <p:spPr/>
        <p:txBody>
          <a:bodyPr/>
          <a:lstStyle/>
          <a:p>
            <a:fld id="{0B34F065-1154-456A-91E3-76DE8E75E17B}" type="slidenum">
              <a:rPr lang="ar-SA" smtClean="0"/>
              <a:t>‹#›</a:t>
            </a:fld>
            <a:endParaRPr lang="ar-S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a:t>انقر لتحرير نمط العنوان الرئيسي</a:t>
            </a:r>
          </a:p>
        </p:txBody>
      </p:sp>
      <p:sp>
        <p:nvSpPr>
          <p:cNvPr id="3" name="عنصر نائب للمحتوى 2"/>
          <p:cNvSpPr>
            <a:spLocks noGrp="1"/>
          </p:cNvSpPr>
          <p:nvPr>
            <p:ph idx="1"/>
          </p:nvPr>
        </p:nvSpPr>
        <p:spPr/>
        <p:txBody>
          <a:body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p:cNvSpPr>
            <a:spLocks noGrp="1"/>
          </p:cNvSpPr>
          <p:nvPr>
            <p:ph type="dt" sz="half" idx="10"/>
          </p:nvPr>
        </p:nvSpPr>
        <p:spPr/>
        <p:txBody>
          <a:bodyPr/>
          <a:lstStyle/>
          <a:p>
            <a:fld id="{2638D3D3-8A7A-47A0-B614-1D2BF0ED9F36}" type="uaqdatetime1">
              <a:rPr lang="ar-SA" smtClean="0"/>
              <a:t>22/03/1448</a:t>
            </a:fld>
            <a:endParaRPr lang="ar-SA"/>
          </a:p>
        </p:txBody>
      </p:sp>
      <p:sp>
        <p:nvSpPr>
          <p:cNvPr id="5" name="عنصر نائب للتذييل 4"/>
          <p:cNvSpPr>
            <a:spLocks noGrp="1"/>
          </p:cNvSpPr>
          <p:nvPr>
            <p:ph type="ftr" sz="quarter" idx="11"/>
          </p:nvPr>
        </p:nvSpPr>
        <p:spPr/>
        <p:txBody>
          <a:bodyPr/>
          <a:lstStyle/>
          <a:p>
            <a:endParaRPr lang="ar-SA"/>
          </a:p>
        </p:txBody>
      </p:sp>
      <p:sp>
        <p:nvSpPr>
          <p:cNvPr id="6" name="عنصر نائب لرقم الشريحة 5"/>
          <p:cNvSpPr>
            <a:spLocks noGrp="1"/>
          </p:cNvSpPr>
          <p:nvPr>
            <p:ph type="sldNum" sz="quarter" idx="12"/>
          </p:nvPr>
        </p:nvSpPr>
        <p:spPr/>
        <p:txBody>
          <a:bodyPr/>
          <a:lstStyle/>
          <a:p>
            <a:fld id="{0B34F065-1154-456A-91E3-76DE8E75E17B}" type="slidenum">
              <a:rPr lang="ar-SA" smtClean="0"/>
              <a:t>‹#›</a:t>
            </a:fld>
            <a:endParaRPr lang="ar-S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sp>
        <p:nvSpPr>
          <p:cNvPr id="2" name="عنوان 1"/>
          <p:cNvSpPr>
            <a:spLocks noGrp="1"/>
          </p:cNvSpPr>
          <p:nvPr>
            <p:ph type="title"/>
          </p:nvPr>
        </p:nvSpPr>
        <p:spPr>
          <a:xfrm>
            <a:off x="722313" y="4406900"/>
            <a:ext cx="7772400" cy="1362075"/>
          </a:xfrm>
        </p:spPr>
        <p:txBody>
          <a:bodyPr anchor="t"/>
          <a:lstStyle>
            <a:lvl1pPr algn="r">
              <a:defRPr sz="4000" b="1" cap="all"/>
            </a:lvl1pPr>
          </a:lstStyle>
          <a:p>
            <a:r>
              <a:rPr lang="ar-SA"/>
              <a:t>انقر لتحرير نمط العنوان الرئيسي</a:t>
            </a:r>
          </a:p>
        </p:txBody>
      </p:sp>
      <p:sp>
        <p:nvSpPr>
          <p:cNvPr id="3" name="عنصر نائب للنص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ar-SA"/>
              <a:t>انقر لتحرير أنماط النص الرئيسي</a:t>
            </a:r>
          </a:p>
        </p:txBody>
      </p:sp>
      <p:sp>
        <p:nvSpPr>
          <p:cNvPr id="4" name="عنصر نائب للتاريخ 3"/>
          <p:cNvSpPr>
            <a:spLocks noGrp="1"/>
          </p:cNvSpPr>
          <p:nvPr>
            <p:ph type="dt" sz="half" idx="10"/>
          </p:nvPr>
        </p:nvSpPr>
        <p:spPr/>
        <p:txBody>
          <a:bodyPr/>
          <a:lstStyle/>
          <a:p>
            <a:fld id="{B05EE2A2-C2F2-400F-AC08-638399883019}" type="uaqdatetime1">
              <a:rPr lang="ar-SA" smtClean="0"/>
              <a:t>22/03/1448</a:t>
            </a:fld>
            <a:endParaRPr lang="ar-SA"/>
          </a:p>
        </p:txBody>
      </p:sp>
      <p:sp>
        <p:nvSpPr>
          <p:cNvPr id="5" name="عنصر نائب للتذييل 4"/>
          <p:cNvSpPr>
            <a:spLocks noGrp="1"/>
          </p:cNvSpPr>
          <p:nvPr>
            <p:ph type="ftr" sz="quarter" idx="11"/>
          </p:nvPr>
        </p:nvSpPr>
        <p:spPr/>
        <p:txBody>
          <a:bodyPr/>
          <a:lstStyle/>
          <a:p>
            <a:endParaRPr lang="ar-SA"/>
          </a:p>
        </p:txBody>
      </p:sp>
      <p:sp>
        <p:nvSpPr>
          <p:cNvPr id="6" name="عنصر نائب لرقم الشريحة 5"/>
          <p:cNvSpPr>
            <a:spLocks noGrp="1"/>
          </p:cNvSpPr>
          <p:nvPr>
            <p:ph type="sldNum" sz="quarter" idx="12"/>
          </p:nvPr>
        </p:nvSpPr>
        <p:spPr/>
        <p:txBody>
          <a:bodyPr/>
          <a:lstStyle/>
          <a:p>
            <a:fld id="{0B34F065-1154-456A-91E3-76DE8E75E17B}" type="slidenum">
              <a:rPr lang="ar-SA" smtClean="0"/>
              <a:t>‹#›</a:t>
            </a:fld>
            <a:endParaRPr lang="ar-S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ين">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a:t>انقر لتحرير نمط العنوان الرئيسي</a:t>
            </a:r>
          </a:p>
        </p:txBody>
      </p:sp>
      <p:sp>
        <p:nvSpPr>
          <p:cNvPr id="3" name="عنصر نائب للمحتوى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محتوى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5" name="عنصر نائب للتاريخ 4"/>
          <p:cNvSpPr>
            <a:spLocks noGrp="1"/>
          </p:cNvSpPr>
          <p:nvPr>
            <p:ph type="dt" sz="half" idx="10"/>
          </p:nvPr>
        </p:nvSpPr>
        <p:spPr/>
        <p:txBody>
          <a:bodyPr/>
          <a:lstStyle/>
          <a:p>
            <a:fld id="{0974E6D5-3FE1-429E-BA30-CFFE78EA49A6}" type="uaqdatetime1">
              <a:rPr lang="ar-SA" smtClean="0"/>
              <a:t>22/03/1448</a:t>
            </a:fld>
            <a:endParaRPr lang="ar-SA"/>
          </a:p>
        </p:txBody>
      </p:sp>
      <p:sp>
        <p:nvSpPr>
          <p:cNvPr id="6" name="عنصر نائب للتذييل 5"/>
          <p:cNvSpPr>
            <a:spLocks noGrp="1"/>
          </p:cNvSpPr>
          <p:nvPr>
            <p:ph type="ftr" sz="quarter" idx="11"/>
          </p:nvPr>
        </p:nvSpPr>
        <p:spPr/>
        <p:txBody>
          <a:bodyPr/>
          <a:lstStyle/>
          <a:p>
            <a:endParaRPr lang="ar-SA"/>
          </a:p>
        </p:txBody>
      </p:sp>
      <p:sp>
        <p:nvSpPr>
          <p:cNvPr id="7" name="عنصر نائب لرقم الشريحة 6"/>
          <p:cNvSpPr>
            <a:spLocks noGrp="1"/>
          </p:cNvSpPr>
          <p:nvPr>
            <p:ph type="sldNum" sz="quarter" idx="12"/>
          </p:nvPr>
        </p:nvSpPr>
        <p:spPr/>
        <p:txBody>
          <a:bodyPr/>
          <a:lstStyle/>
          <a:p>
            <a:fld id="{0B34F065-1154-456A-91E3-76DE8E75E17B}" type="slidenum">
              <a:rPr lang="ar-SA" smtClean="0"/>
              <a:t>‹#›</a:t>
            </a:fld>
            <a:endParaRPr lang="ar-S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lvl1pPr>
              <a:defRPr/>
            </a:lvl1pPr>
          </a:lstStyle>
          <a:p>
            <a:r>
              <a:rPr lang="ar-SA"/>
              <a:t>انقر لتحرير نمط العنوان الرئيسي</a:t>
            </a:r>
          </a:p>
        </p:txBody>
      </p:sp>
      <p:sp>
        <p:nvSpPr>
          <p:cNvPr id="3" name="عنصر نائب للنص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النص الرئيسي</a:t>
            </a:r>
          </a:p>
        </p:txBody>
      </p:sp>
      <p:sp>
        <p:nvSpPr>
          <p:cNvPr id="4" name="عنصر نائب للمحتوى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5" name="عنصر نائب للنص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النص الرئيسي</a:t>
            </a:r>
          </a:p>
        </p:txBody>
      </p:sp>
      <p:sp>
        <p:nvSpPr>
          <p:cNvPr id="6" name="عنصر نائب للمحتوى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7" name="عنصر نائب للتاريخ 6"/>
          <p:cNvSpPr>
            <a:spLocks noGrp="1"/>
          </p:cNvSpPr>
          <p:nvPr>
            <p:ph type="dt" sz="half" idx="10"/>
          </p:nvPr>
        </p:nvSpPr>
        <p:spPr/>
        <p:txBody>
          <a:bodyPr/>
          <a:lstStyle/>
          <a:p>
            <a:fld id="{382E12AF-A08E-4EF3-988C-2DF9B6E3E930}" type="uaqdatetime1">
              <a:rPr lang="ar-SA" smtClean="0"/>
              <a:t>22/03/1448</a:t>
            </a:fld>
            <a:endParaRPr lang="ar-SA"/>
          </a:p>
        </p:txBody>
      </p:sp>
      <p:sp>
        <p:nvSpPr>
          <p:cNvPr id="8" name="عنصر نائب للتذييل 7"/>
          <p:cNvSpPr>
            <a:spLocks noGrp="1"/>
          </p:cNvSpPr>
          <p:nvPr>
            <p:ph type="ftr" sz="quarter" idx="11"/>
          </p:nvPr>
        </p:nvSpPr>
        <p:spPr/>
        <p:txBody>
          <a:bodyPr/>
          <a:lstStyle/>
          <a:p>
            <a:endParaRPr lang="ar-SA"/>
          </a:p>
        </p:txBody>
      </p:sp>
      <p:sp>
        <p:nvSpPr>
          <p:cNvPr id="9" name="عنصر نائب لرقم الشريحة 8"/>
          <p:cNvSpPr>
            <a:spLocks noGrp="1"/>
          </p:cNvSpPr>
          <p:nvPr>
            <p:ph type="sldNum" sz="quarter" idx="12"/>
          </p:nvPr>
        </p:nvSpPr>
        <p:spPr/>
        <p:txBody>
          <a:bodyPr/>
          <a:lstStyle/>
          <a:p>
            <a:fld id="{0B34F065-1154-456A-91E3-76DE8E75E17B}" type="slidenum">
              <a:rPr lang="ar-SA" smtClean="0"/>
              <a:t>‹#›</a:t>
            </a:fld>
            <a:endParaRPr lang="ar-S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a:t>انقر لتحرير نمط العنوان الرئيسي</a:t>
            </a:r>
          </a:p>
        </p:txBody>
      </p:sp>
      <p:sp>
        <p:nvSpPr>
          <p:cNvPr id="3" name="عنصر نائب للتاريخ 2"/>
          <p:cNvSpPr>
            <a:spLocks noGrp="1"/>
          </p:cNvSpPr>
          <p:nvPr>
            <p:ph type="dt" sz="half" idx="10"/>
          </p:nvPr>
        </p:nvSpPr>
        <p:spPr/>
        <p:txBody>
          <a:bodyPr/>
          <a:lstStyle/>
          <a:p>
            <a:fld id="{CA70D1F2-9FE5-40AF-98C3-0F9B8B80D1E8}" type="uaqdatetime1">
              <a:rPr lang="ar-SA" smtClean="0"/>
              <a:t>22/03/1448</a:t>
            </a:fld>
            <a:endParaRPr lang="ar-SA"/>
          </a:p>
        </p:txBody>
      </p:sp>
      <p:sp>
        <p:nvSpPr>
          <p:cNvPr id="4" name="عنصر نائب للتذييل 3"/>
          <p:cNvSpPr>
            <a:spLocks noGrp="1"/>
          </p:cNvSpPr>
          <p:nvPr>
            <p:ph type="ftr" sz="quarter" idx="11"/>
          </p:nvPr>
        </p:nvSpPr>
        <p:spPr/>
        <p:txBody>
          <a:bodyPr/>
          <a:lstStyle/>
          <a:p>
            <a:endParaRPr lang="ar-SA"/>
          </a:p>
        </p:txBody>
      </p:sp>
      <p:sp>
        <p:nvSpPr>
          <p:cNvPr id="5" name="عنصر نائب لرقم الشريحة 4"/>
          <p:cNvSpPr>
            <a:spLocks noGrp="1"/>
          </p:cNvSpPr>
          <p:nvPr>
            <p:ph type="sldNum" sz="quarter" idx="12"/>
          </p:nvPr>
        </p:nvSpPr>
        <p:spPr/>
        <p:txBody>
          <a:bodyPr/>
          <a:lstStyle/>
          <a:p>
            <a:fld id="{0B34F065-1154-456A-91E3-76DE8E75E17B}" type="slidenum">
              <a:rPr lang="ar-SA" smtClean="0"/>
              <a:t>‹#›</a:t>
            </a:fld>
            <a:endParaRPr lang="ar-S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عنصر نائب للتاريخ 1"/>
          <p:cNvSpPr>
            <a:spLocks noGrp="1"/>
          </p:cNvSpPr>
          <p:nvPr>
            <p:ph type="dt" sz="half" idx="10"/>
          </p:nvPr>
        </p:nvSpPr>
        <p:spPr/>
        <p:txBody>
          <a:bodyPr/>
          <a:lstStyle/>
          <a:p>
            <a:fld id="{CB201DF7-C980-40BE-84C4-967FA06F7FE7}" type="uaqdatetime1">
              <a:rPr lang="ar-SA" smtClean="0"/>
              <a:t>22/03/1448</a:t>
            </a:fld>
            <a:endParaRPr lang="ar-SA"/>
          </a:p>
        </p:txBody>
      </p:sp>
      <p:sp>
        <p:nvSpPr>
          <p:cNvPr id="3" name="عنصر نائب للتذييل 2"/>
          <p:cNvSpPr>
            <a:spLocks noGrp="1"/>
          </p:cNvSpPr>
          <p:nvPr>
            <p:ph type="ftr" sz="quarter" idx="11"/>
          </p:nvPr>
        </p:nvSpPr>
        <p:spPr/>
        <p:txBody>
          <a:bodyPr/>
          <a:lstStyle/>
          <a:p>
            <a:endParaRPr lang="ar-SA"/>
          </a:p>
        </p:txBody>
      </p:sp>
      <p:sp>
        <p:nvSpPr>
          <p:cNvPr id="4" name="عنصر نائب لرقم الشريحة 3"/>
          <p:cNvSpPr>
            <a:spLocks noGrp="1"/>
          </p:cNvSpPr>
          <p:nvPr>
            <p:ph type="sldNum" sz="quarter" idx="12"/>
          </p:nvPr>
        </p:nvSpPr>
        <p:spPr/>
        <p:txBody>
          <a:bodyPr/>
          <a:lstStyle/>
          <a:p>
            <a:fld id="{0B34F065-1154-456A-91E3-76DE8E75E17B}" type="slidenum">
              <a:rPr lang="ar-SA" smtClean="0"/>
              <a:t>‹#›</a:t>
            </a:fld>
            <a:endParaRPr lang="ar-S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محتوى ذو تسمية توضيحية">
    <p:spTree>
      <p:nvGrpSpPr>
        <p:cNvPr id="1" name=""/>
        <p:cNvGrpSpPr/>
        <p:nvPr/>
      </p:nvGrpSpPr>
      <p:grpSpPr>
        <a:xfrm>
          <a:off x="0" y="0"/>
          <a:ext cx="0" cy="0"/>
          <a:chOff x="0" y="0"/>
          <a:chExt cx="0" cy="0"/>
        </a:xfrm>
      </p:grpSpPr>
      <p:sp>
        <p:nvSpPr>
          <p:cNvPr id="2" name="عنوان 1"/>
          <p:cNvSpPr>
            <a:spLocks noGrp="1"/>
          </p:cNvSpPr>
          <p:nvPr>
            <p:ph type="title"/>
          </p:nvPr>
        </p:nvSpPr>
        <p:spPr>
          <a:xfrm>
            <a:off x="457200" y="273050"/>
            <a:ext cx="3008313" cy="1162050"/>
          </a:xfrm>
        </p:spPr>
        <p:txBody>
          <a:bodyPr anchor="b"/>
          <a:lstStyle>
            <a:lvl1pPr algn="r">
              <a:defRPr sz="2000" b="1"/>
            </a:lvl1pPr>
          </a:lstStyle>
          <a:p>
            <a:r>
              <a:rPr lang="ar-SA"/>
              <a:t>انقر لتحرير نمط العنوان الرئيسي</a:t>
            </a:r>
          </a:p>
        </p:txBody>
      </p:sp>
      <p:sp>
        <p:nvSpPr>
          <p:cNvPr id="3" name="عنصر نائب للمحتوى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نص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a:t>انقر لتحرير أنماط النص الرئيسي</a:t>
            </a:r>
          </a:p>
        </p:txBody>
      </p:sp>
      <p:sp>
        <p:nvSpPr>
          <p:cNvPr id="5" name="عنصر نائب للتاريخ 4"/>
          <p:cNvSpPr>
            <a:spLocks noGrp="1"/>
          </p:cNvSpPr>
          <p:nvPr>
            <p:ph type="dt" sz="half" idx="10"/>
          </p:nvPr>
        </p:nvSpPr>
        <p:spPr/>
        <p:txBody>
          <a:bodyPr/>
          <a:lstStyle/>
          <a:p>
            <a:fld id="{9CA391E4-C6BD-47CD-B4B5-0034EA426AB0}" type="uaqdatetime1">
              <a:rPr lang="ar-SA" smtClean="0"/>
              <a:t>22/03/1448</a:t>
            </a:fld>
            <a:endParaRPr lang="ar-SA"/>
          </a:p>
        </p:txBody>
      </p:sp>
      <p:sp>
        <p:nvSpPr>
          <p:cNvPr id="6" name="عنصر نائب للتذييل 5"/>
          <p:cNvSpPr>
            <a:spLocks noGrp="1"/>
          </p:cNvSpPr>
          <p:nvPr>
            <p:ph type="ftr" sz="quarter" idx="11"/>
          </p:nvPr>
        </p:nvSpPr>
        <p:spPr/>
        <p:txBody>
          <a:bodyPr/>
          <a:lstStyle/>
          <a:p>
            <a:endParaRPr lang="ar-SA"/>
          </a:p>
        </p:txBody>
      </p:sp>
      <p:sp>
        <p:nvSpPr>
          <p:cNvPr id="7" name="عنصر نائب لرقم الشريحة 6"/>
          <p:cNvSpPr>
            <a:spLocks noGrp="1"/>
          </p:cNvSpPr>
          <p:nvPr>
            <p:ph type="sldNum" sz="quarter" idx="12"/>
          </p:nvPr>
        </p:nvSpPr>
        <p:spPr/>
        <p:txBody>
          <a:bodyPr/>
          <a:lstStyle/>
          <a:p>
            <a:fld id="{0B34F065-1154-456A-91E3-76DE8E75E17B}" type="slidenum">
              <a:rPr lang="ar-SA" smtClean="0"/>
              <a:t>‹#›</a:t>
            </a:fld>
            <a:endParaRPr lang="ar-S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صورة ذو تسمية توضيحية">
    <p:spTree>
      <p:nvGrpSpPr>
        <p:cNvPr id="1" name=""/>
        <p:cNvGrpSpPr/>
        <p:nvPr/>
      </p:nvGrpSpPr>
      <p:grpSpPr>
        <a:xfrm>
          <a:off x="0" y="0"/>
          <a:ext cx="0" cy="0"/>
          <a:chOff x="0" y="0"/>
          <a:chExt cx="0" cy="0"/>
        </a:xfrm>
      </p:grpSpPr>
      <p:sp>
        <p:nvSpPr>
          <p:cNvPr id="2" name="عنوان 1"/>
          <p:cNvSpPr>
            <a:spLocks noGrp="1"/>
          </p:cNvSpPr>
          <p:nvPr>
            <p:ph type="title"/>
          </p:nvPr>
        </p:nvSpPr>
        <p:spPr>
          <a:xfrm>
            <a:off x="1792288" y="4800600"/>
            <a:ext cx="5486400" cy="566738"/>
          </a:xfrm>
        </p:spPr>
        <p:txBody>
          <a:bodyPr anchor="b"/>
          <a:lstStyle>
            <a:lvl1pPr algn="r">
              <a:defRPr sz="2000" b="1"/>
            </a:lvl1pPr>
          </a:lstStyle>
          <a:p>
            <a:r>
              <a:rPr lang="ar-SA"/>
              <a:t>انقر لتحرير نمط العنوان الرئيسي</a:t>
            </a:r>
          </a:p>
        </p:txBody>
      </p:sp>
      <p:sp>
        <p:nvSpPr>
          <p:cNvPr id="3" name="عنصر نائب للصورة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ar-SA"/>
          </a:p>
        </p:txBody>
      </p:sp>
      <p:sp>
        <p:nvSpPr>
          <p:cNvPr id="4" name="عنصر نائب للنص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a:t>انقر لتحرير أنماط النص الرئيسي</a:t>
            </a:r>
          </a:p>
        </p:txBody>
      </p:sp>
      <p:sp>
        <p:nvSpPr>
          <p:cNvPr id="5" name="عنصر نائب للتاريخ 4"/>
          <p:cNvSpPr>
            <a:spLocks noGrp="1"/>
          </p:cNvSpPr>
          <p:nvPr>
            <p:ph type="dt" sz="half" idx="10"/>
          </p:nvPr>
        </p:nvSpPr>
        <p:spPr/>
        <p:txBody>
          <a:bodyPr/>
          <a:lstStyle/>
          <a:p>
            <a:fld id="{683F6283-908F-4519-B1C5-9C14FF410C9B}" type="uaqdatetime1">
              <a:rPr lang="ar-SA" smtClean="0"/>
              <a:t>22/03/1448</a:t>
            </a:fld>
            <a:endParaRPr lang="ar-SA"/>
          </a:p>
        </p:txBody>
      </p:sp>
      <p:sp>
        <p:nvSpPr>
          <p:cNvPr id="6" name="عنصر نائب للتذييل 5"/>
          <p:cNvSpPr>
            <a:spLocks noGrp="1"/>
          </p:cNvSpPr>
          <p:nvPr>
            <p:ph type="ftr" sz="quarter" idx="11"/>
          </p:nvPr>
        </p:nvSpPr>
        <p:spPr/>
        <p:txBody>
          <a:bodyPr/>
          <a:lstStyle/>
          <a:p>
            <a:endParaRPr lang="ar-SA"/>
          </a:p>
        </p:txBody>
      </p:sp>
      <p:sp>
        <p:nvSpPr>
          <p:cNvPr id="7" name="عنصر نائب لرقم الشريحة 6"/>
          <p:cNvSpPr>
            <a:spLocks noGrp="1"/>
          </p:cNvSpPr>
          <p:nvPr>
            <p:ph type="sldNum" sz="quarter" idx="12"/>
          </p:nvPr>
        </p:nvSpPr>
        <p:spPr/>
        <p:txBody>
          <a:bodyPr/>
          <a:lstStyle/>
          <a:p>
            <a:fld id="{0B34F065-1154-456A-91E3-76DE8E75E17B}" type="slidenum">
              <a:rPr lang="ar-SA" smtClean="0"/>
              <a:t>‹#›</a:t>
            </a:fld>
            <a:endParaRPr lang="ar-S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a:t>انقر لتحرير نمط العنوان الرئيسي</a:t>
            </a:r>
          </a:p>
        </p:txBody>
      </p:sp>
      <p:sp>
        <p:nvSpPr>
          <p:cNvPr id="3" name="عنصر نائب للعنوان العمودي 2"/>
          <p:cNvSpPr>
            <a:spLocks noGrp="1"/>
          </p:cNvSpPr>
          <p:nvPr>
            <p:ph type="body" orient="vert" idx="1"/>
          </p:nvPr>
        </p:nvSpPr>
        <p:spPr/>
        <p:txBody>
          <a:bodyPr vert="eaVert"/>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p:cNvSpPr>
            <a:spLocks noGrp="1"/>
          </p:cNvSpPr>
          <p:nvPr>
            <p:ph type="dt" sz="half" idx="10"/>
          </p:nvPr>
        </p:nvSpPr>
        <p:spPr/>
        <p:txBody>
          <a:bodyPr/>
          <a:lstStyle/>
          <a:p>
            <a:fld id="{8716E8F5-6D2C-44A5-9945-504EF1F80DE5}" type="uaqdatetime1">
              <a:rPr lang="ar-SA" smtClean="0"/>
              <a:t>22/03/1448</a:t>
            </a:fld>
            <a:endParaRPr lang="ar-SA"/>
          </a:p>
        </p:txBody>
      </p:sp>
      <p:sp>
        <p:nvSpPr>
          <p:cNvPr id="5" name="عنصر نائب للتذييل 4"/>
          <p:cNvSpPr>
            <a:spLocks noGrp="1"/>
          </p:cNvSpPr>
          <p:nvPr>
            <p:ph type="ftr" sz="quarter" idx="11"/>
          </p:nvPr>
        </p:nvSpPr>
        <p:spPr/>
        <p:txBody>
          <a:bodyPr/>
          <a:lstStyle/>
          <a:p>
            <a:endParaRPr lang="ar-SA"/>
          </a:p>
        </p:txBody>
      </p:sp>
      <p:sp>
        <p:nvSpPr>
          <p:cNvPr id="6" name="عنصر نائب لرقم الشريحة 5"/>
          <p:cNvSpPr>
            <a:spLocks noGrp="1"/>
          </p:cNvSpPr>
          <p:nvPr>
            <p:ph type="sldNum" sz="quarter" idx="12"/>
          </p:nvPr>
        </p:nvSpPr>
        <p:spPr/>
        <p:txBody>
          <a:bodyPr/>
          <a:lstStyle/>
          <a:p>
            <a:fld id="{0B34F065-1154-456A-91E3-76DE8E75E17B}" type="slidenum">
              <a:rPr lang="ar-SA" smtClean="0"/>
              <a:t>‹#›</a:t>
            </a:fld>
            <a:endParaRPr lang="ar-S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عنوان عمودي 1"/>
          <p:cNvSpPr>
            <a:spLocks noGrp="1"/>
          </p:cNvSpPr>
          <p:nvPr>
            <p:ph type="title" orient="vert"/>
          </p:nvPr>
        </p:nvSpPr>
        <p:spPr>
          <a:xfrm>
            <a:off x="6629400" y="274638"/>
            <a:ext cx="2057400" cy="5851525"/>
          </a:xfrm>
        </p:spPr>
        <p:txBody>
          <a:bodyPr vert="eaVert"/>
          <a:lstStyle/>
          <a:p>
            <a:r>
              <a:rPr lang="ar-SA"/>
              <a:t>انقر لتحرير نمط العنوان الرئيسي</a:t>
            </a:r>
          </a:p>
        </p:txBody>
      </p:sp>
      <p:sp>
        <p:nvSpPr>
          <p:cNvPr id="3" name="عنصر نائب للعنوان العمودي 2"/>
          <p:cNvSpPr>
            <a:spLocks noGrp="1"/>
          </p:cNvSpPr>
          <p:nvPr>
            <p:ph type="body" orient="vert" idx="1"/>
          </p:nvPr>
        </p:nvSpPr>
        <p:spPr>
          <a:xfrm>
            <a:off x="457200" y="274638"/>
            <a:ext cx="6019800" cy="5851525"/>
          </a:xfrm>
        </p:spPr>
        <p:txBody>
          <a:bodyPr vert="eaVert"/>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p:cNvSpPr>
            <a:spLocks noGrp="1"/>
          </p:cNvSpPr>
          <p:nvPr>
            <p:ph type="dt" sz="half" idx="10"/>
          </p:nvPr>
        </p:nvSpPr>
        <p:spPr/>
        <p:txBody>
          <a:bodyPr/>
          <a:lstStyle/>
          <a:p>
            <a:fld id="{4317023B-CF19-4305-B3ED-1F744C4DCBED}" type="uaqdatetime1">
              <a:rPr lang="ar-SA" smtClean="0"/>
              <a:t>22/03/1448</a:t>
            </a:fld>
            <a:endParaRPr lang="ar-SA"/>
          </a:p>
        </p:txBody>
      </p:sp>
      <p:sp>
        <p:nvSpPr>
          <p:cNvPr id="5" name="عنصر نائب للتذييل 4"/>
          <p:cNvSpPr>
            <a:spLocks noGrp="1"/>
          </p:cNvSpPr>
          <p:nvPr>
            <p:ph type="ftr" sz="quarter" idx="11"/>
          </p:nvPr>
        </p:nvSpPr>
        <p:spPr/>
        <p:txBody>
          <a:bodyPr/>
          <a:lstStyle/>
          <a:p>
            <a:endParaRPr lang="ar-SA"/>
          </a:p>
        </p:txBody>
      </p:sp>
      <p:sp>
        <p:nvSpPr>
          <p:cNvPr id="6" name="عنصر نائب لرقم الشريحة 5"/>
          <p:cNvSpPr>
            <a:spLocks noGrp="1"/>
          </p:cNvSpPr>
          <p:nvPr>
            <p:ph type="sldNum" sz="quarter" idx="12"/>
          </p:nvPr>
        </p:nvSpPr>
        <p:spPr/>
        <p:txBody>
          <a:bodyPr/>
          <a:lstStyle/>
          <a:p>
            <a:fld id="{0B34F065-1154-456A-91E3-76DE8E75E17B}" type="slidenum">
              <a:rPr lang="ar-SA" smtClean="0"/>
              <a:t>‹#›</a:t>
            </a:fld>
            <a:endParaRPr lang="ar-S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69798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2" name="عنصر نائب للعنوان 1"/>
          <p:cNvSpPr>
            <a:spLocks noGrp="1"/>
          </p:cNvSpPr>
          <p:nvPr>
            <p:ph type="title"/>
          </p:nvPr>
        </p:nvSpPr>
        <p:spPr>
          <a:xfrm>
            <a:off x="457200" y="274638"/>
            <a:ext cx="8229600" cy="1143000"/>
          </a:xfrm>
          <a:prstGeom prst="rect">
            <a:avLst/>
          </a:prstGeom>
        </p:spPr>
        <p:txBody>
          <a:bodyPr vert="horz" lIns="91440" tIns="45720" rIns="91440" bIns="45720" rtlCol="1" anchor="ctr">
            <a:normAutofit/>
          </a:bodyPr>
          <a:lstStyle/>
          <a:p>
            <a:r>
              <a:rPr lang="ar-SA"/>
              <a:t>انقر لتحرير نمط العنوان الرئيسي</a:t>
            </a:r>
          </a:p>
        </p:txBody>
      </p:sp>
      <p:sp>
        <p:nvSpPr>
          <p:cNvPr id="3" name="عنصر نائب للنص 2"/>
          <p:cNvSpPr>
            <a:spLocks noGrp="1"/>
          </p:cNvSpPr>
          <p:nvPr>
            <p:ph type="body" idx="1"/>
          </p:nvPr>
        </p:nvSpPr>
        <p:spPr>
          <a:xfrm>
            <a:off x="457200" y="1600200"/>
            <a:ext cx="8229600" cy="4525963"/>
          </a:xfrm>
          <a:prstGeom prst="rect">
            <a:avLst/>
          </a:prstGeom>
        </p:spPr>
        <p:txBody>
          <a:bodyPr vert="horz" lIns="91440" tIns="45720" rIns="91440" bIns="45720" rtlCol="1">
            <a:normAutofit/>
          </a:body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p:cNvSpPr>
            <a:spLocks noGrp="1"/>
          </p:cNvSpPr>
          <p:nvPr>
            <p:ph type="dt" sz="half" idx="2"/>
          </p:nvPr>
        </p:nvSpPr>
        <p:spPr>
          <a:xfrm>
            <a:off x="6553200" y="6356350"/>
            <a:ext cx="21336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CD3D7443-510D-45C3-AC62-4F82D083D3A0}" type="uaqdatetime1">
              <a:rPr lang="ar-SA" smtClean="0"/>
              <a:t>22/03/1448</a:t>
            </a:fld>
            <a:endParaRPr lang="ar-SA"/>
          </a:p>
        </p:txBody>
      </p:sp>
      <p:sp>
        <p:nvSpPr>
          <p:cNvPr id="5" name="عنصر نائب للتذييل 4"/>
          <p:cNvSpPr>
            <a:spLocks noGrp="1"/>
          </p:cNvSpPr>
          <p:nvPr>
            <p:ph type="ftr" sz="quarter" idx="3"/>
          </p:nvPr>
        </p:nvSpPr>
        <p:spPr>
          <a:xfrm>
            <a:off x="3124200" y="6356350"/>
            <a:ext cx="28956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ar-SA"/>
          </a:p>
        </p:txBody>
      </p:sp>
      <p:sp>
        <p:nvSpPr>
          <p:cNvPr id="6" name="عنصر نائب لرقم الشريحة 5"/>
          <p:cNvSpPr>
            <a:spLocks noGrp="1"/>
          </p:cNvSpPr>
          <p:nvPr>
            <p:ph type="sldNum" sz="quarter" idx="4"/>
          </p:nvPr>
        </p:nvSpPr>
        <p:spPr>
          <a:xfrm>
            <a:off x="457200" y="6356350"/>
            <a:ext cx="21336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0B34F065-1154-456A-91E3-76DE8E75E17B}" type="slidenum">
              <a:rPr lang="ar-SA" smtClean="0"/>
              <a:t>‹#›</a:t>
            </a:fld>
            <a:endParaRPr lang="ar-SA"/>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914400" rtl="1" eaLnBrk="1" latinLnBrk="0" hangingPunct="1">
        <a:spcBef>
          <a:spcPct val="0"/>
        </a:spcBef>
        <a:buNone/>
        <a:defRPr sz="4400" kern="1200">
          <a:solidFill>
            <a:schemeClr val="tx1"/>
          </a:solidFill>
          <a:latin typeface="+mj-lt"/>
          <a:ea typeface="+mj-ea"/>
          <a:cs typeface="+mj-cs"/>
        </a:defRPr>
      </a:lvl1pPr>
    </p:titleStyle>
    <p:body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ctrTitle"/>
          </p:nvPr>
        </p:nvSpPr>
        <p:spPr>
          <a:xfrm>
            <a:off x="4211960" y="72008"/>
            <a:ext cx="4824536" cy="2708920"/>
          </a:xfrm>
        </p:spPr>
        <p:txBody>
          <a:bodyPr>
            <a:normAutofit/>
          </a:bodyPr>
          <a:lstStyle/>
          <a:p>
            <a:r>
              <a:rPr lang="ar-SA" sz="3600" dirty="0"/>
              <a:t>نظام ذكي لتشخيص أمراض أشجار الزيتون والحمضيات وتقديم توصيات المعالجة باستخدام التعلم العميق</a:t>
            </a:r>
            <a:endParaRPr lang="ar-SY" sz="3600" dirty="0"/>
          </a:p>
        </p:txBody>
      </p:sp>
      <p:sp>
        <p:nvSpPr>
          <p:cNvPr id="3" name="عنوان فرعي 2"/>
          <p:cNvSpPr>
            <a:spLocks noGrp="1"/>
          </p:cNvSpPr>
          <p:nvPr>
            <p:ph type="subTitle" idx="1"/>
          </p:nvPr>
        </p:nvSpPr>
        <p:spPr>
          <a:xfrm>
            <a:off x="4363888" y="3933056"/>
            <a:ext cx="4528592" cy="2520280"/>
          </a:xfrm>
        </p:spPr>
        <p:txBody>
          <a:bodyPr>
            <a:normAutofit fontScale="77500" lnSpcReduction="20000"/>
          </a:bodyPr>
          <a:lstStyle/>
          <a:p>
            <a:endParaRPr lang="ar-SA" sz="2800" dirty="0">
              <a:solidFill>
                <a:schemeClr val="tx1">
                  <a:lumMod val="95000"/>
                  <a:lumOff val="5000"/>
                </a:schemeClr>
              </a:solidFill>
              <a:latin typeface="Simplified Arabic" pitchFamily="18" charset="-78"/>
              <a:cs typeface="Simplified Arabic" pitchFamily="18" charset="-78"/>
            </a:endParaRPr>
          </a:p>
          <a:p>
            <a:r>
              <a:rPr lang="ar-SY" sz="2800" dirty="0">
                <a:solidFill>
                  <a:schemeClr val="tx1">
                    <a:lumMod val="95000"/>
                    <a:lumOff val="5000"/>
                  </a:schemeClr>
                </a:solidFill>
                <a:latin typeface="Simplified Arabic" pitchFamily="18" charset="-78"/>
                <a:cs typeface="Simplified Arabic" pitchFamily="18" charset="-78"/>
              </a:rPr>
              <a:t>إعداد: محمد فائز الراس</a:t>
            </a:r>
          </a:p>
          <a:p>
            <a:r>
              <a:rPr lang="en-US" sz="2800" dirty="0">
                <a:solidFill>
                  <a:schemeClr val="tx1">
                    <a:lumMod val="95000"/>
                    <a:lumOff val="5000"/>
                  </a:schemeClr>
                </a:solidFill>
                <a:latin typeface="Simplified Arabic" pitchFamily="18" charset="-78"/>
                <a:cs typeface="+mj-cs"/>
              </a:rPr>
              <a:t>Mohamad_322262</a:t>
            </a:r>
            <a:r>
              <a:rPr lang="ar-SY" sz="2800" dirty="0">
                <a:solidFill>
                  <a:schemeClr val="tx1">
                    <a:lumMod val="95000"/>
                    <a:lumOff val="5000"/>
                  </a:schemeClr>
                </a:solidFill>
                <a:latin typeface="Simplified Arabic" pitchFamily="18" charset="-78"/>
                <a:cs typeface="+mj-cs"/>
              </a:rPr>
              <a:t> </a:t>
            </a:r>
          </a:p>
          <a:p>
            <a:endParaRPr lang="ar-SY" sz="2800" dirty="0">
              <a:solidFill>
                <a:schemeClr val="tx1">
                  <a:lumMod val="95000"/>
                  <a:lumOff val="5000"/>
                </a:schemeClr>
              </a:solidFill>
              <a:latin typeface="Simplified Arabic" pitchFamily="18" charset="-78"/>
              <a:cs typeface="+mj-cs"/>
            </a:endParaRPr>
          </a:p>
          <a:p>
            <a:r>
              <a:rPr lang="ar-SY" sz="2800" b="1" dirty="0">
                <a:solidFill>
                  <a:schemeClr val="tx1">
                    <a:lumMod val="95000"/>
                    <a:lumOff val="5000"/>
                  </a:schemeClr>
                </a:solidFill>
                <a:latin typeface="Simplified Arabic" pitchFamily="18" charset="-78"/>
                <a:cs typeface="Simplified Arabic" pitchFamily="18" charset="-78"/>
              </a:rPr>
              <a:t> إشراف: د. عصام سلمان</a:t>
            </a:r>
          </a:p>
          <a:p>
            <a:endParaRPr lang="ar-SY" sz="2800" dirty="0">
              <a:solidFill>
                <a:schemeClr val="tx1">
                  <a:lumMod val="95000"/>
                  <a:lumOff val="5000"/>
                </a:schemeClr>
              </a:solidFill>
              <a:latin typeface="Simplified Arabic" pitchFamily="18" charset="-78"/>
              <a:cs typeface="Simplified Arabic" pitchFamily="18" charset="-78"/>
            </a:endParaRPr>
          </a:p>
          <a:p>
            <a:r>
              <a:rPr lang="en-US" sz="2800" dirty="0">
                <a:solidFill>
                  <a:schemeClr val="tx1">
                    <a:lumMod val="95000"/>
                    <a:lumOff val="5000"/>
                  </a:schemeClr>
                </a:solidFill>
                <a:latin typeface="Simplified Arabic" pitchFamily="18" charset="-78"/>
                <a:cs typeface="+mj-cs"/>
              </a:rPr>
              <a:t>F25</a:t>
            </a:r>
          </a:p>
          <a:p>
            <a:endParaRPr lang="ar-SY" sz="2800" dirty="0"/>
          </a:p>
        </p:txBody>
      </p:sp>
      <p:sp>
        <p:nvSpPr>
          <p:cNvPr id="5" name="Text 1"/>
          <p:cNvSpPr/>
          <p:nvPr/>
        </p:nvSpPr>
        <p:spPr>
          <a:xfrm>
            <a:off x="4363888" y="2780928"/>
            <a:ext cx="4672608" cy="936104"/>
          </a:xfrm>
          <a:prstGeom prst="rect">
            <a:avLst/>
          </a:prstGeom>
          <a:noFill/>
          <a:ln/>
        </p:spPr>
        <p:txBody>
          <a:bodyPr wrap="none" lIns="0" tIns="0" rIns="0" bIns="0" rtlCol="0" anchor="t"/>
          <a:lstStyle/>
          <a:p>
            <a:pPr algn="ctr" rtl="1">
              <a:lnSpc>
                <a:spcPct val="133000"/>
              </a:lnSpc>
            </a:pPr>
            <a:r>
              <a:rPr lang="ar-SA" altLang="en-US" sz="2000" b="1" dirty="0">
                <a:solidFill>
                  <a:srgbClr val="000000"/>
                </a:solidFill>
                <a:latin typeface="Simplified Arabic" pitchFamily="18" charset="-78"/>
                <a:ea typeface="Mukta Light" pitchFamily="34" charset="-122"/>
                <a:cs typeface="Simplified Arabic" pitchFamily="18" charset="-78"/>
              </a:rPr>
              <a:t>ماجستير التأهيل والتخصص في علوم الحاسوب </a:t>
            </a:r>
            <a:br>
              <a:rPr lang="ar-SA" altLang="en-US" sz="2000" b="1" dirty="0">
                <a:solidFill>
                  <a:srgbClr val="000000"/>
                </a:solidFill>
                <a:latin typeface="Simplified Arabic" pitchFamily="18" charset="-78"/>
                <a:ea typeface="Mukta Light" pitchFamily="34" charset="-122"/>
                <a:cs typeface="Simplified Arabic" pitchFamily="18" charset="-78"/>
              </a:rPr>
            </a:br>
            <a:r>
              <a:rPr lang="ar-SA" altLang="en-US" sz="2000" b="1" dirty="0">
                <a:solidFill>
                  <a:srgbClr val="000000"/>
                </a:solidFill>
                <a:latin typeface="Simplified Arabic" pitchFamily="18" charset="-78"/>
                <a:ea typeface="Mukta Light" pitchFamily="34" charset="-122"/>
                <a:cs typeface="Simplified Arabic" pitchFamily="18" charset="-78"/>
              </a:rPr>
              <a:t> الجامعة الافتراضية السورية</a:t>
            </a:r>
          </a:p>
        </p:txBody>
      </p:sp>
      <p:pic>
        <p:nvPicPr>
          <p:cNvPr id="7" name="Picture 6">
            <a:extLst>
              <a:ext uri="{FF2B5EF4-FFF2-40B4-BE49-F238E27FC236}">
                <a16:creationId xmlns:a16="http://schemas.microsoft.com/office/drawing/2014/main" id="{BDDC0CA5-A1EA-439F-B087-EABB20B9CFFE}"/>
              </a:ext>
            </a:extLst>
          </p:cNvPr>
          <p:cNvPicPr>
            <a:picLocks noChangeAspect="1"/>
          </p:cNvPicPr>
          <p:nvPr/>
        </p:nvPicPr>
        <p:blipFill>
          <a:blip r:embed="rId3"/>
          <a:stretch>
            <a:fillRect/>
          </a:stretch>
        </p:blipFill>
        <p:spPr>
          <a:xfrm>
            <a:off x="0" y="1"/>
            <a:ext cx="4528592" cy="6857999"/>
          </a:xfrm>
          <a:prstGeom prst="rect">
            <a:avLst/>
          </a:prstGeom>
        </p:spPr>
      </p:pic>
      <p:sp>
        <p:nvSpPr>
          <p:cNvPr id="8" name="Slide Number Placeholder 7">
            <a:extLst>
              <a:ext uri="{FF2B5EF4-FFF2-40B4-BE49-F238E27FC236}">
                <a16:creationId xmlns:a16="http://schemas.microsoft.com/office/drawing/2014/main" id="{9E71479B-BB42-439E-8A1A-BCD4F0189CBB}"/>
              </a:ext>
            </a:extLst>
          </p:cNvPr>
          <p:cNvSpPr>
            <a:spLocks noGrp="1"/>
          </p:cNvSpPr>
          <p:nvPr>
            <p:ph type="sldNum" sz="quarter" idx="12"/>
          </p:nvPr>
        </p:nvSpPr>
        <p:spPr>
          <a:xfrm>
            <a:off x="8743456" y="6420867"/>
            <a:ext cx="280671" cy="365125"/>
          </a:xfrm>
        </p:spPr>
        <p:txBody>
          <a:bodyPr/>
          <a:lstStyle/>
          <a:p>
            <a:fld id="{0B34F065-1154-456A-91E3-76DE8E75E17B}" type="slidenum">
              <a:rPr lang="ar-SA" sz="2000" smtClean="0">
                <a:latin typeface="Simplified Arabic" panose="02020603050405020304" pitchFamily="18" charset="-78"/>
                <a:cs typeface="Simplified Arabic" panose="02020603050405020304" pitchFamily="18" charset="-78"/>
              </a:rPr>
              <a:t>1</a:t>
            </a:fld>
            <a:endParaRPr lang="ar-SA" dirty="0">
              <a:latin typeface="Simplified Arabic" panose="02020603050405020304" pitchFamily="18" charset="-78"/>
              <a:cs typeface="Simplified Arabic" panose="02020603050405020304" pitchFamily="18" charset="-78"/>
            </a:endParaRPr>
          </a:p>
        </p:txBody>
      </p:sp>
    </p:spTree>
    <p:extLst>
      <p:ext uri="{BB962C8B-B14F-4D97-AF65-F5344CB8AC3E}">
        <p14:creationId xmlns:p14="http://schemas.microsoft.com/office/powerpoint/2010/main" val="2967973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ctrTitle"/>
          </p:nvPr>
        </p:nvSpPr>
        <p:spPr>
          <a:xfrm>
            <a:off x="3434268" y="15818"/>
            <a:ext cx="2275464" cy="662786"/>
          </a:xfrm>
        </p:spPr>
        <p:txBody>
          <a:bodyPr>
            <a:normAutofit/>
          </a:bodyPr>
          <a:lstStyle/>
          <a:p>
            <a:r>
              <a:rPr lang="ar-SA" sz="3200" b="1" dirty="0">
                <a:latin typeface="Simplified Arabic" panose="02020603050405020304" pitchFamily="18" charset="-78"/>
                <a:cs typeface="Simplified Arabic" panose="02020603050405020304" pitchFamily="18" charset="-78"/>
              </a:rPr>
              <a:t>محتوى</a:t>
            </a:r>
            <a:r>
              <a:rPr lang="ar-SY" sz="3200" b="1" dirty="0">
                <a:latin typeface="Simplified Arabic" panose="02020603050405020304" pitchFamily="18" charset="-78"/>
                <a:cs typeface="Simplified Arabic" panose="02020603050405020304" pitchFamily="18" charset="-78"/>
              </a:rPr>
              <a:t> العرض</a:t>
            </a:r>
          </a:p>
        </p:txBody>
      </p:sp>
      <p:sp>
        <p:nvSpPr>
          <p:cNvPr id="11" name="TextBox 10">
            <a:extLst>
              <a:ext uri="{FF2B5EF4-FFF2-40B4-BE49-F238E27FC236}">
                <a16:creationId xmlns:a16="http://schemas.microsoft.com/office/drawing/2014/main" id="{A52EA5F2-4776-4548-A825-691CA8BDF42B}"/>
              </a:ext>
            </a:extLst>
          </p:cNvPr>
          <p:cNvSpPr txBox="1"/>
          <p:nvPr/>
        </p:nvSpPr>
        <p:spPr>
          <a:xfrm>
            <a:off x="3635896" y="387599"/>
            <a:ext cx="5364088" cy="6524863"/>
          </a:xfrm>
          <a:prstGeom prst="rect">
            <a:avLst/>
          </a:prstGeom>
          <a:noFill/>
        </p:spPr>
        <p:txBody>
          <a:bodyPr wrap="square">
            <a:spAutoFit/>
          </a:bodyPr>
          <a:lstStyle/>
          <a:p>
            <a:pPr marL="360000" indent="-360000">
              <a:buFont typeface="+mj-lt"/>
              <a:buAutoNum type="arabicPeriod"/>
            </a:pPr>
            <a:r>
              <a:rPr lang="ar-SY" sz="2200" b="1" dirty="0">
                <a:latin typeface="Simplified Arabic" panose="02020603050405020304" pitchFamily="18" charset="-78"/>
                <a:cs typeface="Simplified Arabic" panose="02020603050405020304" pitchFamily="18" charset="-78"/>
              </a:rPr>
              <a:t>فكرة المشروع</a:t>
            </a:r>
            <a:r>
              <a:rPr lang="ar-SA" sz="2200" b="1" dirty="0">
                <a:latin typeface="Simplified Arabic" panose="02020603050405020304" pitchFamily="18" charset="-78"/>
                <a:cs typeface="Simplified Arabic" panose="02020603050405020304" pitchFamily="18" charset="-78"/>
              </a:rPr>
              <a:t>.</a:t>
            </a:r>
            <a:endParaRPr lang="ar-SY" sz="2200" b="1" dirty="0">
              <a:latin typeface="Simplified Arabic" panose="02020603050405020304" pitchFamily="18" charset="-78"/>
              <a:cs typeface="Simplified Arabic" panose="02020603050405020304" pitchFamily="18" charset="-78"/>
            </a:endParaRPr>
          </a:p>
          <a:p>
            <a:pPr marL="360000" indent="-360000">
              <a:buFont typeface="+mj-lt"/>
              <a:buAutoNum type="arabicPeriod"/>
            </a:pPr>
            <a:r>
              <a:rPr lang="ar-SA" sz="2200" b="1" dirty="0">
                <a:latin typeface="Simplified Arabic" panose="02020603050405020304" pitchFamily="18" charset="-78"/>
                <a:cs typeface="Simplified Arabic" panose="02020603050405020304" pitchFamily="18" charset="-78"/>
              </a:rPr>
              <a:t>مشكلة البحث.</a:t>
            </a:r>
            <a:endParaRPr lang="ar-SY" sz="2200" b="1" dirty="0">
              <a:latin typeface="Simplified Arabic" panose="02020603050405020304" pitchFamily="18" charset="-78"/>
              <a:cs typeface="Simplified Arabic" panose="02020603050405020304" pitchFamily="18" charset="-78"/>
            </a:endParaRPr>
          </a:p>
          <a:p>
            <a:pPr marL="360000" indent="-360000">
              <a:buFont typeface="+mj-lt"/>
              <a:buAutoNum type="arabicPeriod"/>
            </a:pPr>
            <a:r>
              <a:rPr lang="ar-SY" sz="2200" b="1" dirty="0">
                <a:latin typeface="Simplified Arabic" panose="02020603050405020304" pitchFamily="18" charset="-78"/>
                <a:cs typeface="Simplified Arabic" panose="02020603050405020304" pitchFamily="18" charset="-78"/>
              </a:rPr>
              <a:t>أهداف </a:t>
            </a:r>
            <a:r>
              <a:rPr lang="ar-SA" sz="2200" b="1" dirty="0">
                <a:latin typeface="Simplified Arabic" panose="02020603050405020304" pitchFamily="18" charset="-78"/>
                <a:cs typeface="Simplified Arabic" panose="02020603050405020304" pitchFamily="18" charset="-78"/>
              </a:rPr>
              <a:t>المشروع</a:t>
            </a:r>
            <a:r>
              <a:rPr lang="ar-SY" sz="2200" b="1" dirty="0">
                <a:latin typeface="Simplified Arabic" panose="02020603050405020304" pitchFamily="18" charset="-78"/>
                <a:cs typeface="Simplified Arabic" panose="02020603050405020304" pitchFamily="18" charset="-78"/>
              </a:rPr>
              <a:t> و</a:t>
            </a:r>
            <a:r>
              <a:rPr lang="ar-SA" sz="2200" b="1" dirty="0">
                <a:latin typeface="Simplified Arabic" panose="02020603050405020304" pitchFamily="18" charset="-78"/>
                <a:cs typeface="Simplified Arabic" panose="02020603050405020304" pitchFamily="18" charset="-78"/>
              </a:rPr>
              <a:t>أهميته.</a:t>
            </a:r>
            <a:endParaRPr lang="ar-SY" sz="2200" b="1" dirty="0">
              <a:latin typeface="Simplified Arabic" panose="02020603050405020304" pitchFamily="18" charset="-78"/>
              <a:cs typeface="Simplified Arabic" panose="02020603050405020304" pitchFamily="18" charset="-78"/>
            </a:endParaRPr>
          </a:p>
          <a:p>
            <a:pPr marL="360000" indent="-360000">
              <a:buFont typeface="+mj-lt"/>
              <a:buAutoNum type="arabicPeriod"/>
            </a:pPr>
            <a:r>
              <a:rPr lang="ar-SY" sz="2200" b="1" dirty="0">
                <a:latin typeface="Simplified Arabic" panose="02020603050405020304" pitchFamily="18" charset="-78"/>
                <a:cs typeface="Simplified Arabic" panose="02020603050405020304" pitchFamily="18" charset="-78"/>
              </a:rPr>
              <a:t>المتطلبات الوظيفية</a:t>
            </a:r>
            <a:r>
              <a:rPr lang="ar-SA" sz="2200" b="1" dirty="0">
                <a:latin typeface="Simplified Arabic" panose="02020603050405020304" pitchFamily="18" charset="-78"/>
                <a:cs typeface="Simplified Arabic" panose="02020603050405020304" pitchFamily="18" charset="-78"/>
              </a:rPr>
              <a:t>.</a:t>
            </a:r>
            <a:endParaRPr lang="ar-SY" sz="2200" b="1" dirty="0">
              <a:latin typeface="Simplified Arabic" panose="02020603050405020304" pitchFamily="18" charset="-78"/>
              <a:cs typeface="Simplified Arabic" panose="02020603050405020304" pitchFamily="18" charset="-78"/>
            </a:endParaRPr>
          </a:p>
          <a:p>
            <a:pPr marL="360000" indent="-360000">
              <a:buFont typeface="+mj-lt"/>
              <a:buAutoNum type="arabicPeriod"/>
            </a:pPr>
            <a:r>
              <a:rPr lang="ar-SY" sz="2200" b="1" dirty="0">
                <a:latin typeface="Simplified Arabic" panose="02020603050405020304" pitchFamily="18" charset="-78"/>
                <a:cs typeface="Simplified Arabic" panose="02020603050405020304" pitchFamily="18" charset="-78"/>
              </a:rPr>
              <a:t>متطلبات الأداء</a:t>
            </a:r>
            <a:r>
              <a:rPr lang="ar-SA" sz="2200" b="1" dirty="0">
                <a:latin typeface="Simplified Arabic" panose="02020603050405020304" pitchFamily="18" charset="-78"/>
                <a:cs typeface="Simplified Arabic" panose="02020603050405020304" pitchFamily="18" charset="-78"/>
              </a:rPr>
              <a:t>.</a:t>
            </a:r>
            <a:endParaRPr lang="ar-SY" sz="2200" b="1" dirty="0">
              <a:latin typeface="Simplified Arabic" panose="02020603050405020304" pitchFamily="18" charset="-78"/>
              <a:cs typeface="Simplified Arabic" panose="02020603050405020304" pitchFamily="18" charset="-78"/>
            </a:endParaRPr>
          </a:p>
          <a:p>
            <a:pPr marL="360000" indent="-360000">
              <a:buFont typeface="+mj-lt"/>
              <a:buAutoNum type="arabicPeriod"/>
            </a:pPr>
            <a:r>
              <a:rPr lang="ar-SY" sz="2200" b="1" dirty="0">
                <a:latin typeface="Simplified Arabic" panose="02020603050405020304" pitchFamily="18" charset="-78"/>
                <a:cs typeface="Simplified Arabic" panose="02020603050405020304" pitchFamily="18" charset="-78"/>
              </a:rPr>
              <a:t>معمارية النظام</a:t>
            </a:r>
            <a:r>
              <a:rPr lang="ar-SA" sz="2200" b="1" dirty="0">
                <a:latin typeface="Simplified Arabic" panose="02020603050405020304" pitchFamily="18" charset="-78"/>
                <a:cs typeface="Simplified Arabic" panose="02020603050405020304" pitchFamily="18" charset="-78"/>
              </a:rPr>
              <a:t>.</a:t>
            </a:r>
          </a:p>
          <a:p>
            <a:pPr marL="360000" indent="-360000">
              <a:buFont typeface="+mj-lt"/>
              <a:buAutoNum type="arabicPeriod"/>
            </a:pPr>
            <a:r>
              <a:rPr lang="ar-SY" sz="2200" b="1" dirty="0">
                <a:latin typeface="Simplified Arabic" panose="02020603050405020304" pitchFamily="18" charset="-78"/>
                <a:cs typeface="Simplified Arabic" panose="02020603050405020304" pitchFamily="18" charset="-78"/>
              </a:rPr>
              <a:t>آلية التدفق</a:t>
            </a:r>
            <a:r>
              <a:rPr lang="ar-SA" sz="2200" b="1" dirty="0">
                <a:latin typeface="Simplified Arabic" panose="02020603050405020304" pitchFamily="18" charset="-78"/>
                <a:cs typeface="Simplified Arabic" panose="02020603050405020304" pitchFamily="18" charset="-78"/>
              </a:rPr>
              <a:t>.</a:t>
            </a:r>
          </a:p>
          <a:p>
            <a:pPr marL="360000" indent="-360000">
              <a:buFont typeface="+mj-lt"/>
              <a:buAutoNum type="arabicPeriod"/>
            </a:pPr>
            <a:r>
              <a:rPr lang="ar-SA" sz="2200" b="1" dirty="0">
                <a:latin typeface="Simplified Arabic" panose="02020603050405020304" pitchFamily="18" charset="-78"/>
                <a:cs typeface="Simplified Arabic" panose="02020603050405020304" pitchFamily="18" charset="-78"/>
              </a:rPr>
              <a:t>مخطط حالات الاستخدام.</a:t>
            </a:r>
          </a:p>
          <a:p>
            <a:pPr marL="360000" indent="-360000">
              <a:buFont typeface="+mj-lt"/>
              <a:buAutoNum type="arabicPeriod"/>
            </a:pPr>
            <a:r>
              <a:rPr lang="ar-SA" sz="2200" b="1" dirty="0"/>
              <a:t>مخطط التسلسل لأنشطة المستخدم</a:t>
            </a:r>
            <a:r>
              <a:rPr lang="ar-SA" sz="2200" b="1" dirty="0">
                <a:latin typeface="Simplified Arabic" panose="02020603050405020304" pitchFamily="18" charset="-78"/>
                <a:cs typeface="Simplified Arabic" panose="02020603050405020304" pitchFamily="18" charset="-78"/>
              </a:rPr>
              <a:t>.</a:t>
            </a:r>
          </a:p>
          <a:p>
            <a:pPr marL="360000" indent="-360000">
              <a:buFont typeface="+mj-lt"/>
              <a:buAutoNum type="arabicPeriod"/>
            </a:pPr>
            <a:r>
              <a:rPr lang="ar-SA" sz="2200" b="1" kern="100" dirty="0">
                <a:effectLst/>
                <a:ea typeface="Times New Roman" panose="02020603050405020304" pitchFamily="18" charset="0"/>
                <a:cs typeface="Simplified Arabic" panose="02020603050405020304" pitchFamily="18" charset="-78"/>
              </a:rPr>
              <a:t>مخطط الكيان والعلاقة (</a:t>
            </a:r>
            <a:r>
              <a:rPr lang="en-US" sz="2100" b="1" kern="100" dirty="0">
                <a:effectLst/>
                <a:latin typeface="Times New Roman" panose="02020603050405020304" pitchFamily="18" charset="0"/>
                <a:ea typeface="Times New Roman" panose="02020603050405020304" pitchFamily="18" charset="0"/>
              </a:rPr>
              <a:t>ERD</a:t>
            </a:r>
            <a:r>
              <a:rPr lang="ar-SA" sz="2200" b="1" kern="100" dirty="0">
                <a:effectLst/>
                <a:ea typeface="Times New Roman" panose="02020603050405020304" pitchFamily="18" charset="0"/>
                <a:cs typeface="Simplified Arabic" panose="02020603050405020304" pitchFamily="18" charset="-78"/>
              </a:rPr>
              <a:t>) لقاعدة بيانات النظام</a:t>
            </a:r>
            <a:endParaRPr lang="ar-SY" sz="2200" b="1" dirty="0">
              <a:latin typeface="Simplified Arabic" panose="02020603050405020304" pitchFamily="18" charset="-78"/>
              <a:cs typeface="Simplified Arabic" panose="02020603050405020304" pitchFamily="18" charset="-78"/>
            </a:endParaRPr>
          </a:p>
          <a:p>
            <a:pPr marL="360000" indent="-360000">
              <a:buFont typeface="+mj-lt"/>
              <a:buAutoNum type="arabicPeriod"/>
            </a:pPr>
            <a:r>
              <a:rPr lang="ar-SY" sz="2200" b="1" dirty="0">
                <a:latin typeface="Simplified Arabic" panose="02020603050405020304" pitchFamily="18" charset="-78"/>
                <a:cs typeface="Simplified Arabic" panose="02020603050405020304" pitchFamily="18" charset="-78"/>
              </a:rPr>
              <a:t>معالجة الصور الرقمية</a:t>
            </a:r>
            <a:r>
              <a:rPr lang="ar-SA" sz="2200" b="1" dirty="0">
                <a:latin typeface="Simplified Arabic" panose="02020603050405020304" pitchFamily="18" charset="-78"/>
                <a:cs typeface="Simplified Arabic" panose="02020603050405020304" pitchFamily="18" charset="-78"/>
              </a:rPr>
              <a:t> وزيادة البيانات.</a:t>
            </a:r>
            <a:endParaRPr lang="ar-SY" sz="2200" b="1" dirty="0">
              <a:latin typeface="Simplified Arabic" panose="02020603050405020304" pitchFamily="18" charset="-78"/>
              <a:cs typeface="Simplified Arabic" panose="02020603050405020304" pitchFamily="18" charset="-78"/>
            </a:endParaRPr>
          </a:p>
          <a:p>
            <a:pPr marL="360000" indent="-360000">
              <a:buFont typeface="+mj-lt"/>
              <a:buAutoNum type="arabicPeriod"/>
            </a:pPr>
            <a:r>
              <a:rPr lang="ar-SA" sz="2200" b="1" dirty="0">
                <a:latin typeface="Simplified Arabic" panose="02020603050405020304" pitchFamily="18" charset="-78"/>
                <a:cs typeface="Simplified Arabic" panose="02020603050405020304" pitchFamily="18" charset="-78"/>
              </a:rPr>
              <a:t>نموذج </a:t>
            </a:r>
            <a:r>
              <a:rPr lang="en-US" sz="2100" b="1" dirty="0">
                <a:latin typeface="Simplified Arabic" panose="02020603050405020304" pitchFamily="18" charset="-78"/>
                <a:cs typeface="Simplified Arabic" panose="02020603050405020304" pitchFamily="18" charset="-78"/>
              </a:rPr>
              <a:t>EfficientNet-B0</a:t>
            </a:r>
            <a:r>
              <a:rPr lang="ar-SA" sz="2200" b="1" dirty="0">
                <a:latin typeface="Simplified Arabic" panose="02020603050405020304" pitchFamily="18" charset="-78"/>
                <a:cs typeface="Simplified Arabic" panose="02020603050405020304" pitchFamily="18" charset="-78"/>
              </a:rPr>
              <a:t> والتدريب.</a:t>
            </a:r>
            <a:endParaRPr lang="ar-SY" sz="2200" b="1" dirty="0">
              <a:latin typeface="Simplified Arabic" panose="02020603050405020304" pitchFamily="18" charset="-78"/>
              <a:cs typeface="Simplified Arabic" panose="02020603050405020304" pitchFamily="18" charset="-78"/>
            </a:endParaRPr>
          </a:p>
          <a:p>
            <a:pPr marL="432000" indent="-432000">
              <a:buFont typeface="+mj-lt"/>
              <a:buAutoNum type="arabicPeriod"/>
            </a:pPr>
            <a:r>
              <a:rPr lang="ar-SA" sz="2200" b="1" dirty="0">
                <a:latin typeface="Simplified Arabic" panose="02020603050405020304" pitchFamily="18" charset="-78"/>
                <a:cs typeface="Simplified Arabic" panose="02020603050405020304" pitchFamily="18" charset="-78"/>
              </a:rPr>
              <a:t> </a:t>
            </a:r>
            <a:r>
              <a:rPr lang="ar-SY" sz="2200" b="1" dirty="0">
                <a:latin typeface="Simplified Arabic" panose="02020603050405020304" pitchFamily="18" charset="-78"/>
                <a:cs typeface="Simplified Arabic" panose="02020603050405020304" pitchFamily="18" charset="-78"/>
              </a:rPr>
              <a:t>تطبيق الويب الذكي </a:t>
            </a:r>
            <a:r>
              <a:rPr lang="en-US" sz="2100" b="1" dirty="0">
                <a:latin typeface="Simplified Arabic" panose="02020603050405020304" pitchFamily="18" charset="-78"/>
                <a:cs typeface="+mj-cs"/>
              </a:rPr>
              <a:t>Django</a:t>
            </a:r>
            <a:r>
              <a:rPr lang="ar-SA" sz="2200" b="1" dirty="0">
                <a:latin typeface="Simplified Arabic" panose="02020603050405020304" pitchFamily="18" charset="-78"/>
                <a:cs typeface="Simplified Arabic" panose="02020603050405020304" pitchFamily="18" charset="-78"/>
              </a:rPr>
              <a:t>.</a:t>
            </a:r>
            <a:endParaRPr lang="en-US" sz="2200" b="1" dirty="0">
              <a:latin typeface="Simplified Arabic" panose="02020603050405020304" pitchFamily="18" charset="-78"/>
              <a:cs typeface="Simplified Arabic" panose="02020603050405020304" pitchFamily="18" charset="-78"/>
            </a:endParaRPr>
          </a:p>
          <a:p>
            <a:pPr marL="396000" indent="-396000">
              <a:buFont typeface="+mj-lt"/>
              <a:buAutoNum type="arabicPeriod"/>
            </a:pPr>
            <a:r>
              <a:rPr lang="ar-SA" sz="2200" b="1" dirty="0">
                <a:latin typeface="Simplified Arabic" panose="02020603050405020304" pitchFamily="18" charset="-78"/>
                <a:cs typeface="Simplified Arabic" panose="02020603050405020304" pitchFamily="18" charset="-78"/>
              </a:rPr>
              <a:t> </a:t>
            </a:r>
            <a:r>
              <a:rPr lang="ar-SY" sz="2200" b="1" dirty="0">
                <a:latin typeface="Simplified Arabic" panose="02020603050405020304" pitchFamily="18" charset="-78"/>
                <a:cs typeface="Simplified Arabic" panose="02020603050405020304" pitchFamily="18" charset="-78"/>
              </a:rPr>
              <a:t>النتائج التجريبية</a:t>
            </a:r>
            <a:r>
              <a:rPr lang="ar-SA" sz="2200" b="1" dirty="0">
                <a:latin typeface="Simplified Arabic" panose="02020603050405020304" pitchFamily="18" charset="-78"/>
                <a:cs typeface="Simplified Arabic" panose="02020603050405020304" pitchFamily="18" charset="-78"/>
              </a:rPr>
              <a:t>.</a:t>
            </a:r>
            <a:endParaRPr lang="ar-SY" sz="2200" b="1" dirty="0">
              <a:latin typeface="Simplified Arabic" panose="02020603050405020304" pitchFamily="18" charset="-78"/>
              <a:cs typeface="Simplified Arabic" panose="02020603050405020304" pitchFamily="18" charset="-78"/>
            </a:endParaRPr>
          </a:p>
          <a:p>
            <a:pPr marL="396000" indent="-396000">
              <a:buFont typeface="+mj-lt"/>
              <a:buAutoNum type="arabicPeriod"/>
            </a:pPr>
            <a:r>
              <a:rPr lang="ar-SA" sz="2200" b="1" dirty="0">
                <a:latin typeface="Simplified Arabic" panose="02020603050405020304" pitchFamily="18" charset="-78"/>
                <a:cs typeface="Simplified Arabic" panose="02020603050405020304" pitchFamily="18" charset="-78"/>
              </a:rPr>
              <a:t>نشر النظام على منصة </a:t>
            </a:r>
            <a:r>
              <a:rPr lang="en-US" sz="2100" b="1" dirty="0">
                <a:latin typeface="Simplified Arabic" panose="02020603050405020304" pitchFamily="18" charset="-78"/>
                <a:cs typeface="Simplified Arabic" panose="02020603050405020304" pitchFamily="18" charset="-78"/>
              </a:rPr>
              <a:t>PythonAnywhere</a:t>
            </a:r>
            <a:r>
              <a:rPr lang="ar-SA" sz="2200" b="1" dirty="0">
                <a:latin typeface="Simplified Arabic" panose="02020603050405020304" pitchFamily="18" charset="-78"/>
                <a:cs typeface="Simplified Arabic" panose="02020603050405020304" pitchFamily="18" charset="-78"/>
              </a:rPr>
              <a:t> واستخدام نموذج </a:t>
            </a:r>
            <a:r>
              <a:rPr lang="en-US" sz="2100" b="1" dirty="0">
                <a:latin typeface="Simplified Arabic" panose="02020603050405020304" pitchFamily="18" charset="-78"/>
                <a:cs typeface="Simplified Arabic" panose="02020603050405020304" pitchFamily="18" charset="-78"/>
              </a:rPr>
              <a:t>ONNX</a:t>
            </a:r>
            <a:r>
              <a:rPr lang="ar-SA" sz="2200" b="1" dirty="0">
                <a:latin typeface="Simplified Arabic" panose="02020603050405020304" pitchFamily="18" charset="-78"/>
                <a:cs typeface="Simplified Arabic" panose="02020603050405020304" pitchFamily="18" charset="-78"/>
              </a:rPr>
              <a:t>.</a:t>
            </a:r>
          </a:p>
          <a:p>
            <a:pPr marL="396000" indent="-396000">
              <a:buFont typeface="+mj-lt"/>
              <a:buAutoNum type="arabicPeriod"/>
            </a:pPr>
            <a:r>
              <a:rPr lang="ar-SA" sz="2200" b="1" dirty="0">
                <a:latin typeface="Simplified Arabic" panose="02020603050405020304" pitchFamily="18" charset="-78"/>
                <a:cs typeface="Simplified Arabic" panose="02020603050405020304" pitchFamily="18" charset="-78"/>
              </a:rPr>
              <a:t> </a:t>
            </a:r>
            <a:r>
              <a:rPr lang="ar-SY" sz="2200" b="1" dirty="0">
                <a:latin typeface="Simplified Arabic" panose="02020603050405020304" pitchFamily="18" charset="-78"/>
                <a:cs typeface="Simplified Arabic" panose="02020603050405020304" pitchFamily="18" charset="-78"/>
              </a:rPr>
              <a:t>الخاتمة والآفاق المستقبلية</a:t>
            </a:r>
            <a:r>
              <a:rPr lang="ar-SA" sz="2200" b="1" dirty="0">
                <a:latin typeface="Simplified Arabic" panose="02020603050405020304" pitchFamily="18" charset="-78"/>
                <a:cs typeface="Simplified Arabic" panose="02020603050405020304" pitchFamily="18" charset="-78"/>
              </a:rPr>
              <a:t>.</a:t>
            </a:r>
          </a:p>
          <a:p>
            <a:pPr marL="396000" indent="-396000">
              <a:buFont typeface="+mj-lt"/>
              <a:buAutoNum type="arabicPeriod"/>
            </a:pPr>
            <a:r>
              <a:rPr lang="ar-SA" sz="2200" b="1" dirty="0">
                <a:latin typeface="Simplified Arabic" panose="02020603050405020304" pitchFamily="18" charset="-78"/>
                <a:cs typeface="Simplified Arabic" panose="02020603050405020304" pitchFamily="18" charset="-78"/>
              </a:rPr>
              <a:t> بعض المراجع.</a:t>
            </a:r>
            <a:endParaRPr lang="ar-SY" sz="2200" b="1" dirty="0">
              <a:latin typeface="Simplified Arabic" panose="02020603050405020304" pitchFamily="18" charset="-78"/>
              <a:cs typeface="Simplified Arabic" panose="02020603050405020304" pitchFamily="18" charset="-78"/>
            </a:endParaRPr>
          </a:p>
          <a:p>
            <a:pPr marL="396000" indent="-396000">
              <a:buFont typeface="+mj-lt"/>
              <a:buAutoNum type="arabicPeriod"/>
            </a:pPr>
            <a:r>
              <a:rPr lang="ar-SA" sz="2200" b="1" dirty="0">
                <a:latin typeface="Simplified Arabic" panose="02020603050405020304" pitchFamily="18" charset="-78"/>
                <a:cs typeface="Simplified Arabic" panose="02020603050405020304" pitchFamily="18" charset="-78"/>
              </a:rPr>
              <a:t> </a:t>
            </a:r>
            <a:r>
              <a:rPr lang="ar-SY" sz="2200" b="1" dirty="0">
                <a:latin typeface="Simplified Arabic" panose="02020603050405020304" pitchFamily="18" charset="-78"/>
                <a:cs typeface="Simplified Arabic" panose="02020603050405020304" pitchFamily="18" charset="-78"/>
              </a:rPr>
              <a:t>الشكر والتقدير</a:t>
            </a:r>
            <a:r>
              <a:rPr lang="ar-SA" sz="2200" b="1" dirty="0">
                <a:latin typeface="Simplified Arabic" panose="02020603050405020304" pitchFamily="18" charset="-78"/>
                <a:cs typeface="Simplified Arabic" panose="02020603050405020304" pitchFamily="18" charset="-78"/>
              </a:rPr>
              <a:t>.</a:t>
            </a:r>
            <a:endParaRPr lang="ar-SY" sz="2200" b="1" dirty="0">
              <a:latin typeface="Simplified Arabic" panose="02020603050405020304" pitchFamily="18" charset="-78"/>
              <a:cs typeface="Simplified Arabic" panose="02020603050405020304" pitchFamily="18" charset="-78"/>
            </a:endParaRPr>
          </a:p>
        </p:txBody>
      </p:sp>
      <p:sp>
        <p:nvSpPr>
          <p:cNvPr id="14" name="Slide Number Placeholder 13">
            <a:extLst>
              <a:ext uri="{FF2B5EF4-FFF2-40B4-BE49-F238E27FC236}">
                <a16:creationId xmlns:a16="http://schemas.microsoft.com/office/drawing/2014/main" id="{EB68247D-1DF3-45A4-98FA-902E2A6E2AE9}"/>
              </a:ext>
            </a:extLst>
          </p:cNvPr>
          <p:cNvSpPr>
            <a:spLocks noGrp="1"/>
          </p:cNvSpPr>
          <p:nvPr>
            <p:ph type="sldNum" sz="quarter" idx="12"/>
          </p:nvPr>
        </p:nvSpPr>
        <p:spPr>
          <a:xfrm>
            <a:off x="4359364" y="6179396"/>
            <a:ext cx="428660" cy="561972"/>
          </a:xfrm>
        </p:spPr>
        <p:txBody>
          <a:bodyPr/>
          <a:lstStyle/>
          <a:p>
            <a:fld id="{0B34F065-1154-456A-91E3-76DE8E75E17B}" type="slidenum">
              <a:rPr lang="ar-SA" sz="2000" b="1" smtClean="0">
                <a:latin typeface="Simplified Arabic" panose="02020603050405020304" pitchFamily="18" charset="-78"/>
                <a:cs typeface="Simplified Arabic" panose="02020603050405020304" pitchFamily="18" charset="-78"/>
              </a:rPr>
              <a:t>2</a:t>
            </a:fld>
            <a:endParaRPr lang="ar-SA" sz="1800" b="1" dirty="0">
              <a:latin typeface="Simplified Arabic" panose="02020603050405020304" pitchFamily="18" charset="-78"/>
              <a:cs typeface="Simplified Arabic" panose="02020603050405020304" pitchFamily="18" charset="-78"/>
            </a:endParaRPr>
          </a:p>
        </p:txBody>
      </p:sp>
      <p:pic>
        <p:nvPicPr>
          <p:cNvPr id="8" name="Picture 7">
            <a:extLst>
              <a:ext uri="{FF2B5EF4-FFF2-40B4-BE49-F238E27FC236}">
                <a16:creationId xmlns:a16="http://schemas.microsoft.com/office/drawing/2014/main" id="{CD75939F-0D5F-4EC0-AB77-57EC89911CFF}"/>
              </a:ext>
            </a:extLst>
          </p:cNvPr>
          <p:cNvPicPr>
            <a:picLocks noChangeAspect="1"/>
          </p:cNvPicPr>
          <p:nvPr/>
        </p:nvPicPr>
        <p:blipFill>
          <a:blip r:embed="rId3"/>
          <a:stretch>
            <a:fillRect/>
          </a:stretch>
        </p:blipFill>
        <p:spPr>
          <a:xfrm>
            <a:off x="15025" y="1196752"/>
            <a:ext cx="3836895" cy="4982644"/>
          </a:xfrm>
          <a:prstGeom prst="rect">
            <a:avLst/>
          </a:prstGeom>
        </p:spPr>
      </p:pic>
    </p:spTree>
    <p:extLst>
      <p:ext uri="{BB962C8B-B14F-4D97-AF65-F5344CB8AC3E}">
        <p14:creationId xmlns:p14="http://schemas.microsoft.com/office/powerpoint/2010/main" val="7808355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ctrTitle"/>
          </p:nvPr>
        </p:nvSpPr>
        <p:spPr>
          <a:xfrm>
            <a:off x="2777971" y="168771"/>
            <a:ext cx="3588058" cy="792088"/>
          </a:xfrm>
        </p:spPr>
        <p:txBody>
          <a:bodyPr>
            <a:normAutofit/>
          </a:bodyPr>
          <a:lstStyle/>
          <a:p>
            <a:r>
              <a:rPr lang="ar-SY" sz="3600" b="1" dirty="0">
                <a:latin typeface="Simplified Arabic" panose="02020603050405020304" pitchFamily="18" charset="-78"/>
                <a:cs typeface="Simplified Arabic" panose="02020603050405020304" pitchFamily="18" charset="-78"/>
              </a:rPr>
              <a:t>فكرة المشروع</a:t>
            </a:r>
          </a:p>
        </p:txBody>
      </p:sp>
      <p:sp>
        <p:nvSpPr>
          <p:cNvPr id="5" name="Slide Number Placeholder 4">
            <a:extLst>
              <a:ext uri="{FF2B5EF4-FFF2-40B4-BE49-F238E27FC236}">
                <a16:creationId xmlns:a16="http://schemas.microsoft.com/office/drawing/2014/main" id="{E5D30E91-9041-45CB-B85E-2F3AB3ADA3DB}"/>
              </a:ext>
            </a:extLst>
          </p:cNvPr>
          <p:cNvSpPr>
            <a:spLocks noGrp="1"/>
          </p:cNvSpPr>
          <p:nvPr>
            <p:ph type="sldNum" sz="quarter" idx="12"/>
          </p:nvPr>
        </p:nvSpPr>
        <p:spPr>
          <a:xfrm>
            <a:off x="8604448" y="6293185"/>
            <a:ext cx="334888" cy="365125"/>
          </a:xfrm>
        </p:spPr>
        <p:txBody>
          <a:bodyPr/>
          <a:lstStyle/>
          <a:p>
            <a:fld id="{0B34F065-1154-456A-91E3-76DE8E75E17B}" type="slidenum">
              <a:rPr lang="ar-SA" sz="2000" b="1" smtClean="0">
                <a:latin typeface="Simplified Arabic" panose="02020603050405020304" pitchFamily="18" charset="-78"/>
                <a:cs typeface="Simplified Arabic" panose="02020603050405020304" pitchFamily="18" charset="-78"/>
              </a:rPr>
              <a:t>3</a:t>
            </a:fld>
            <a:endParaRPr lang="ar-SA" sz="2000" b="1" dirty="0">
              <a:latin typeface="Simplified Arabic" panose="02020603050405020304" pitchFamily="18" charset="-78"/>
              <a:cs typeface="Simplified Arabic" panose="02020603050405020304" pitchFamily="18" charset="-78"/>
            </a:endParaRPr>
          </a:p>
        </p:txBody>
      </p:sp>
      <p:graphicFrame>
        <p:nvGraphicFramePr>
          <p:cNvPr id="11" name="Diagram 10">
            <a:extLst>
              <a:ext uri="{FF2B5EF4-FFF2-40B4-BE49-F238E27FC236}">
                <a16:creationId xmlns:a16="http://schemas.microsoft.com/office/drawing/2014/main" id="{598B3B72-1848-438B-8726-229D7E9E53FB}"/>
              </a:ext>
            </a:extLst>
          </p:cNvPr>
          <p:cNvGraphicFramePr/>
          <p:nvPr>
            <p:extLst>
              <p:ext uri="{D42A27DB-BD31-4B8C-83A1-F6EECF244321}">
                <p14:modId xmlns:p14="http://schemas.microsoft.com/office/powerpoint/2010/main" val="3238485038"/>
              </p:ext>
            </p:extLst>
          </p:nvPr>
        </p:nvGraphicFramePr>
        <p:xfrm>
          <a:off x="899592" y="1052736"/>
          <a:ext cx="7344816" cy="52404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200848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ctrTitle"/>
          </p:nvPr>
        </p:nvSpPr>
        <p:spPr>
          <a:xfrm>
            <a:off x="3038270" y="59252"/>
            <a:ext cx="3067460" cy="777460"/>
          </a:xfrm>
        </p:spPr>
        <p:txBody>
          <a:bodyPr>
            <a:normAutofit/>
          </a:bodyPr>
          <a:lstStyle/>
          <a:p>
            <a:pPr>
              <a:lnSpc>
                <a:spcPct val="104000"/>
              </a:lnSpc>
            </a:pPr>
            <a:r>
              <a:rPr lang="ar-SA" sz="3600" b="1" dirty="0"/>
              <a:t>مشكلة البحث</a:t>
            </a:r>
          </a:p>
        </p:txBody>
      </p:sp>
      <p:sp>
        <p:nvSpPr>
          <p:cNvPr id="5" name="Text 1"/>
          <p:cNvSpPr/>
          <p:nvPr/>
        </p:nvSpPr>
        <p:spPr>
          <a:xfrm>
            <a:off x="4139952" y="1772816"/>
            <a:ext cx="4896544" cy="1656184"/>
          </a:xfrm>
          <a:prstGeom prst="rect">
            <a:avLst/>
          </a:prstGeom>
          <a:noFill/>
          <a:ln/>
        </p:spPr>
        <p:txBody>
          <a:bodyPr wrap="none" lIns="0" tIns="0" rIns="0" bIns="0" rtlCol="0" anchor="t"/>
          <a:lstStyle/>
          <a:p>
            <a:pPr algn="r" rtl="1">
              <a:lnSpc>
                <a:spcPct val="133000"/>
              </a:lnSpc>
            </a:pPr>
            <a:endParaRPr lang="ar-SA" altLang="en-US" sz="1600" b="1" dirty="0">
              <a:solidFill>
                <a:srgbClr val="000000"/>
              </a:solidFill>
              <a:latin typeface="Simplified Arabic" pitchFamily="18" charset="-78"/>
              <a:ea typeface="Mukta Light" pitchFamily="34" charset="-122"/>
              <a:cs typeface="Simplified Arabic" pitchFamily="18" charset="-78"/>
            </a:endParaRPr>
          </a:p>
        </p:txBody>
      </p:sp>
      <p:sp>
        <p:nvSpPr>
          <p:cNvPr id="24" name="Slide Number Placeholder 23">
            <a:extLst>
              <a:ext uri="{FF2B5EF4-FFF2-40B4-BE49-F238E27FC236}">
                <a16:creationId xmlns:a16="http://schemas.microsoft.com/office/drawing/2014/main" id="{C340BAC3-D087-4B77-8D19-63FE091E4B1D}"/>
              </a:ext>
            </a:extLst>
          </p:cNvPr>
          <p:cNvSpPr>
            <a:spLocks noGrp="1"/>
          </p:cNvSpPr>
          <p:nvPr>
            <p:ph type="sldNum" sz="quarter" idx="12"/>
          </p:nvPr>
        </p:nvSpPr>
        <p:spPr>
          <a:xfrm>
            <a:off x="8512980" y="6490810"/>
            <a:ext cx="319390" cy="365125"/>
          </a:xfrm>
        </p:spPr>
        <p:txBody>
          <a:bodyPr/>
          <a:lstStyle/>
          <a:p>
            <a:fld id="{0B34F065-1154-456A-91E3-76DE8E75E17B}" type="slidenum">
              <a:rPr lang="ar-SA" sz="2000" b="1" smtClean="0">
                <a:latin typeface="Simplified Arabic" panose="02020603050405020304" pitchFamily="18" charset="-78"/>
                <a:cs typeface="Simplified Arabic" panose="02020603050405020304" pitchFamily="18" charset="-78"/>
              </a:rPr>
              <a:t>4</a:t>
            </a:fld>
            <a:endParaRPr lang="ar-SA" b="1" dirty="0">
              <a:latin typeface="Simplified Arabic" panose="02020603050405020304" pitchFamily="18" charset="-78"/>
              <a:cs typeface="Simplified Arabic" panose="02020603050405020304" pitchFamily="18" charset="-78"/>
            </a:endParaRPr>
          </a:p>
        </p:txBody>
      </p:sp>
      <p:graphicFrame>
        <p:nvGraphicFramePr>
          <p:cNvPr id="3" name="Diagram 2">
            <a:extLst>
              <a:ext uri="{FF2B5EF4-FFF2-40B4-BE49-F238E27FC236}">
                <a16:creationId xmlns:a16="http://schemas.microsoft.com/office/drawing/2014/main" id="{39DF0ACB-5005-4B4D-B9B0-C7CB554173BB}"/>
              </a:ext>
            </a:extLst>
          </p:cNvPr>
          <p:cNvGraphicFramePr/>
          <p:nvPr>
            <p:extLst>
              <p:ext uri="{D42A27DB-BD31-4B8C-83A1-F6EECF244321}">
                <p14:modId xmlns:p14="http://schemas.microsoft.com/office/powerpoint/2010/main" val="2111838661"/>
              </p:ext>
            </p:extLst>
          </p:nvPr>
        </p:nvGraphicFramePr>
        <p:xfrm>
          <a:off x="395536" y="836712"/>
          <a:ext cx="8496944" cy="56886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51014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ctrTitle"/>
          </p:nvPr>
        </p:nvSpPr>
        <p:spPr>
          <a:xfrm>
            <a:off x="2652861" y="185006"/>
            <a:ext cx="3838277" cy="749492"/>
          </a:xfrm>
        </p:spPr>
        <p:txBody>
          <a:bodyPr>
            <a:normAutofit/>
          </a:bodyPr>
          <a:lstStyle/>
          <a:p>
            <a:r>
              <a:rPr lang="ar-SA" sz="3600" b="1" dirty="0"/>
              <a:t>أهداف المشروع وأهميته</a:t>
            </a:r>
          </a:p>
        </p:txBody>
      </p:sp>
      <p:sp>
        <p:nvSpPr>
          <p:cNvPr id="9" name="Text 3"/>
          <p:cNvSpPr/>
          <p:nvPr/>
        </p:nvSpPr>
        <p:spPr>
          <a:xfrm>
            <a:off x="1619672" y="935477"/>
            <a:ext cx="1003878" cy="490341"/>
          </a:xfrm>
          <a:prstGeom prst="rect">
            <a:avLst/>
          </a:prstGeom>
          <a:noFill/>
          <a:ln/>
        </p:spPr>
        <p:txBody>
          <a:bodyPr wrap="none" lIns="0" tIns="0" rIns="0" bIns="0" rtlCol="0" anchor="t"/>
          <a:lstStyle/>
          <a:p>
            <a:pPr>
              <a:lnSpc>
                <a:spcPct val="133000"/>
              </a:lnSpc>
              <a:buSzPct val="100000"/>
            </a:pPr>
            <a:r>
              <a:rPr lang="ar-SA" altLang="en-US" sz="2800" b="1" dirty="0">
                <a:latin typeface="Simplified Arabic" pitchFamily="18" charset="-78"/>
                <a:cs typeface="Simplified Arabic" pitchFamily="18" charset="-78"/>
              </a:rPr>
              <a:t>الأهمية</a:t>
            </a:r>
            <a:endParaRPr lang="ar-SA" sz="2000" b="1" dirty="0">
              <a:latin typeface="Simplified Arabic" pitchFamily="18" charset="-78"/>
              <a:cs typeface="Simplified Arabic" pitchFamily="18" charset="-78"/>
            </a:endParaRPr>
          </a:p>
        </p:txBody>
      </p:sp>
      <p:sp>
        <p:nvSpPr>
          <p:cNvPr id="10" name="Text 1"/>
          <p:cNvSpPr/>
          <p:nvPr/>
        </p:nvSpPr>
        <p:spPr>
          <a:xfrm>
            <a:off x="5652120" y="1050606"/>
            <a:ext cx="2252243" cy="490341"/>
          </a:xfrm>
          <a:prstGeom prst="rect">
            <a:avLst/>
          </a:prstGeom>
          <a:noFill/>
          <a:ln/>
        </p:spPr>
        <p:txBody>
          <a:bodyPr wrap="none" lIns="0" tIns="0" rIns="0" bIns="0" rtlCol="0" anchor="t"/>
          <a:lstStyle/>
          <a:p>
            <a:pPr marL="0" indent="0" algn="r" rtl="1">
              <a:lnSpc>
                <a:spcPct val="104000"/>
              </a:lnSpc>
              <a:buNone/>
            </a:pPr>
            <a:r>
              <a:rPr lang="ar-SA" altLang="en-US" sz="2800" b="1" dirty="0">
                <a:solidFill>
                  <a:srgbClr val="000000"/>
                </a:solidFill>
                <a:latin typeface="Simplified Arabic" pitchFamily="18" charset="-78"/>
                <a:ea typeface="Prompt Medium" pitchFamily="34" charset="-122"/>
                <a:cs typeface="Simplified Arabic" pitchFamily="18" charset="-78"/>
              </a:rPr>
              <a:t>الأهداف الرئيسية</a:t>
            </a:r>
            <a:endParaRPr lang="ar-SA" sz="2800" b="1" dirty="0">
              <a:latin typeface="Simplified Arabic" pitchFamily="18" charset="-78"/>
              <a:cs typeface="Simplified Arabic" pitchFamily="18" charset="-78"/>
            </a:endParaRPr>
          </a:p>
        </p:txBody>
      </p:sp>
      <p:sp>
        <p:nvSpPr>
          <p:cNvPr id="5" name="Slide Number Placeholder 4">
            <a:extLst>
              <a:ext uri="{FF2B5EF4-FFF2-40B4-BE49-F238E27FC236}">
                <a16:creationId xmlns:a16="http://schemas.microsoft.com/office/drawing/2014/main" id="{641088B2-81DF-4A19-9F78-9E343F4215AD}"/>
              </a:ext>
            </a:extLst>
          </p:cNvPr>
          <p:cNvSpPr>
            <a:spLocks noGrp="1"/>
          </p:cNvSpPr>
          <p:nvPr>
            <p:ph type="sldNum" sz="quarter" idx="12"/>
          </p:nvPr>
        </p:nvSpPr>
        <p:spPr>
          <a:xfrm>
            <a:off x="8412956" y="6434644"/>
            <a:ext cx="432048" cy="365125"/>
          </a:xfrm>
        </p:spPr>
        <p:txBody>
          <a:bodyPr/>
          <a:lstStyle/>
          <a:p>
            <a:fld id="{0B34F065-1154-456A-91E3-76DE8E75E17B}" type="slidenum">
              <a:rPr lang="ar-SA" sz="2000" b="1" smtClean="0">
                <a:latin typeface="Simplified Arabic" panose="02020603050405020304" pitchFamily="18" charset="-78"/>
                <a:cs typeface="Simplified Arabic" panose="02020603050405020304" pitchFamily="18" charset="-78"/>
              </a:rPr>
              <a:t>5</a:t>
            </a:fld>
            <a:endParaRPr lang="ar-SA" sz="2400" b="1" dirty="0">
              <a:latin typeface="Simplified Arabic" panose="02020603050405020304" pitchFamily="18" charset="-78"/>
              <a:cs typeface="Simplified Arabic" panose="02020603050405020304" pitchFamily="18" charset="-78"/>
            </a:endParaRPr>
          </a:p>
        </p:txBody>
      </p:sp>
      <p:graphicFrame>
        <p:nvGraphicFramePr>
          <p:cNvPr id="4" name="Diagram 3">
            <a:extLst>
              <a:ext uri="{FF2B5EF4-FFF2-40B4-BE49-F238E27FC236}">
                <a16:creationId xmlns:a16="http://schemas.microsoft.com/office/drawing/2014/main" id="{C448AD8D-DA51-4711-8B49-53F2D44CE096}"/>
              </a:ext>
            </a:extLst>
          </p:cNvPr>
          <p:cNvGraphicFramePr/>
          <p:nvPr>
            <p:extLst>
              <p:ext uri="{D42A27DB-BD31-4B8C-83A1-F6EECF244321}">
                <p14:modId xmlns:p14="http://schemas.microsoft.com/office/powerpoint/2010/main" val="3886390973"/>
              </p:ext>
            </p:extLst>
          </p:nvPr>
        </p:nvGraphicFramePr>
        <p:xfrm>
          <a:off x="4538362" y="1811363"/>
          <a:ext cx="4471921" cy="46318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24" name="Group 23">
            <a:extLst>
              <a:ext uri="{FF2B5EF4-FFF2-40B4-BE49-F238E27FC236}">
                <a16:creationId xmlns:a16="http://schemas.microsoft.com/office/drawing/2014/main" id="{D8B0670F-67AB-470B-9DC8-29DA793CBED2}"/>
              </a:ext>
            </a:extLst>
          </p:cNvPr>
          <p:cNvGrpSpPr/>
          <p:nvPr/>
        </p:nvGrpSpPr>
        <p:grpSpPr>
          <a:xfrm>
            <a:off x="133716" y="1655219"/>
            <a:ext cx="4014855" cy="5017775"/>
            <a:chOff x="46314" y="1655219"/>
            <a:chExt cx="4102258" cy="5202781"/>
          </a:xfrm>
        </p:grpSpPr>
        <p:sp>
          <p:nvSpPr>
            <p:cNvPr id="16" name="Rectangle 15">
              <a:extLst>
                <a:ext uri="{FF2B5EF4-FFF2-40B4-BE49-F238E27FC236}">
                  <a16:creationId xmlns:a16="http://schemas.microsoft.com/office/drawing/2014/main" id="{7F868131-8D74-4C6E-8FDD-6F1DECDCEED9}"/>
                </a:ext>
              </a:extLst>
            </p:cNvPr>
            <p:cNvSpPr/>
            <p:nvPr/>
          </p:nvSpPr>
          <p:spPr>
            <a:xfrm>
              <a:off x="53240" y="2085294"/>
              <a:ext cx="4082569" cy="644649"/>
            </a:xfrm>
            <a:prstGeom prst="rect">
              <a:avLst/>
            </a:prstGeom>
            <a:ln>
              <a:solidFill>
                <a:schemeClr val="accent3">
                  <a:lumMod val="50000"/>
                </a:schemeClr>
              </a:solidFill>
            </a:ln>
          </p:spPr>
          <p:style>
            <a:lnRef idx="2">
              <a:scrgbClr r="0" g="0" b="0"/>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17" name="Freeform: Shape 16">
              <a:extLst>
                <a:ext uri="{FF2B5EF4-FFF2-40B4-BE49-F238E27FC236}">
                  <a16:creationId xmlns:a16="http://schemas.microsoft.com/office/drawing/2014/main" id="{EF9AA5A6-254E-446C-8A80-12E171A8B820}"/>
                </a:ext>
              </a:extLst>
            </p:cNvPr>
            <p:cNvSpPr/>
            <p:nvPr/>
          </p:nvSpPr>
          <p:spPr>
            <a:xfrm>
              <a:off x="304612" y="1655219"/>
              <a:ext cx="3838277" cy="879659"/>
            </a:xfrm>
            <a:custGeom>
              <a:avLst/>
              <a:gdLst>
                <a:gd name="connsiteX0" fmla="*/ 0 w 3765720"/>
                <a:gd name="connsiteY0" fmla="*/ 172473 h 1034815"/>
                <a:gd name="connsiteX1" fmla="*/ 172473 w 3765720"/>
                <a:gd name="connsiteY1" fmla="*/ 0 h 1034815"/>
                <a:gd name="connsiteX2" fmla="*/ 3593247 w 3765720"/>
                <a:gd name="connsiteY2" fmla="*/ 0 h 1034815"/>
                <a:gd name="connsiteX3" fmla="*/ 3765720 w 3765720"/>
                <a:gd name="connsiteY3" fmla="*/ 172473 h 1034815"/>
                <a:gd name="connsiteX4" fmla="*/ 3765720 w 3765720"/>
                <a:gd name="connsiteY4" fmla="*/ 862342 h 1034815"/>
                <a:gd name="connsiteX5" fmla="*/ 3593247 w 3765720"/>
                <a:gd name="connsiteY5" fmla="*/ 1034815 h 1034815"/>
                <a:gd name="connsiteX6" fmla="*/ 172473 w 3765720"/>
                <a:gd name="connsiteY6" fmla="*/ 1034815 h 1034815"/>
                <a:gd name="connsiteX7" fmla="*/ 0 w 3765720"/>
                <a:gd name="connsiteY7" fmla="*/ 862342 h 1034815"/>
                <a:gd name="connsiteX8" fmla="*/ 0 w 3765720"/>
                <a:gd name="connsiteY8" fmla="*/ 172473 h 1034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65720" h="1034815">
                  <a:moveTo>
                    <a:pt x="0" y="172473"/>
                  </a:moveTo>
                  <a:cubicBezTo>
                    <a:pt x="0" y="77219"/>
                    <a:pt x="77219" y="0"/>
                    <a:pt x="172473" y="0"/>
                  </a:cubicBezTo>
                  <a:lnTo>
                    <a:pt x="3593247" y="0"/>
                  </a:lnTo>
                  <a:cubicBezTo>
                    <a:pt x="3688501" y="0"/>
                    <a:pt x="3765720" y="77219"/>
                    <a:pt x="3765720" y="172473"/>
                  </a:cubicBezTo>
                  <a:lnTo>
                    <a:pt x="3765720" y="862342"/>
                  </a:lnTo>
                  <a:cubicBezTo>
                    <a:pt x="3765720" y="957596"/>
                    <a:pt x="3688501" y="1034815"/>
                    <a:pt x="3593247" y="1034815"/>
                  </a:cubicBezTo>
                  <a:lnTo>
                    <a:pt x="172473" y="1034815"/>
                  </a:lnTo>
                  <a:cubicBezTo>
                    <a:pt x="77219" y="1034815"/>
                    <a:pt x="0" y="957596"/>
                    <a:pt x="0" y="862342"/>
                  </a:cubicBezTo>
                  <a:lnTo>
                    <a:pt x="0" y="172473"/>
                  </a:lnTo>
                  <a:close/>
                </a:path>
              </a:pathLst>
            </a:custGeom>
            <a:solidFill>
              <a:schemeClr val="accent3">
                <a:lumMod val="60000"/>
                <a:lumOff val="40000"/>
              </a:schemeClr>
            </a:solidFill>
            <a:ln>
              <a:solidFill>
                <a:schemeClr val="accent3">
                  <a:lumMod val="50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58534" tIns="50516" rIns="158534" bIns="50516" numCol="1" spcCol="1270" anchor="ctr" anchorCtr="0">
              <a:noAutofit/>
            </a:bodyPr>
            <a:lstStyle/>
            <a:p>
              <a:pPr marL="0" lvl="0" indent="0" algn="r" defTabSz="889000" rtl="1">
                <a:lnSpc>
                  <a:spcPct val="90000"/>
                </a:lnSpc>
                <a:spcBef>
                  <a:spcPct val="0"/>
                </a:spcBef>
                <a:spcAft>
                  <a:spcPct val="35000"/>
                </a:spcAft>
                <a:buSzPct val="100000"/>
                <a:buNone/>
              </a:pPr>
              <a:r>
                <a:rPr lang="ar-SA" sz="2400" b="1" kern="1200" dirty="0">
                  <a:solidFill>
                    <a:schemeClr val="bg2">
                      <a:lumMod val="10000"/>
                    </a:schemeClr>
                  </a:solidFill>
                  <a:latin typeface="Simplified Arabic" pitchFamily="18" charset="-78"/>
                  <a:cs typeface="Simplified Arabic" pitchFamily="18" charset="-78"/>
                </a:rPr>
                <a:t>اقتصادياً: </a:t>
              </a:r>
              <a:r>
                <a:rPr lang="ar-SA" sz="2000" kern="1200" dirty="0">
                  <a:solidFill>
                    <a:schemeClr val="bg2">
                      <a:lumMod val="10000"/>
                    </a:schemeClr>
                  </a:solidFill>
                  <a:latin typeface="Simplified Arabic" pitchFamily="18" charset="-78"/>
                  <a:cs typeface="Simplified Arabic" pitchFamily="18" charset="-78"/>
                </a:rPr>
                <a:t>الكشف المبكر يُقلل تكاليف المكافحة ويُحسّن الإنتاجية.</a:t>
              </a:r>
              <a:endParaRPr lang="ar-SY" sz="2000" kern="1200" dirty="0">
                <a:solidFill>
                  <a:schemeClr val="bg2">
                    <a:lumMod val="10000"/>
                  </a:schemeClr>
                </a:solidFill>
              </a:endParaRPr>
            </a:p>
          </p:txBody>
        </p:sp>
        <p:sp>
          <p:nvSpPr>
            <p:cNvPr id="18" name="Rectangle 17">
              <a:extLst>
                <a:ext uri="{FF2B5EF4-FFF2-40B4-BE49-F238E27FC236}">
                  <a16:creationId xmlns:a16="http://schemas.microsoft.com/office/drawing/2014/main" id="{ABC76121-5E62-4351-A0EB-129475A33C56}"/>
                </a:ext>
              </a:extLst>
            </p:cNvPr>
            <p:cNvSpPr/>
            <p:nvPr/>
          </p:nvSpPr>
          <p:spPr>
            <a:xfrm>
              <a:off x="66003" y="3202812"/>
              <a:ext cx="4082569" cy="812251"/>
            </a:xfrm>
            <a:prstGeom prst="rect">
              <a:avLst/>
            </a:prstGeom>
            <a:ln>
              <a:solidFill>
                <a:schemeClr val="accent3">
                  <a:lumMod val="50000"/>
                </a:schemeClr>
              </a:solidFill>
            </a:ln>
          </p:spPr>
          <p:style>
            <a:lnRef idx="2">
              <a:scrgbClr r="0" g="0" b="0"/>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19" name="Freeform: Shape 18">
              <a:extLst>
                <a:ext uri="{FF2B5EF4-FFF2-40B4-BE49-F238E27FC236}">
                  <a16:creationId xmlns:a16="http://schemas.microsoft.com/office/drawing/2014/main" id="{B8C7E0FE-CBF7-41AE-AF63-784239CD701D}"/>
                </a:ext>
              </a:extLst>
            </p:cNvPr>
            <p:cNvSpPr/>
            <p:nvPr/>
          </p:nvSpPr>
          <p:spPr>
            <a:xfrm>
              <a:off x="307550" y="2912042"/>
              <a:ext cx="3838277" cy="924825"/>
            </a:xfrm>
            <a:custGeom>
              <a:avLst/>
              <a:gdLst>
                <a:gd name="connsiteX0" fmla="*/ 0 w 3728969"/>
                <a:gd name="connsiteY0" fmla="*/ 176048 h 1056265"/>
                <a:gd name="connsiteX1" fmla="*/ 176048 w 3728969"/>
                <a:gd name="connsiteY1" fmla="*/ 0 h 1056265"/>
                <a:gd name="connsiteX2" fmla="*/ 3552921 w 3728969"/>
                <a:gd name="connsiteY2" fmla="*/ 0 h 1056265"/>
                <a:gd name="connsiteX3" fmla="*/ 3728969 w 3728969"/>
                <a:gd name="connsiteY3" fmla="*/ 176048 h 1056265"/>
                <a:gd name="connsiteX4" fmla="*/ 3728969 w 3728969"/>
                <a:gd name="connsiteY4" fmla="*/ 880217 h 1056265"/>
                <a:gd name="connsiteX5" fmla="*/ 3552921 w 3728969"/>
                <a:gd name="connsiteY5" fmla="*/ 1056265 h 1056265"/>
                <a:gd name="connsiteX6" fmla="*/ 176048 w 3728969"/>
                <a:gd name="connsiteY6" fmla="*/ 1056265 h 1056265"/>
                <a:gd name="connsiteX7" fmla="*/ 0 w 3728969"/>
                <a:gd name="connsiteY7" fmla="*/ 880217 h 1056265"/>
                <a:gd name="connsiteX8" fmla="*/ 0 w 3728969"/>
                <a:gd name="connsiteY8" fmla="*/ 176048 h 105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28969" h="1056265">
                  <a:moveTo>
                    <a:pt x="0" y="176048"/>
                  </a:moveTo>
                  <a:cubicBezTo>
                    <a:pt x="0" y="78819"/>
                    <a:pt x="78819" y="0"/>
                    <a:pt x="176048" y="0"/>
                  </a:cubicBezTo>
                  <a:lnTo>
                    <a:pt x="3552921" y="0"/>
                  </a:lnTo>
                  <a:cubicBezTo>
                    <a:pt x="3650150" y="0"/>
                    <a:pt x="3728969" y="78819"/>
                    <a:pt x="3728969" y="176048"/>
                  </a:cubicBezTo>
                  <a:lnTo>
                    <a:pt x="3728969" y="880217"/>
                  </a:lnTo>
                  <a:cubicBezTo>
                    <a:pt x="3728969" y="977446"/>
                    <a:pt x="3650150" y="1056265"/>
                    <a:pt x="3552921" y="1056265"/>
                  </a:cubicBezTo>
                  <a:lnTo>
                    <a:pt x="176048" y="1056265"/>
                  </a:lnTo>
                  <a:cubicBezTo>
                    <a:pt x="78819" y="1056265"/>
                    <a:pt x="0" y="977446"/>
                    <a:pt x="0" y="880217"/>
                  </a:cubicBezTo>
                  <a:lnTo>
                    <a:pt x="0" y="176048"/>
                  </a:lnTo>
                  <a:close/>
                </a:path>
              </a:pathLst>
            </a:custGeom>
            <a:solidFill>
              <a:schemeClr val="accent3">
                <a:lumMod val="60000"/>
                <a:lumOff val="40000"/>
              </a:schemeClr>
            </a:solidFill>
            <a:ln>
              <a:solidFill>
                <a:schemeClr val="accent3">
                  <a:lumMod val="50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59581" tIns="51563" rIns="159581" bIns="51563" numCol="1" spcCol="1270" anchor="ctr" anchorCtr="0">
              <a:noAutofit/>
            </a:bodyPr>
            <a:lstStyle/>
            <a:p>
              <a:pPr marL="0" lvl="0" indent="0" algn="r" defTabSz="889000" rtl="1">
                <a:lnSpc>
                  <a:spcPct val="90000"/>
                </a:lnSpc>
                <a:spcBef>
                  <a:spcPct val="0"/>
                </a:spcBef>
                <a:spcAft>
                  <a:spcPct val="35000"/>
                </a:spcAft>
                <a:buSzPct val="100000"/>
                <a:buNone/>
              </a:pPr>
              <a:r>
                <a:rPr lang="ar-SA" sz="2400" b="1" kern="1200" dirty="0">
                  <a:solidFill>
                    <a:schemeClr val="bg2">
                      <a:lumMod val="10000"/>
                    </a:schemeClr>
                  </a:solidFill>
                  <a:latin typeface="Simplified Arabic" pitchFamily="18" charset="-78"/>
                  <a:cs typeface="Simplified Arabic" pitchFamily="18" charset="-78"/>
                </a:rPr>
                <a:t>زراعياً:</a:t>
              </a:r>
              <a:r>
                <a:rPr lang="ar-SA" sz="2000" kern="1200" dirty="0">
                  <a:solidFill>
                    <a:schemeClr val="bg2">
                      <a:lumMod val="10000"/>
                    </a:schemeClr>
                  </a:solidFill>
                  <a:latin typeface="Simplified Arabic" pitchFamily="18" charset="-78"/>
                  <a:cs typeface="Simplified Arabic" pitchFamily="18" charset="-78"/>
                </a:rPr>
                <a:t> دعم المزارعين وتشخيص سريع يحدّ من انتشار الأمراض.</a:t>
              </a:r>
              <a:endParaRPr lang="ar-SY" sz="2000" kern="1200" dirty="0">
                <a:solidFill>
                  <a:schemeClr val="bg2">
                    <a:lumMod val="10000"/>
                  </a:schemeClr>
                </a:solidFill>
                <a:latin typeface="Simplified Arabic" pitchFamily="18" charset="-78"/>
                <a:ea typeface="Mukta Light" pitchFamily="34" charset="-122"/>
                <a:cs typeface="Simplified Arabic" pitchFamily="18" charset="-78"/>
              </a:endParaRPr>
            </a:p>
          </p:txBody>
        </p:sp>
        <p:sp>
          <p:nvSpPr>
            <p:cNvPr id="20" name="Rectangle 19">
              <a:extLst>
                <a:ext uri="{FF2B5EF4-FFF2-40B4-BE49-F238E27FC236}">
                  <a16:creationId xmlns:a16="http://schemas.microsoft.com/office/drawing/2014/main" id="{53739B4B-68E6-434D-A720-8CC2FF317954}"/>
                </a:ext>
              </a:extLst>
            </p:cNvPr>
            <p:cNvSpPr/>
            <p:nvPr/>
          </p:nvSpPr>
          <p:spPr>
            <a:xfrm>
              <a:off x="46314" y="4682997"/>
              <a:ext cx="4082569" cy="644649"/>
            </a:xfrm>
            <a:prstGeom prst="rect">
              <a:avLst/>
            </a:prstGeom>
            <a:ln>
              <a:solidFill>
                <a:schemeClr val="accent3">
                  <a:lumMod val="50000"/>
                </a:schemeClr>
              </a:solidFill>
            </a:ln>
          </p:spPr>
          <p:style>
            <a:lnRef idx="2">
              <a:scrgbClr r="0" g="0" b="0"/>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21" name="Freeform: Shape 20">
              <a:extLst>
                <a:ext uri="{FF2B5EF4-FFF2-40B4-BE49-F238E27FC236}">
                  <a16:creationId xmlns:a16="http://schemas.microsoft.com/office/drawing/2014/main" id="{873BD96E-0078-44AA-86F4-98C180AD3056}"/>
                </a:ext>
              </a:extLst>
            </p:cNvPr>
            <p:cNvSpPr/>
            <p:nvPr/>
          </p:nvSpPr>
          <p:spPr>
            <a:xfrm>
              <a:off x="251520" y="4225805"/>
              <a:ext cx="3877363" cy="930785"/>
            </a:xfrm>
            <a:custGeom>
              <a:avLst/>
              <a:gdLst>
                <a:gd name="connsiteX0" fmla="*/ 0 w 3765692"/>
                <a:gd name="connsiteY0" fmla="*/ 160584 h 963487"/>
                <a:gd name="connsiteX1" fmla="*/ 160584 w 3765692"/>
                <a:gd name="connsiteY1" fmla="*/ 0 h 963487"/>
                <a:gd name="connsiteX2" fmla="*/ 3605108 w 3765692"/>
                <a:gd name="connsiteY2" fmla="*/ 0 h 963487"/>
                <a:gd name="connsiteX3" fmla="*/ 3765692 w 3765692"/>
                <a:gd name="connsiteY3" fmla="*/ 160584 h 963487"/>
                <a:gd name="connsiteX4" fmla="*/ 3765692 w 3765692"/>
                <a:gd name="connsiteY4" fmla="*/ 802903 h 963487"/>
                <a:gd name="connsiteX5" fmla="*/ 3605108 w 3765692"/>
                <a:gd name="connsiteY5" fmla="*/ 963487 h 963487"/>
                <a:gd name="connsiteX6" fmla="*/ 160584 w 3765692"/>
                <a:gd name="connsiteY6" fmla="*/ 963487 h 963487"/>
                <a:gd name="connsiteX7" fmla="*/ 0 w 3765692"/>
                <a:gd name="connsiteY7" fmla="*/ 802903 h 963487"/>
                <a:gd name="connsiteX8" fmla="*/ 0 w 3765692"/>
                <a:gd name="connsiteY8" fmla="*/ 160584 h 963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65692" h="963487">
                  <a:moveTo>
                    <a:pt x="0" y="160584"/>
                  </a:moveTo>
                  <a:cubicBezTo>
                    <a:pt x="0" y="71896"/>
                    <a:pt x="71896" y="0"/>
                    <a:pt x="160584" y="0"/>
                  </a:cubicBezTo>
                  <a:lnTo>
                    <a:pt x="3605108" y="0"/>
                  </a:lnTo>
                  <a:cubicBezTo>
                    <a:pt x="3693796" y="0"/>
                    <a:pt x="3765692" y="71896"/>
                    <a:pt x="3765692" y="160584"/>
                  </a:cubicBezTo>
                  <a:lnTo>
                    <a:pt x="3765692" y="802903"/>
                  </a:lnTo>
                  <a:cubicBezTo>
                    <a:pt x="3765692" y="891591"/>
                    <a:pt x="3693796" y="963487"/>
                    <a:pt x="3605108" y="963487"/>
                  </a:cubicBezTo>
                  <a:lnTo>
                    <a:pt x="160584" y="963487"/>
                  </a:lnTo>
                  <a:cubicBezTo>
                    <a:pt x="71896" y="963487"/>
                    <a:pt x="0" y="891591"/>
                    <a:pt x="0" y="802903"/>
                  </a:cubicBezTo>
                  <a:lnTo>
                    <a:pt x="0" y="160584"/>
                  </a:lnTo>
                  <a:close/>
                </a:path>
              </a:pathLst>
            </a:custGeom>
            <a:solidFill>
              <a:schemeClr val="accent3">
                <a:lumMod val="60000"/>
                <a:lumOff val="40000"/>
              </a:schemeClr>
            </a:solidFill>
            <a:ln>
              <a:solidFill>
                <a:schemeClr val="accent3">
                  <a:lumMod val="50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55052" tIns="47034" rIns="155052" bIns="47034" numCol="1" spcCol="1270" anchor="ctr" anchorCtr="0">
              <a:noAutofit/>
            </a:bodyPr>
            <a:lstStyle/>
            <a:p>
              <a:pPr marL="0" lvl="0" indent="0" algn="r" defTabSz="889000" rtl="1">
                <a:lnSpc>
                  <a:spcPct val="90000"/>
                </a:lnSpc>
                <a:spcBef>
                  <a:spcPct val="0"/>
                </a:spcBef>
                <a:spcAft>
                  <a:spcPct val="35000"/>
                </a:spcAft>
                <a:buSzPct val="100000"/>
                <a:buNone/>
              </a:pPr>
              <a:r>
                <a:rPr lang="ar-SA" sz="2400" b="1" kern="1200" dirty="0">
                  <a:solidFill>
                    <a:srgbClr val="EEECE1">
                      <a:lumMod val="10000"/>
                    </a:srgbClr>
                  </a:solidFill>
                  <a:latin typeface="Simplified Arabic" pitchFamily="18" charset="-78"/>
                  <a:ea typeface="+mn-ea"/>
                  <a:cs typeface="Simplified Arabic" pitchFamily="18" charset="-78"/>
                </a:rPr>
                <a:t>علمياً: </a:t>
              </a:r>
              <a:r>
                <a:rPr lang="ar-SA" sz="2000" kern="1200" dirty="0">
                  <a:solidFill>
                    <a:srgbClr val="EEECE1">
                      <a:lumMod val="10000"/>
                    </a:srgbClr>
                  </a:solidFill>
                  <a:latin typeface="Simplified Arabic" pitchFamily="18" charset="-78"/>
                  <a:ea typeface="+mn-ea"/>
                  <a:cs typeface="Simplified Arabic" pitchFamily="18" charset="-78"/>
                </a:rPr>
                <a:t>تطبيق عملي للرؤية الحاسوبية في تصنيف الأمراض المتشابهة.</a:t>
              </a:r>
              <a:endParaRPr lang="ar-SY" sz="2000" kern="1200" dirty="0">
                <a:solidFill>
                  <a:srgbClr val="EEECE1">
                    <a:lumMod val="10000"/>
                  </a:srgbClr>
                </a:solidFill>
                <a:latin typeface="Simplified Arabic" pitchFamily="18" charset="-78"/>
                <a:ea typeface="+mn-ea"/>
                <a:cs typeface="Simplified Arabic" pitchFamily="18" charset="-78"/>
              </a:endParaRPr>
            </a:p>
          </p:txBody>
        </p:sp>
        <p:sp>
          <p:nvSpPr>
            <p:cNvPr id="22" name="Rectangle 21">
              <a:extLst>
                <a:ext uri="{FF2B5EF4-FFF2-40B4-BE49-F238E27FC236}">
                  <a16:creationId xmlns:a16="http://schemas.microsoft.com/office/drawing/2014/main" id="{055051F6-A87F-449B-B094-3C5D17C5DFC2}"/>
                </a:ext>
              </a:extLst>
            </p:cNvPr>
            <p:cNvSpPr/>
            <p:nvPr/>
          </p:nvSpPr>
          <p:spPr>
            <a:xfrm>
              <a:off x="53240" y="6074952"/>
              <a:ext cx="4082569" cy="783048"/>
            </a:xfrm>
            <a:prstGeom prst="rect">
              <a:avLst/>
            </a:prstGeom>
            <a:ln>
              <a:solidFill>
                <a:schemeClr val="accent3">
                  <a:lumMod val="50000"/>
                </a:schemeClr>
              </a:solidFill>
            </a:ln>
          </p:spPr>
          <p:style>
            <a:lnRef idx="2">
              <a:scrgbClr r="0" g="0" b="0"/>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23" name="Freeform: Shape 22">
              <a:extLst>
                <a:ext uri="{FF2B5EF4-FFF2-40B4-BE49-F238E27FC236}">
                  <a16:creationId xmlns:a16="http://schemas.microsoft.com/office/drawing/2014/main" id="{5C6709EC-1B9C-4830-ACF2-4EAD9F21567F}"/>
                </a:ext>
              </a:extLst>
            </p:cNvPr>
            <p:cNvSpPr/>
            <p:nvPr/>
          </p:nvSpPr>
          <p:spPr>
            <a:xfrm>
              <a:off x="251520" y="5430303"/>
              <a:ext cx="3877364" cy="1289298"/>
            </a:xfrm>
            <a:custGeom>
              <a:avLst/>
              <a:gdLst>
                <a:gd name="connsiteX0" fmla="*/ 0 w 3765692"/>
                <a:gd name="connsiteY0" fmla="*/ 160584 h 963487"/>
                <a:gd name="connsiteX1" fmla="*/ 160584 w 3765692"/>
                <a:gd name="connsiteY1" fmla="*/ 0 h 963487"/>
                <a:gd name="connsiteX2" fmla="*/ 3605108 w 3765692"/>
                <a:gd name="connsiteY2" fmla="*/ 0 h 963487"/>
                <a:gd name="connsiteX3" fmla="*/ 3765692 w 3765692"/>
                <a:gd name="connsiteY3" fmla="*/ 160584 h 963487"/>
                <a:gd name="connsiteX4" fmla="*/ 3765692 w 3765692"/>
                <a:gd name="connsiteY4" fmla="*/ 802903 h 963487"/>
                <a:gd name="connsiteX5" fmla="*/ 3605108 w 3765692"/>
                <a:gd name="connsiteY5" fmla="*/ 963487 h 963487"/>
                <a:gd name="connsiteX6" fmla="*/ 160584 w 3765692"/>
                <a:gd name="connsiteY6" fmla="*/ 963487 h 963487"/>
                <a:gd name="connsiteX7" fmla="*/ 0 w 3765692"/>
                <a:gd name="connsiteY7" fmla="*/ 802903 h 963487"/>
                <a:gd name="connsiteX8" fmla="*/ 0 w 3765692"/>
                <a:gd name="connsiteY8" fmla="*/ 160584 h 963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65692" h="963487">
                  <a:moveTo>
                    <a:pt x="0" y="160584"/>
                  </a:moveTo>
                  <a:cubicBezTo>
                    <a:pt x="0" y="71896"/>
                    <a:pt x="71896" y="0"/>
                    <a:pt x="160584" y="0"/>
                  </a:cubicBezTo>
                  <a:lnTo>
                    <a:pt x="3605108" y="0"/>
                  </a:lnTo>
                  <a:cubicBezTo>
                    <a:pt x="3693796" y="0"/>
                    <a:pt x="3765692" y="71896"/>
                    <a:pt x="3765692" y="160584"/>
                  </a:cubicBezTo>
                  <a:lnTo>
                    <a:pt x="3765692" y="802903"/>
                  </a:lnTo>
                  <a:cubicBezTo>
                    <a:pt x="3765692" y="891591"/>
                    <a:pt x="3693796" y="963487"/>
                    <a:pt x="3605108" y="963487"/>
                  </a:cubicBezTo>
                  <a:lnTo>
                    <a:pt x="160584" y="963487"/>
                  </a:lnTo>
                  <a:cubicBezTo>
                    <a:pt x="71896" y="963487"/>
                    <a:pt x="0" y="891591"/>
                    <a:pt x="0" y="802903"/>
                  </a:cubicBezTo>
                  <a:lnTo>
                    <a:pt x="0" y="160584"/>
                  </a:lnTo>
                  <a:close/>
                </a:path>
              </a:pathLst>
            </a:custGeom>
            <a:solidFill>
              <a:schemeClr val="accent3">
                <a:lumMod val="60000"/>
                <a:lumOff val="40000"/>
              </a:schemeClr>
            </a:solidFill>
            <a:ln>
              <a:solidFill>
                <a:schemeClr val="accent3">
                  <a:lumMod val="50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55052" tIns="47034" rIns="155052" bIns="47034" numCol="1" spcCol="1270" anchor="ctr" anchorCtr="0">
              <a:noAutofit/>
            </a:bodyPr>
            <a:lstStyle/>
            <a:p>
              <a:pPr>
                <a:lnSpc>
                  <a:spcPct val="133000"/>
                </a:lnSpc>
                <a:buSzPct val="100000"/>
              </a:pPr>
              <a:r>
                <a:rPr lang="ar-SA" sz="2400" b="1" dirty="0">
                  <a:solidFill>
                    <a:schemeClr val="bg2">
                      <a:lumMod val="10000"/>
                    </a:schemeClr>
                  </a:solidFill>
                  <a:latin typeface="Simplified Arabic" pitchFamily="18" charset="-78"/>
                  <a:cs typeface="Simplified Arabic" pitchFamily="18" charset="-78"/>
                </a:rPr>
                <a:t>تقنياً: </a:t>
              </a:r>
              <a:r>
                <a:rPr lang="ar-SA" sz="2000" dirty="0">
                  <a:solidFill>
                    <a:schemeClr val="bg2">
                      <a:lumMod val="10000"/>
                    </a:schemeClr>
                  </a:solidFill>
                  <a:latin typeface="Simplified Arabic" pitchFamily="18" charset="-78"/>
                  <a:cs typeface="Simplified Arabic" pitchFamily="18" charset="-78"/>
                </a:rPr>
                <a:t>استخدام الشبكات العصبونية </a:t>
              </a:r>
              <a:r>
                <a:rPr lang="en-US" sz="2000" dirty="0">
                  <a:solidFill>
                    <a:schemeClr val="bg2">
                      <a:lumMod val="10000"/>
                    </a:schemeClr>
                  </a:solidFill>
                  <a:latin typeface="Simplified Arabic" pitchFamily="18" charset="-78"/>
                  <a:cs typeface="Simplified Arabic" pitchFamily="18" charset="-78"/>
                </a:rPr>
                <a:t>CNN </a:t>
              </a:r>
              <a:r>
                <a:rPr lang="ar-SA" sz="2000" dirty="0">
                  <a:solidFill>
                    <a:schemeClr val="bg2">
                      <a:lumMod val="10000"/>
                    </a:schemeClr>
                  </a:solidFill>
                  <a:latin typeface="Simplified Arabic" pitchFamily="18" charset="-78"/>
                  <a:cs typeface="Simplified Arabic" pitchFamily="18" charset="-78"/>
                </a:rPr>
                <a:t> ونقل التعلم (</a:t>
              </a:r>
              <a:r>
                <a:rPr lang="en-US" sz="2000" dirty="0">
                  <a:solidFill>
                    <a:schemeClr val="bg2">
                      <a:lumMod val="10000"/>
                    </a:schemeClr>
                  </a:solidFill>
                  <a:latin typeface="Simplified Arabic" pitchFamily="18" charset="-78"/>
                  <a:cs typeface="Simplified Arabic" pitchFamily="18" charset="-78"/>
                </a:rPr>
                <a:t>(Transfer Learning </a:t>
              </a:r>
              <a:r>
                <a:rPr lang="ar-SA" sz="2000" dirty="0">
                  <a:solidFill>
                    <a:schemeClr val="bg2">
                      <a:lumMod val="10000"/>
                    </a:schemeClr>
                  </a:solidFill>
                  <a:latin typeface="Simplified Arabic" pitchFamily="18" charset="-78"/>
                  <a:cs typeface="Simplified Arabic" pitchFamily="18" charset="-78"/>
                </a:rPr>
                <a:t> وتطوير تطبيق </a:t>
              </a:r>
              <a:r>
                <a:rPr lang="en-US" sz="2000" dirty="0">
                  <a:solidFill>
                    <a:schemeClr val="bg2">
                      <a:lumMod val="10000"/>
                    </a:schemeClr>
                  </a:solidFill>
                  <a:latin typeface="Simplified Arabic" pitchFamily="18" charset="-78"/>
                  <a:cs typeface="Simplified Arabic" pitchFamily="18" charset="-78"/>
                </a:rPr>
                <a:t>Django </a:t>
              </a:r>
              <a:r>
                <a:rPr lang="ar-SA" sz="2400" dirty="0">
                  <a:latin typeface="Simplified Arabic" pitchFamily="18" charset="-78"/>
                  <a:cs typeface="Simplified Arabic" pitchFamily="18" charset="-78"/>
                </a:rPr>
                <a:t> </a:t>
              </a:r>
              <a:r>
                <a:rPr lang="ar-SA" sz="2000" dirty="0">
                  <a:solidFill>
                    <a:schemeClr val="bg2">
                      <a:lumMod val="10000"/>
                    </a:schemeClr>
                  </a:solidFill>
                  <a:latin typeface="Simplified Arabic" pitchFamily="18" charset="-78"/>
                  <a:cs typeface="Simplified Arabic" pitchFamily="18" charset="-78"/>
                </a:rPr>
                <a:t>متكامل</a:t>
              </a:r>
              <a:r>
                <a:rPr lang="ar-SA" sz="2400" dirty="0">
                  <a:solidFill>
                    <a:schemeClr val="bg2">
                      <a:lumMod val="10000"/>
                    </a:schemeClr>
                  </a:solidFill>
                  <a:latin typeface="Simplified Arabic" pitchFamily="18" charset="-78"/>
                  <a:cs typeface="Simplified Arabic" pitchFamily="18" charset="-78"/>
                </a:rPr>
                <a:t>.</a:t>
              </a:r>
              <a:endParaRPr lang="ar-SA" sz="2400" dirty="0">
                <a:latin typeface="Simplified Arabic" pitchFamily="18" charset="-78"/>
                <a:cs typeface="Simplified Arabic" pitchFamily="18" charset="-78"/>
              </a:endParaRPr>
            </a:p>
          </p:txBody>
        </p:sp>
      </p:grpSp>
    </p:spTree>
    <p:extLst>
      <p:ext uri="{BB962C8B-B14F-4D97-AF65-F5344CB8AC3E}">
        <p14:creationId xmlns:p14="http://schemas.microsoft.com/office/powerpoint/2010/main" val="24778528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38383E4-9B55-4D2A-89E6-9E5CDE82CF93}"/>
              </a:ext>
            </a:extLst>
          </p:cNvPr>
          <p:cNvPicPr>
            <a:picLocks noChangeAspect="1"/>
          </p:cNvPicPr>
          <p:nvPr/>
        </p:nvPicPr>
        <p:blipFill>
          <a:blip r:embed="rId3"/>
          <a:stretch>
            <a:fillRect/>
          </a:stretch>
        </p:blipFill>
        <p:spPr>
          <a:xfrm>
            <a:off x="0" y="764704"/>
            <a:ext cx="4286848" cy="6100302"/>
          </a:xfrm>
          <a:prstGeom prst="rect">
            <a:avLst/>
          </a:prstGeom>
        </p:spPr>
      </p:pic>
      <p:sp>
        <p:nvSpPr>
          <p:cNvPr id="35" name="عنوان 1">
            <a:extLst>
              <a:ext uri="{FF2B5EF4-FFF2-40B4-BE49-F238E27FC236}">
                <a16:creationId xmlns:a16="http://schemas.microsoft.com/office/drawing/2014/main" id="{C9F3E019-1DCC-4528-87CA-58DE93A57FAA}"/>
              </a:ext>
            </a:extLst>
          </p:cNvPr>
          <p:cNvSpPr>
            <a:spLocks noGrp="1"/>
          </p:cNvSpPr>
          <p:nvPr>
            <p:ph type="ctrTitle"/>
          </p:nvPr>
        </p:nvSpPr>
        <p:spPr>
          <a:xfrm>
            <a:off x="2699792" y="0"/>
            <a:ext cx="3330164" cy="704124"/>
          </a:xfrm>
        </p:spPr>
        <p:txBody>
          <a:bodyPr>
            <a:normAutofit/>
          </a:bodyPr>
          <a:lstStyle/>
          <a:p>
            <a:r>
              <a:rPr lang="ar-SA" sz="3600" b="1" dirty="0">
                <a:latin typeface="Simplified Arabic" pitchFamily="18" charset="-78"/>
                <a:cs typeface="Simplified Arabic" pitchFamily="18" charset="-78"/>
              </a:rPr>
              <a:t>المتطلبات الوظيفية</a:t>
            </a:r>
            <a:endParaRPr lang="ar-SY" sz="3600" b="1" dirty="0">
              <a:latin typeface="Simplified Arabic" pitchFamily="18" charset="-78"/>
              <a:cs typeface="Simplified Arabic" pitchFamily="18" charset="-78"/>
            </a:endParaRPr>
          </a:p>
        </p:txBody>
      </p:sp>
      <p:sp>
        <p:nvSpPr>
          <p:cNvPr id="37" name="TextBox 36">
            <a:extLst>
              <a:ext uri="{FF2B5EF4-FFF2-40B4-BE49-F238E27FC236}">
                <a16:creationId xmlns:a16="http://schemas.microsoft.com/office/drawing/2014/main" id="{DCF4AEF7-BFED-4586-A972-CAC074104963}"/>
              </a:ext>
            </a:extLst>
          </p:cNvPr>
          <p:cNvSpPr txBox="1"/>
          <p:nvPr/>
        </p:nvSpPr>
        <p:spPr>
          <a:xfrm>
            <a:off x="4355976" y="704124"/>
            <a:ext cx="4596170" cy="6186309"/>
          </a:xfrm>
          <a:prstGeom prst="rect">
            <a:avLst/>
          </a:prstGeom>
          <a:noFill/>
        </p:spPr>
        <p:txBody>
          <a:bodyPr wrap="square">
            <a:spAutoFit/>
          </a:bodyPr>
          <a:lstStyle/>
          <a:p>
            <a:r>
              <a:rPr lang="ar-SY" b="1" dirty="0">
                <a:latin typeface="Simplified Arabic" panose="02020603050405020304" pitchFamily="18" charset="-78"/>
                <a:cs typeface="Simplified Arabic" panose="02020603050405020304" pitchFamily="18" charset="-78"/>
              </a:rPr>
              <a:t>تسجيل الدخول</a:t>
            </a:r>
          </a:p>
          <a:p>
            <a:r>
              <a:rPr lang="ar-SY" dirty="0">
                <a:latin typeface="Simplified Arabic" panose="02020603050405020304" pitchFamily="18" charset="-78"/>
                <a:cs typeface="Simplified Arabic" panose="02020603050405020304" pitchFamily="18" charset="-78"/>
              </a:rPr>
              <a:t>دخول آمن باستخدام اسم المستخدم وكلمة المرور</a:t>
            </a:r>
          </a:p>
          <a:p>
            <a:r>
              <a:rPr lang="ar-SY" b="1" dirty="0">
                <a:latin typeface="Simplified Arabic" panose="02020603050405020304" pitchFamily="18" charset="-78"/>
                <a:cs typeface="Simplified Arabic" panose="02020603050405020304" pitchFamily="18" charset="-78"/>
              </a:rPr>
              <a:t>إنشاء حساب</a:t>
            </a:r>
          </a:p>
          <a:p>
            <a:r>
              <a:rPr lang="ar-SY" dirty="0">
                <a:latin typeface="Simplified Arabic" panose="02020603050405020304" pitchFamily="18" charset="-78"/>
                <a:cs typeface="Simplified Arabic" panose="02020603050405020304" pitchFamily="18" charset="-78"/>
              </a:rPr>
              <a:t>تسجيل مستخدم جديد مع البيانات الشخصية</a:t>
            </a:r>
          </a:p>
          <a:p>
            <a:r>
              <a:rPr lang="ar-SY" b="1" dirty="0">
                <a:latin typeface="Simplified Arabic" panose="02020603050405020304" pitchFamily="18" charset="-78"/>
                <a:cs typeface="Simplified Arabic" panose="02020603050405020304" pitchFamily="18" charset="-78"/>
              </a:rPr>
              <a:t>رفع صورة</a:t>
            </a:r>
          </a:p>
          <a:p>
            <a:r>
              <a:rPr lang="ar-SY" dirty="0">
                <a:latin typeface="Simplified Arabic" panose="02020603050405020304" pitchFamily="18" charset="-78"/>
                <a:cs typeface="Simplified Arabic" panose="02020603050405020304" pitchFamily="18" charset="-78"/>
              </a:rPr>
              <a:t>رفع صور للأوراق والثمار والأغصان</a:t>
            </a:r>
          </a:p>
          <a:p>
            <a:r>
              <a:rPr lang="ar-SY" b="1" dirty="0">
                <a:latin typeface="Simplified Arabic" panose="02020603050405020304" pitchFamily="18" charset="-78"/>
                <a:cs typeface="Simplified Arabic" panose="02020603050405020304" pitchFamily="18" charset="-78"/>
              </a:rPr>
              <a:t>تصنيف الصورة</a:t>
            </a:r>
          </a:p>
          <a:p>
            <a:r>
              <a:rPr lang="ar-SY" dirty="0">
                <a:latin typeface="Simplified Arabic" panose="02020603050405020304" pitchFamily="18" charset="-78"/>
                <a:cs typeface="Simplified Arabic" panose="02020603050405020304" pitchFamily="18" charset="-78"/>
              </a:rPr>
              <a:t>تحليل باستخدام</a:t>
            </a:r>
            <a:r>
              <a:rPr lang="ar-SA" dirty="0">
                <a:latin typeface="Simplified Arabic" panose="02020603050405020304" pitchFamily="18" charset="-78"/>
                <a:cs typeface="Simplified Arabic" panose="02020603050405020304" pitchFamily="18" charset="-78"/>
              </a:rPr>
              <a:t> نموذج </a:t>
            </a:r>
            <a:r>
              <a:rPr lang="en-US" sz="1700" dirty="0">
                <a:latin typeface="Simplified Arabic" panose="02020603050405020304" pitchFamily="18" charset="-78"/>
                <a:cs typeface="Simplified Arabic" panose="02020603050405020304" pitchFamily="18" charset="-78"/>
              </a:rPr>
              <a:t>EfficientNet-B0</a:t>
            </a:r>
            <a:r>
              <a:rPr lang="ar-SA" dirty="0">
                <a:latin typeface="Simplified Arabic" panose="02020603050405020304" pitchFamily="18" charset="-78"/>
                <a:cs typeface="Simplified Arabic" panose="02020603050405020304" pitchFamily="18" charset="-78"/>
              </a:rPr>
              <a:t> </a:t>
            </a:r>
            <a:r>
              <a:rPr lang="ar-SY" dirty="0">
                <a:latin typeface="Simplified Arabic" panose="02020603050405020304" pitchFamily="18" charset="-78"/>
                <a:cs typeface="Simplified Arabic" panose="02020603050405020304" pitchFamily="18" charset="-78"/>
              </a:rPr>
              <a:t>من 20 فئة مرضية</a:t>
            </a:r>
          </a:p>
          <a:p>
            <a:r>
              <a:rPr lang="ar-SY" b="1" dirty="0">
                <a:latin typeface="Simplified Arabic" panose="02020603050405020304" pitchFamily="18" charset="-78"/>
                <a:cs typeface="Simplified Arabic" panose="02020603050405020304" pitchFamily="18" charset="-78"/>
              </a:rPr>
              <a:t>عرض النتيجة</a:t>
            </a:r>
          </a:p>
          <a:p>
            <a:r>
              <a:rPr lang="ar-SY" dirty="0">
                <a:latin typeface="Simplified Arabic" panose="02020603050405020304" pitchFamily="18" charset="-78"/>
                <a:cs typeface="Simplified Arabic" panose="02020603050405020304" pitchFamily="18" charset="-78"/>
              </a:rPr>
              <a:t>اسم المرض (عربي/إنكليزي)، نسبة الثقة،</a:t>
            </a:r>
            <a:r>
              <a:rPr lang="ar-SA" dirty="0">
                <a:latin typeface="Simplified Arabic" panose="02020603050405020304" pitchFamily="18" charset="-78"/>
                <a:cs typeface="Simplified Arabic" panose="02020603050405020304" pitchFamily="18" charset="-78"/>
              </a:rPr>
              <a:t> الوصف، </a:t>
            </a:r>
            <a:r>
              <a:rPr lang="ar-SY" dirty="0">
                <a:latin typeface="Simplified Arabic" panose="02020603050405020304" pitchFamily="18" charset="-78"/>
                <a:cs typeface="Simplified Arabic" panose="02020603050405020304" pitchFamily="18" charset="-78"/>
              </a:rPr>
              <a:t> توصيات المعالجة.</a:t>
            </a:r>
          </a:p>
          <a:p>
            <a:r>
              <a:rPr lang="ar-SY" b="1" dirty="0">
                <a:latin typeface="Simplified Arabic" panose="02020603050405020304" pitchFamily="18" charset="-78"/>
                <a:cs typeface="Simplified Arabic" panose="02020603050405020304" pitchFamily="18" charset="-78"/>
              </a:rPr>
              <a:t>عرض الملف الشخصي</a:t>
            </a:r>
          </a:p>
          <a:p>
            <a:r>
              <a:rPr lang="ar-SY" dirty="0">
                <a:latin typeface="Simplified Arabic" panose="02020603050405020304" pitchFamily="18" charset="-78"/>
                <a:cs typeface="Simplified Arabic" panose="02020603050405020304" pitchFamily="18" charset="-78"/>
              </a:rPr>
              <a:t>عرض وتعديل البيانات الشخصية</a:t>
            </a:r>
          </a:p>
          <a:p>
            <a:r>
              <a:rPr lang="ar-SY" b="1" dirty="0">
                <a:latin typeface="Simplified Arabic" panose="02020603050405020304" pitchFamily="18" charset="-78"/>
                <a:cs typeface="Simplified Arabic" panose="02020603050405020304" pitchFamily="18" charset="-78"/>
              </a:rPr>
              <a:t>لوحة المستخدم</a:t>
            </a:r>
          </a:p>
          <a:p>
            <a:r>
              <a:rPr lang="ar-SY" dirty="0">
                <a:latin typeface="Simplified Arabic" panose="02020603050405020304" pitchFamily="18" charset="-78"/>
                <a:cs typeface="Simplified Arabic" panose="02020603050405020304" pitchFamily="18" charset="-78"/>
              </a:rPr>
              <a:t>استعراض سجل التشخيص</a:t>
            </a:r>
          </a:p>
          <a:p>
            <a:r>
              <a:rPr lang="ar-SY" b="1" dirty="0">
                <a:latin typeface="Simplified Arabic" panose="02020603050405020304" pitchFamily="18" charset="-78"/>
                <a:cs typeface="Simplified Arabic" panose="02020603050405020304" pitchFamily="18" charset="-78"/>
              </a:rPr>
              <a:t>تحميل تقرير </a:t>
            </a:r>
            <a:r>
              <a:rPr lang="en-US" b="1" dirty="0">
                <a:latin typeface="Simplified Arabic" panose="02020603050405020304" pitchFamily="18" charset="-78"/>
                <a:cs typeface="Simplified Arabic" panose="02020603050405020304" pitchFamily="18" charset="-78"/>
              </a:rPr>
              <a:t>PDF</a:t>
            </a:r>
          </a:p>
          <a:p>
            <a:r>
              <a:rPr lang="ar-SY" dirty="0">
                <a:latin typeface="Simplified Arabic" panose="02020603050405020304" pitchFamily="18" charset="-78"/>
                <a:cs typeface="Simplified Arabic" panose="02020603050405020304" pitchFamily="18" charset="-78"/>
              </a:rPr>
              <a:t>تنزيل تقرير تشخيصي شامل</a:t>
            </a:r>
          </a:p>
          <a:p>
            <a:r>
              <a:rPr lang="ar-SY" b="1" dirty="0">
                <a:latin typeface="Simplified Arabic" panose="02020603050405020304" pitchFamily="18" charset="-78"/>
                <a:cs typeface="Simplified Arabic" panose="02020603050405020304" pitchFamily="18" charset="-78"/>
              </a:rPr>
              <a:t>تسجيل الخروج</a:t>
            </a:r>
          </a:p>
          <a:p>
            <a:r>
              <a:rPr lang="ar-SY" dirty="0">
                <a:latin typeface="Simplified Arabic" panose="02020603050405020304" pitchFamily="18" charset="-78"/>
                <a:cs typeface="Simplified Arabic" panose="02020603050405020304" pitchFamily="18" charset="-78"/>
              </a:rPr>
              <a:t>خروج آمن من النظام</a:t>
            </a:r>
          </a:p>
          <a:p>
            <a:r>
              <a:rPr lang="ar-SY" b="1" dirty="0">
                <a:latin typeface="Simplified Arabic" panose="02020603050405020304" pitchFamily="18" charset="-78"/>
                <a:cs typeface="Simplified Arabic" panose="02020603050405020304" pitchFamily="18" charset="-78"/>
              </a:rPr>
              <a:t>إدارة قاعدة البيانات</a:t>
            </a:r>
          </a:p>
          <a:p>
            <a:r>
              <a:rPr lang="ar-SY" dirty="0">
                <a:latin typeface="Simplified Arabic" panose="02020603050405020304" pitchFamily="18" charset="-78"/>
                <a:cs typeface="Simplified Arabic" panose="02020603050405020304" pitchFamily="18" charset="-78"/>
              </a:rPr>
              <a:t>إضافة وتعديل معلومات الأمراض</a:t>
            </a:r>
          </a:p>
        </p:txBody>
      </p:sp>
      <p:sp>
        <p:nvSpPr>
          <p:cNvPr id="8" name="Slide Number Placeholder 7">
            <a:extLst>
              <a:ext uri="{FF2B5EF4-FFF2-40B4-BE49-F238E27FC236}">
                <a16:creationId xmlns:a16="http://schemas.microsoft.com/office/drawing/2014/main" id="{4C16CBE2-9CF3-47C7-9BF5-257659D3F517}"/>
              </a:ext>
            </a:extLst>
          </p:cNvPr>
          <p:cNvSpPr>
            <a:spLocks noGrp="1"/>
          </p:cNvSpPr>
          <p:nvPr>
            <p:ph type="sldNum" sz="quarter" idx="12"/>
          </p:nvPr>
        </p:nvSpPr>
        <p:spPr>
          <a:xfrm>
            <a:off x="4860032" y="6451840"/>
            <a:ext cx="432048" cy="385018"/>
          </a:xfrm>
        </p:spPr>
        <p:txBody>
          <a:bodyPr/>
          <a:lstStyle/>
          <a:p>
            <a:fld id="{0B34F065-1154-456A-91E3-76DE8E75E17B}" type="slidenum">
              <a:rPr lang="ar-SA" sz="2000" b="1" smtClean="0">
                <a:latin typeface="Simplified Arabic" panose="02020603050405020304" pitchFamily="18" charset="-78"/>
                <a:cs typeface="Simplified Arabic" panose="02020603050405020304" pitchFamily="18" charset="-78"/>
              </a:rPr>
              <a:t>6</a:t>
            </a:fld>
            <a:endParaRPr lang="ar-SA" b="1" dirty="0">
              <a:latin typeface="Simplified Arabic" panose="02020603050405020304" pitchFamily="18" charset="-78"/>
              <a:cs typeface="Simplified Arabic" panose="02020603050405020304" pitchFamily="18" charset="-78"/>
            </a:endParaRPr>
          </a:p>
        </p:txBody>
      </p:sp>
    </p:spTree>
    <p:extLst>
      <p:ext uri="{BB962C8B-B14F-4D97-AF65-F5344CB8AC3E}">
        <p14:creationId xmlns:p14="http://schemas.microsoft.com/office/powerpoint/2010/main" val="20640768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Image 0" descr="preencoded.png">
            <a:extLst>
              <a:ext uri="{FF2B5EF4-FFF2-40B4-BE49-F238E27FC236}">
                <a16:creationId xmlns:a16="http://schemas.microsoft.com/office/drawing/2014/main" id="{418E3705-108E-413E-B63B-98100ABE35BA}"/>
              </a:ext>
            </a:extLst>
          </p:cNvPr>
          <p:cNvPicPr>
            <a:picLocks noChangeAspect="1"/>
          </p:cNvPicPr>
          <p:nvPr/>
        </p:nvPicPr>
        <p:blipFill>
          <a:blip r:embed="rId3"/>
          <a:stretch>
            <a:fillRect/>
          </a:stretch>
        </p:blipFill>
        <p:spPr>
          <a:xfrm>
            <a:off x="0" y="1340768"/>
            <a:ext cx="4349792" cy="4752528"/>
          </a:xfrm>
          <a:prstGeom prst="rect">
            <a:avLst/>
          </a:prstGeom>
        </p:spPr>
      </p:pic>
      <p:sp>
        <p:nvSpPr>
          <p:cNvPr id="4" name="عنوان 1">
            <a:extLst>
              <a:ext uri="{FF2B5EF4-FFF2-40B4-BE49-F238E27FC236}">
                <a16:creationId xmlns:a16="http://schemas.microsoft.com/office/drawing/2014/main" id="{863A8816-1865-48BC-B0E7-BF3FE7E2FF4A}"/>
              </a:ext>
            </a:extLst>
          </p:cNvPr>
          <p:cNvSpPr>
            <a:spLocks noGrp="1"/>
          </p:cNvSpPr>
          <p:nvPr>
            <p:ph type="ctrTitle"/>
          </p:nvPr>
        </p:nvSpPr>
        <p:spPr>
          <a:xfrm>
            <a:off x="2987824" y="368660"/>
            <a:ext cx="3168352" cy="792088"/>
          </a:xfrm>
        </p:spPr>
        <p:txBody>
          <a:bodyPr>
            <a:normAutofit/>
          </a:bodyPr>
          <a:lstStyle/>
          <a:p>
            <a:r>
              <a:rPr lang="ar-SA" sz="3600" b="1" dirty="0">
                <a:latin typeface="Simplified Arabic" pitchFamily="18" charset="-78"/>
                <a:cs typeface="Simplified Arabic" pitchFamily="18" charset="-78"/>
              </a:rPr>
              <a:t>متطلبات الأداء</a:t>
            </a:r>
            <a:endParaRPr lang="ar-SY" sz="3600" b="1" dirty="0">
              <a:latin typeface="Simplified Arabic" pitchFamily="18" charset="-78"/>
              <a:cs typeface="Simplified Arabic" pitchFamily="18" charset="-78"/>
            </a:endParaRPr>
          </a:p>
        </p:txBody>
      </p:sp>
      <p:sp>
        <p:nvSpPr>
          <p:cNvPr id="7" name="TextBox 6">
            <a:extLst>
              <a:ext uri="{FF2B5EF4-FFF2-40B4-BE49-F238E27FC236}">
                <a16:creationId xmlns:a16="http://schemas.microsoft.com/office/drawing/2014/main" id="{A1F7AE05-1A37-4A7D-A2F7-7CAFDCBB6227}"/>
              </a:ext>
            </a:extLst>
          </p:cNvPr>
          <p:cNvSpPr txBox="1"/>
          <p:nvPr/>
        </p:nvSpPr>
        <p:spPr>
          <a:xfrm>
            <a:off x="4349792" y="1484784"/>
            <a:ext cx="4587242" cy="4154984"/>
          </a:xfrm>
          <a:prstGeom prst="rect">
            <a:avLst/>
          </a:prstGeom>
          <a:noFill/>
        </p:spPr>
        <p:txBody>
          <a:bodyPr wrap="square">
            <a:spAutoFit/>
          </a:bodyPr>
          <a:lstStyle/>
          <a:p>
            <a:pPr marL="285750" indent="-285750" algn="just">
              <a:buFont typeface="Arial" panose="020B0604020202020204" pitchFamily="34" charset="0"/>
              <a:buChar char="•"/>
            </a:pPr>
            <a:r>
              <a:rPr lang="ar-SY" sz="2400" dirty="0">
                <a:latin typeface="Simplified Arabic" panose="02020603050405020304" pitchFamily="18" charset="-78"/>
                <a:cs typeface="Simplified Arabic" panose="02020603050405020304" pitchFamily="18" charset="-78"/>
              </a:rPr>
              <a:t>استجابة سريعة لطلبات التصنيف خلال ثوانٍ معدودة</a:t>
            </a:r>
            <a:r>
              <a:rPr lang="ar-SA" sz="2400" dirty="0">
                <a:latin typeface="Simplified Arabic" panose="02020603050405020304" pitchFamily="18" charset="-78"/>
                <a:cs typeface="Simplified Arabic" panose="02020603050405020304" pitchFamily="18" charset="-78"/>
              </a:rPr>
              <a:t>.</a:t>
            </a:r>
          </a:p>
          <a:p>
            <a:pPr algn="just"/>
            <a:endParaRPr lang="ar-SA" sz="2400" dirty="0">
              <a:latin typeface="Simplified Arabic" panose="02020603050405020304" pitchFamily="18" charset="-78"/>
              <a:cs typeface="Simplified Arabic" panose="02020603050405020304" pitchFamily="18" charset="-78"/>
            </a:endParaRPr>
          </a:p>
          <a:p>
            <a:pPr marL="285750" indent="-285750" algn="just">
              <a:buFont typeface="Arial" panose="020B0604020202020204" pitchFamily="34" charset="0"/>
              <a:buChar char="•"/>
            </a:pPr>
            <a:r>
              <a:rPr lang="ar-SY" sz="2400" dirty="0">
                <a:latin typeface="Simplified Arabic" panose="02020603050405020304" pitchFamily="18" charset="-78"/>
                <a:cs typeface="Simplified Arabic" panose="02020603050405020304" pitchFamily="18" charset="-78"/>
              </a:rPr>
              <a:t>دعم عدد كبير من المستخدمين المتزامنين مع الحفاظ على الأداء</a:t>
            </a:r>
            <a:r>
              <a:rPr lang="ar-SA" sz="2400" dirty="0">
                <a:latin typeface="Simplified Arabic" panose="02020603050405020304" pitchFamily="18" charset="-78"/>
                <a:cs typeface="Simplified Arabic" panose="02020603050405020304" pitchFamily="18" charset="-78"/>
              </a:rPr>
              <a:t>.</a:t>
            </a:r>
          </a:p>
          <a:p>
            <a:pPr algn="just"/>
            <a:endParaRPr lang="ar-SY" sz="2400" dirty="0">
              <a:latin typeface="Simplified Arabic" panose="02020603050405020304" pitchFamily="18" charset="-78"/>
              <a:cs typeface="Simplified Arabic" panose="02020603050405020304" pitchFamily="18" charset="-78"/>
            </a:endParaRPr>
          </a:p>
          <a:p>
            <a:pPr marL="285750" indent="-285750" algn="just">
              <a:buFont typeface="Arial" panose="020B0604020202020204" pitchFamily="34" charset="0"/>
              <a:buChar char="•"/>
            </a:pPr>
            <a:r>
              <a:rPr lang="ar-SY" sz="2400" dirty="0">
                <a:latin typeface="Simplified Arabic" panose="02020603050405020304" pitchFamily="18" charset="-78"/>
                <a:cs typeface="Simplified Arabic" panose="02020603050405020304" pitchFamily="18" charset="-78"/>
              </a:rPr>
              <a:t>حفظ آمن للبيانات والصور والنتائج في قاعدة بيانات موثوقة</a:t>
            </a:r>
            <a:r>
              <a:rPr lang="ar-SA" sz="2400" dirty="0">
                <a:latin typeface="Simplified Arabic" panose="02020603050405020304" pitchFamily="18" charset="-78"/>
                <a:cs typeface="Simplified Arabic" panose="02020603050405020304" pitchFamily="18" charset="-78"/>
              </a:rPr>
              <a:t>.</a:t>
            </a:r>
          </a:p>
          <a:p>
            <a:pPr algn="just"/>
            <a:endParaRPr lang="ar-SY" sz="2400" dirty="0">
              <a:latin typeface="Simplified Arabic" panose="02020603050405020304" pitchFamily="18" charset="-78"/>
              <a:cs typeface="Simplified Arabic" panose="02020603050405020304" pitchFamily="18" charset="-78"/>
            </a:endParaRPr>
          </a:p>
          <a:p>
            <a:pPr marL="285750" indent="-285750" algn="just">
              <a:buFont typeface="Arial" panose="020B0604020202020204" pitchFamily="34" charset="0"/>
              <a:buChar char="•"/>
            </a:pPr>
            <a:r>
              <a:rPr lang="ar-SY" sz="2400" dirty="0">
                <a:latin typeface="Simplified Arabic" panose="02020603050405020304" pitchFamily="18" charset="-78"/>
                <a:cs typeface="Simplified Arabic" panose="02020603050405020304" pitchFamily="18" charset="-78"/>
              </a:rPr>
              <a:t>دعم ملفات صور حتى 5 ميغابايت بدون مشاكل</a:t>
            </a:r>
            <a:r>
              <a:rPr lang="ar-SA" sz="2400" dirty="0">
                <a:latin typeface="Simplified Arabic" panose="02020603050405020304" pitchFamily="18" charset="-78"/>
                <a:cs typeface="Simplified Arabic" panose="02020603050405020304" pitchFamily="18" charset="-78"/>
              </a:rPr>
              <a:t>.</a:t>
            </a:r>
            <a:endParaRPr lang="ar-SY" sz="2400" dirty="0">
              <a:latin typeface="Simplified Arabic" panose="02020603050405020304" pitchFamily="18" charset="-78"/>
              <a:cs typeface="Simplified Arabic" panose="02020603050405020304" pitchFamily="18" charset="-78"/>
            </a:endParaRPr>
          </a:p>
        </p:txBody>
      </p:sp>
      <p:sp>
        <p:nvSpPr>
          <p:cNvPr id="9" name="Slide Number Placeholder 8">
            <a:extLst>
              <a:ext uri="{FF2B5EF4-FFF2-40B4-BE49-F238E27FC236}">
                <a16:creationId xmlns:a16="http://schemas.microsoft.com/office/drawing/2014/main" id="{E90F71CE-9E07-4013-9096-8DDC87454CB9}"/>
              </a:ext>
            </a:extLst>
          </p:cNvPr>
          <p:cNvSpPr>
            <a:spLocks noGrp="1"/>
          </p:cNvSpPr>
          <p:nvPr>
            <p:ph type="sldNum" sz="quarter" idx="12"/>
          </p:nvPr>
        </p:nvSpPr>
        <p:spPr>
          <a:xfrm>
            <a:off x="8471871" y="6381328"/>
            <a:ext cx="432048" cy="365125"/>
          </a:xfrm>
        </p:spPr>
        <p:txBody>
          <a:bodyPr/>
          <a:lstStyle/>
          <a:p>
            <a:fld id="{0B34F065-1154-456A-91E3-76DE8E75E17B}" type="slidenum">
              <a:rPr lang="ar-SA" sz="2000" b="1" smtClean="0">
                <a:latin typeface="Simplified Arabic" panose="02020603050405020304" pitchFamily="18" charset="-78"/>
                <a:cs typeface="Simplified Arabic" panose="02020603050405020304" pitchFamily="18" charset="-78"/>
              </a:rPr>
              <a:t>7</a:t>
            </a:fld>
            <a:endParaRPr lang="ar-SA" b="1" dirty="0">
              <a:latin typeface="Simplified Arabic" panose="02020603050405020304" pitchFamily="18" charset="-78"/>
              <a:cs typeface="Simplified Arabic" panose="02020603050405020304" pitchFamily="18" charset="-78"/>
            </a:endParaRPr>
          </a:p>
        </p:txBody>
      </p:sp>
    </p:spTree>
    <p:extLst>
      <p:ext uri="{BB962C8B-B14F-4D97-AF65-F5344CB8AC3E}">
        <p14:creationId xmlns:p14="http://schemas.microsoft.com/office/powerpoint/2010/main" val="19751607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0E325D-6973-4676-A2E8-C18E751C7B1A}"/>
              </a:ext>
            </a:extLst>
          </p:cNvPr>
          <p:cNvSpPr>
            <a:spLocks noGrp="1"/>
          </p:cNvSpPr>
          <p:nvPr>
            <p:ph type="ctrTitle"/>
          </p:nvPr>
        </p:nvSpPr>
        <p:spPr>
          <a:xfrm>
            <a:off x="3545748" y="980728"/>
            <a:ext cx="5564426" cy="5229200"/>
          </a:xfrm>
        </p:spPr>
        <p:txBody>
          <a:bodyPr>
            <a:normAutofit/>
          </a:bodyPr>
          <a:lstStyle/>
          <a:p>
            <a:pPr algn="r"/>
            <a:r>
              <a:rPr lang="ar-SA" sz="2400" dirty="0">
                <a:latin typeface="Simplified Arabic" panose="02020603050405020304" pitchFamily="18" charset="-78"/>
                <a:cs typeface="Simplified Arabic" panose="02020603050405020304" pitchFamily="18" charset="-78"/>
              </a:rPr>
              <a:t>يتكون النظام من أربع طبقات رئيسية تعمل بتناغم لتوفير تشخيص دقيق وفعال:</a:t>
            </a:r>
            <a:br>
              <a:rPr lang="ar-SA" sz="2400" dirty="0">
                <a:latin typeface="Simplified Arabic" panose="02020603050405020304" pitchFamily="18" charset="-78"/>
                <a:cs typeface="Simplified Arabic" panose="02020603050405020304" pitchFamily="18" charset="-78"/>
              </a:rPr>
            </a:br>
            <a:r>
              <a:rPr lang="ar-SA" sz="2400" b="1" dirty="0">
                <a:latin typeface="Simplified Arabic" panose="02020603050405020304" pitchFamily="18" charset="-78"/>
                <a:cs typeface="Simplified Arabic" panose="02020603050405020304" pitchFamily="18" charset="-78"/>
              </a:rPr>
              <a:t>الطبقة الأمامية (</a:t>
            </a:r>
            <a:r>
              <a:rPr lang="en-US" sz="2300" b="1" dirty="0">
                <a:latin typeface="Simplified Arabic" panose="02020603050405020304" pitchFamily="18" charset="-78"/>
              </a:rPr>
              <a:t>Frontend</a:t>
            </a:r>
            <a:r>
              <a:rPr lang="ar-SA" sz="2400" b="1" dirty="0">
                <a:latin typeface="Simplified Arabic" panose="02020603050405020304" pitchFamily="18" charset="-78"/>
                <a:cs typeface="Simplified Arabic" panose="02020603050405020304" pitchFamily="18" charset="-78"/>
              </a:rPr>
              <a:t>): </a:t>
            </a:r>
            <a:r>
              <a:rPr lang="ar-SA" sz="2400" dirty="0">
                <a:latin typeface="Simplified Arabic" panose="02020603050405020304" pitchFamily="18" charset="-78"/>
                <a:cs typeface="Simplified Arabic" panose="02020603050405020304" pitchFamily="18" charset="-78"/>
              </a:rPr>
              <a:t>واجهة المستخدم المبنية بتقنيات </a:t>
            </a:r>
            <a:r>
              <a:rPr lang="en-US" sz="2300" dirty="0">
                <a:latin typeface="Simplified Arabic" panose="02020603050405020304" pitchFamily="18" charset="-78"/>
                <a:cs typeface="Simplified Arabic" panose="02020603050405020304" pitchFamily="18" charset="-78"/>
              </a:rPr>
              <a:t>Django Templates</a:t>
            </a:r>
            <a:r>
              <a:rPr lang="ar-SA" sz="2400" dirty="0">
                <a:latin typeface="Simplified Arabic" panose="02020603050405020304" pitchFamily="18" charset="-78"/>
                <a:cs typeface="Simplified Arabic" panose="02020603050405020304" pitchFamily="18" charset="-78"/>
              </a:rPr>
              <a:t>، تتيح رفع الصور وعرض النتائج والتوصيات.</a:t>
            </a:r>
            <a:br>
              <a:rPr lang="ar-SA" sz="2400" dirty="0">
                <a:latin typeface="Simplified Arabic" panose="02020603050405020304" pitchFamily="18" charset="-78"/>
                <a:cs typeface="Simplified Arabic" panose="02020603050405020304" pitchFamily="18" charset="-78"/>
              </a:rPr>
            </a:br>
            <a:r>
              <a:rPr lang="ar-SA" sz="2400" b="1" dirty="0">
                <a:latin typeface="Simplified Arabic" panose="02020603050405020304" pitchFamily="18" charset="-78"/>
                <a:cs typeface="Simplified Arabic" panose="02020603050405020304" pitchFamily="18" charset="-78"/>
              </a:rPr>
              <a:t>طبقة المعالجة (</a:t>
            </a:r>
            <a:r>
              <a:rPr lang="en-US" sz="2300" b="1" dirty="0">
                <a:latin typeface="Simplified Arabic" panose="02020603050405020304" pitchFamily="18" charset="-78"/>
                <a:cs typeface="Simplified Arabic" panose="02020603050405020304" pitchFamily="18" charset="-78"/>
              </a:rPr>
              <a:t>Processing Layer</a:t>
            </a:r>
            <a:r>
              <a:rPr lang="ar-SA" sz="2400" b="1" dirty="0">
                <a:latin typeface="Simplified Arabic" panose="02020603050405020304" pitchFamily="18" charset="-78"/>
                <a:cs typeface="Simplified Arabic" panose="02020603050405020304" pitchFamily="18" charset="-78"/>
              </a:rPr>
              <a:t>):</a:t>
            </a:r>
            <a:r>
              <a:rPr lang="ar-SA" sz="2400" dirty="0">
                <a:latin typeface="Simplified Arabic" panose="02020603050405020304" pitchFamily="18" charset="-78"/>
                <a:cs typeface="Simplified Arabic" panose="02020603050405020304" pitchFamily="18" charset="-78"/>
              </a:rPr>
              <a:t> مسؤولة عن المعالجة المسبقة للصور (تغيير الحجم، التطبيع ...) وتحويل البيانات إلى </a:t>
            </a:r>
            <a:r>
              <a:rPr lang="en-US" sz="2400" dirty="0">
                <a:latin typeface="Simplified Arabic" panose="02020603050405020304" pitchFamily="18" charset="-78"/>
                <a:cs typeface="Simplified Arabic" panose="02020603050405020304" pitchFamily="18" charset="-78"/>
              </a:rPr>
              <a:t>Tensor</a:t>
            </a:r>
            <a:r>
              <a:rPr lang="ar-SA" sz="2400" dirty="0">
                <a:latin typeface="Simplified Arabic" panose="02020603050405020304" pitchFamily="18" charset="-78"/>
                <a:cs typeface="Simplified Arabic" panose="02020603050405020304" pitchFamily="18" charset="-78"/>
              </a:rPr>
              <a:t>.</a:t>
            </a:r>
            <a:br>
              <a:rPr lang="ar-SA" sz="2400" dirty="0">
                <a:latin typeface="Simplified Arabic" panose="02020603050405020304" pitchFamily="18" charset="-78"/>
                <a:cs typeface="Simplified Arabic" panose="02020603050405020304" pitchFamily="18" charset="-78"/>
              </a:rPr>
            </a:br>
            <a:r>
              <a:rPr lang="ar-SA" sz="2400" b="1" dirty="0">
                <a:latin typeface="Simplified Arabic" panose="02020603050405020304" pitchFamily="18" charset="-78"/>
                <a:cs typeface="Simplified Arabic" panose="02020603050405020304" pitchFamily="18" charset="-78"/>
              </a:rPr>
              <a:t>طبقة النموذج (</a:t>
            </a:r>
            <a:r>
              <a:rPr lang="en-US" sz="2300" b="1" dirty="0">
                <a:latin typeface="Simplified Arabic" panose="02020603050405020304" pitchFamily="18" charset="-78"/>
                <a:cs typeface="Simplified Arabic" panose="02020603050405020304" pitchFamily="18" charset="-78"/>
              </a:rPr>
              <a:t>Model Layer</a:t>
            </a:r>
            <a:r>
              <a:rPr lang="ar-SA" sz="2400" b="1" dirty="0">
                <a:latin typeface="Simplified Arabic" panose="02020603050405020304" pitchFamily="18" charset="-78"/>
                <a:cs typeface="Simplified Arabic" panose="02020603050405020304" pitchFamily="18" charset="-78"/>
              </a:rPr>
              <a:t>): </a:t>
            </a:r>
            <a:r>
              <a:rPr lang="ar-SA" sz="2400" dirty="0">
                <a:latin typeface="Simplified Arabic" panose="02020603050405020304" pitchFamily="18" charset="-78"/>
                <a:cs typeface="Simplified Arabic" panose="02020603050405020304" pitchFamily="18" charset="-78"/>
              </a:rPr>
              <a:t>تتضمن نموذج </a:t>
            </a:r>
            <a:r>
              <a:rPr lang="en-US" sz="2300" dirty="0">
                <a:latin typeface="Simplified Arabic" panose="02020603050405020304" pitchFamily="18" charset="-78"/>
                <a:cs typeface="Simplified Arabic" panose="02020603050405020304" pitchFamily="18" charset="-78"/>
              </a:rPr>
              <a:t>EfficientNet-B0</a:t>
            </a:r>
            <a:r>
              <a:rPr lang="ar-SA" sz="2400" dirty="0">
                <a:latin typeface="Simplified Arabic" panose="02020603050405020304" pitchFamily="18" charset="-78"/>
                <a:cs typeface="Simplified Arabic" panose="02020603050405020304" pitchFamily="18" charset="-78"/>
              </a:rPr>
              <a:t> المدرَّب، لاستخلاص الميزات وتصنيف الأمراض إلى 20 فئة.</a:t>
            </a:r>
            <a:br>
              <a:rPr lang="ar-SY" sz="2400" dirty="0">
                <a:latin typeface="Simplified Arabic" panose="02020603050405020304" pitchFamily="18" charset="-78"/>
                <a:cs typeface="Simplified Arabic" panose="02020603050405020304" pitchFamily="18" charset="-78"/>
              </a:rPr>
            </a:br>
            <a:r>
              <a:rPr lang="ar-SY" sz="2400" b="1" dirty="0">
                <a:latin typeface="Simplified Arabic" panose="02020603050405020304" pitchFamily="18" charset="-78"/>
                <a:cs typeface="Simplified Arabic" panose="02020603050405020304" pitchFamily="18" charset="-78"/>
              </a:rPr>
              <a:t>طبقة قاعدة البيانات</a:t>
            </a:r>
            <a:r>
              <a:rPr lang="ar-SA" sz="2400" b="1" dirty="0">
                <a:latin typeface="Simplified Arabic" panose="02020603050405020304" pitchFamily="18" charset="-78"/>
                <a:cs typeface="Simplified Arabic" panose="02020603050405020304" pitchFamily="18" charset="-78"/>
              </a:rPr>
              <a:t> (</a:t>
            </a:r>
            <a:r>
              <a:rPr lang="en-US" sz="2300" b="1" dirty="0">
                <a:latin typeface="Simplified Arabic" panose="02020603050405020304" pitchFamily="18" charset="-78"/>
                <a:cs typeface="Simplified Arabic" panose="02020603050405020304" pitchFamily="18" charset="-78"/>
              </a:rPr>
              <a:t>Database Layer</a:t>
            </a:r>
            <a:r>
              <a:rPr lang="ar-SA" sz="2400" b="1" dirty="0">
                <a:latin typeface="Simplified Arabic" panose="02020603050405020304" pitchFamily="18" charset="-78"/>
                <a:cs typeface="Simplified Arabic" panose="02020603050405020304" pitchFamily="18" charset="-78"/>
              </a:rPr>
              <a:t>) </a:t>
            </a:r>
            <a:r>
              <a:rPr lang="ar-SY" sz="2400" dirty="0">
                <a:latin typeface="Simplified Arabic" panose="02020603050405020304" pitchFamily="18" charset="-78"/>
                <a:cs typeface="Simplified Arabic" panose="02020603050405020304" pitchFamily="18" charset="-78"/>
              </a:rPr>
              <a:t>لتخزين بيانات المستخدمين والصور، وقاعدة بيانات الأمراض والتوصيات، وسجل التصنيفات.</a:t>
            </a:r>
            <a:endParaRPr lang="ar-SY" sz="4800" dirty="0">
              <a:latin typeface="Simplified Arabic" panose="02020603050405020304" pitchFamily="18" charset="-78"/>
              <a:cs typeface="Simplified Arabic" panose="02020603050405020304" pitchFamily="18" charset="-78"/>
            </a:endParaRPr>
          </a:p>
        </p:txBody>
      </p:sp>
      <p:pic>
        <p:nvPicPr>
          <p:cNvPr id="6" name="Picture 5">
            <a:extLst>
              <a:ext uri="{FF2B5EF4-FFF2-40B4-BE49-F238E27FC236}">
                <a16:creationId xmlns:a16="http://schemas.microsoft.com/office/drawing/2014/main" id="{A4240702-0CDF-4DA2-B4D9-C7E489EA6E2D}"/>
              </a:ext>
            </a:extLst>
          </p:cNvPr>
          <p:cNvPicPr>
            <a:picLocks noChangeAspect="1"/>
          </p:cNvPicPr>
          <p:nvPr/>
        </p:nvPicPr>
        <p:blipFill>
          <a:blip r:embed="rId3"/>
          <a:stretch>
            <a:fillRect/>
          </a:stretch>
        </p:blipFill>
        <p:spPr>
          <a:xfrm>
            <a:off x="-1" y="-21883"/>
            <a:ext cx="3545749" cy="6649040"/>
          </a:xfrm>
          <a:prstGeom prst="rect">
            <a:avLst/>
          </a:prstGeom>
        </p:spPr>
      </p:pic>
      <p:sp>
        <p:nvSpPr>
          <p:cNvPr id="9" name="Slide Number Placeholder 8">
            <a:extLst>
              <a:ext uri="{FF2B5EF4-FFF2-40B4-BE49-F238E27FC236}">
                <a16:creationId xmlns:a16="http://schemas.microsoft.com/office/drawing/2014/main" id="{CF90C60E-50A5-4144-A9F6-3D53775733B5}"/>
              </a:ext>
            </a:extLst>
          </p:cNvPr>
          <p:cNvSpPr>
            <a:spLocks noGrp="1"/>
          </p:cNvSpPr>
          <p:nvPr>
            <p:ph type="sldNum" sz="quarter" idx="12"/>
          </p:nvPr>
        </p:nvSpPr>
        <p:spPr>
          <a:xfrm>
            <a:off x="8604448" y="6444594"/>
            <a:ext cx="355157" cy="365125"/>
          </a:xfrm>
        </p:spPr>
        <p:txBody>
          <a:bodyPr/>
          <a:lstStyle/>
          <a:p>
            <a:fld id="{0B34F065-1154-456A-91E3-76DE8E75E17B}" type="slidenum">
              <a:rPr lang="ar-SA" sz="2000" b="1" smtClean="0">
                <a:latin typeface="Simplified Arabic" panose="02020603050405020304" pitchFamily="18" charset="-78"/>
                <a:cs typeface="Simplified Arabic" panose="02020603050405020304" pitchFamily="18" charset="-78"/>
              </a:rPr>
              <a:t>8</a:t>
            </a:fld>
            <a:endParaRPr lang="ar-SA" b="1" dirty="0">
              <a:latin typeface="Simplified Arabic" panose="02020603050405020304" pitchFamily="18" charset="-78"/>
              <a:cs typeface="Simplified Arabic" panose="02020603050405020304" pitchFamily="18" charset="-78"/>
            </a:endParaRPr>
          </a:p>
        </p:txBody>
      </p:sp>
      <p:sp>
        <p:nvSpPr>
          <p:cNvPr id="5" name="Text 0">
            <a:extLst>
              <a:ext uri="{FF2B5EF4-FFF2-40B4-BE49-F238E27FC236}">
                <a16:creationId xmlns:a16="http://schemas.microsoft.com/office/drawing/2014/main" id="{24F4D27D-9EFF-4C19-9277-A49B44B21885}"/>
              </a:ext>
            </a:extLst>
          </p:cNvPr>
          <p:cNvSpPr/>
          <p:nvPr/>
        </p:nvSpPr>
        <p:spPr>
          <a:xfrm>
            <a:off x="3923928" y="112280"/>
            <a:ext cx="4490028" cy="617960"/>
          </a:xfrm>
          <a:prstGeom prst="rect">
            <a:avLst/>
          </a:prstGeom>
          <a:noFill/>
          <a:ln/>
        </p:spPr>
        <p:txBody>
          <a:bodyPr wrap="none" lIns="0" tIns="0" rIns="0" bIns="0" rtlCol="0" anchor="t"/>
          <a:lstStyle/>
          <a:p>
            <a:pPr algn="ctr"/>
            <a:r>
              <a:rPr lang="ar-SY" sz="3600" b="1" dirty="0"/>
              <a:t>معمارية النظام</a:t>
            </a:r>
            <a:endParaRPr lang="ar-SY" sz="3600" dirty="0">
              <a:solidFill>
                <a:schemeClr val="bg2">
                  <a:lumMod val="10000"/>
                </a:schemeClr>
              </a:solidFill>
              <a:latin typeface="Simplified Arabic" panose="02020603050405020304" pitchFamily="18" charset="-78"/>
              <a:cs typeface="Simplified Arabic" pitchFamily="18" charset="-78"/>
            </a:endParaRPr>
          </a:p>
        </p:txBody>
      </p:sp>
    </p:spTree>
    <p:extLst>
      <p:ext uri="{BB962C8B-B14F-4D97-AF65-F5344CB8AC3E}">
        <p14:creationId xmlns:p14="http://schemas.microsoft.com/office/powerpoint/2010/main" val="10957442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4"/>
          <p:cNvSpPr/>
          <p:nvPr/>
        </p:nvSpPr>
        <p:spPr>
          <a:xfrm>
            <a:off x="454136" y="6283816"/>
            <a:ext cx="7947696" cy="411768"/>
          </a:xfrm>
          <a:prstGeom prst="rect">
            <a:avLst/>
          </a:prstGeom>
          <a:noFill/>
          <a:ln/>
        </p:spPr>
        <p:txBody>
          <a:bodyPr wrap="none" lIns="0" tIns="0" rIns="0" bIns="0" rtlCol="0" anchor="t"/>
          <a:lstStyle/>
          <a:p>
            <a:pPr algn="ctr">
              <a:lnSpc>
                <a:spcPts val="1875"/>
              </a:lnSpc>
            </a:pPr>
            <a:r>
              <a:rPr lang="ar-SA" sz="2400" b="1" dirty="0">
                <a:solidFill>
                  <a:schemeClr val="tx1">
                    <a:lumMod val="95000"/>
                    <a:lumOff val="5000"/>
                  </a:schemeClr>
                </a:solidFill>
                <a:latin typeface="Simplified Arabic" panose="02020603050405020304" pitchFamily="18" charset="-78"/>
                <a:cs typeface="Simplified Arabic" panose="02020603050405020304" pitchFamily="18" charset="-78"/>
              </a:rPr>
              <a:t>تشخيص سريع ودقيق للمرض وعرض وصف المرض وتوصيات المعالجة</a:t>
            </a:r>
            <a:r>
              <a:rPr lang="ar-SY" sz="2400" b="1" dirty="0">
                <a:solidFill>
                  <a:schemeClr val="tx1">
                    <a:lumMod val="95000"/>
                    <a:lumOff val="5000"/>
                  </a:schemeClr>
                </a:solidFill>
                <a:latin typeface="Simplified Arabic" panose="02020603050405020304" pitchFamily="18" charset="-78"/>
                <a:cs typeface="Simplified Arabic" panose="02020603050405020304" pitchFamily="18" charset="-78"/>
              </a:rPr>
              <a:t>.</a:t>
            </a:r>
          </a:p>
        </p:txBody>
      </p:sp>
      <p:sp>
        <p:nvSpPr>
          <p:cNvPr id="18" name="Striped Right Arrow 17"/>
          <p:cNvSpPr/>
          <p:nvPr/>
        </p:nvSpPr>
        <p:spPr>
          <a:xfrm rot="16200000">
            <a:off x="2145023" y="4702987"/>
            <a:ext cx="534827" cy="315059"/>
          </a:xfrm>
          <a:prstGeom prst="stripedRightArrow">
            <a:avLst/>
          </a:prstGeom>
          <a:solidFill>
            <a:srgbClr val="008080"/>
          </a:solidFill>
          <a:ln>
            <a:solidFill>
              <a:schemeClr val="accent6">
                <a:lumMod val="50000"/>
              </a:schemeClr>
            </a:solidFill>
          </a:ln>
          <a:effectLst>
            <a:outerShdw blurRad="50800" dist="38100" dir="10800000" algn="r" rotWithShape="0">
              <a:prstClr val="black">
                <a:alpha val="40000"/>
              </a:prstClr>
            </a:outerShdw>
            <a:softEdge rad="12700"/>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p>
        </p:txBody>
      </p:sp>
      <p:sp>
        <p:nvSpPr>
          <p:cNvPr id="20" name="Striped Right Arrow 19"/>
          <p:cNvSpPr/>
          <p:nvPr/>
        </p:nvSpPr>
        <p:spPr>
          <a:xfrm rot="5400000">
            <a:off x="7633472" y="2841096"/>
            <a:ext cx="471169" cy="280384"/>
          </a:xfrm>
          <a:prstGeom prst="stripedRightArrow">
            <a:avLst/>
          </a:prstGeom>
          <a:solidFill>
            <a:srgbClr val="008080"/>
          </a:solidFill>
          <a:ln>
            <a:solidFill>
              <a:schemeClr val="accent6">
                <a:lumMod val="50000"/>
              </a:schemeClr>
            </a:solidFill>
          </a:ln>
          <a:effectLst>
            <a:outerShdw blurRad="50800" dist="38100" dir="10800000" algn="r" rotWithShape="0">
              <a:prstClr val="black">
                <a:alpha val="40000"/>
              </a:prstClr>
            </a:outerShdw>
            <a:softEdge rad="12700"/>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p>
        </p:txBody>
      </p:sp>
      <p:sp>
        <p:nvSpPr>
          <p:cNvPr id="21" name="Text 0"/>
          <p:cNvSpPr/>
          <p:nvPr/>
        </p:nvSpPr>
        <p:spPr>
          <a:xfrm>
            <a:off x="2182970" y="460216"/>
            <a:ext cx="4490028" cy="617960"/>
          </a:xfrm>
          <a:prstGeom prst="rect">
            <a:avLst/>
          </a:prstGeom>
          <a:noFill/>
          <a:ln/>
        </p:spPr>
        <p:txBody>
          <a:bodyPr wrap="none" lIns="0" tIns="0" rIns="0" bIns="0" rtlCol="0" anchor="t"/>
          <a:lstStyle/>
          <a:p>
            <a:pPr algn="ctr"/>
            <a:r>
              <a:rPr lang="ar-SY" sz="3600" b="1" dirty="0">
                <a:solidFill>
                  <a:schemeClr val="bg2">
                    <a:lumMod val="10000"/>
                  </a:schemeClr>
                </a:solidFill>
                <a:latin typeface="Simplified Arabic" panose="02020603050405020304" pitchFamily="18" charset="-78"/>
                <a:cs typeface="Simplified Arabic" panose="02020603050405020304" pitchFamily="18" charset="-78"/>
              </a:rPr>
              <a:t>آلية التدفق</a:t>
            </a:r>
            <a:r>
              <a:rPr lang="ar-SA" sz="3600" b="1" dirty="0">
                <a:solidFill>
                  <a:schemeClr val="bg2">
                    <a:lumMod val="10000"/>
                  </a:schemeClr>
                </a:solidFill>
                <a:latin typeface="Simplified Arabic" panose="02020603050405020304" pitchFamily="18" charset="-78"/>
                <a:cs typeface="Simplified Arabic" panose="02020603050405020304" pitchFamily="18" charset="-78"/>
              </a:rPr>
              <a:t> (</a:t>
            </a:r>
            <a:r>
              <a:rPr lang="en-US" sz="3600" b="1" dirty="0">
                <a:solidFill>
                  <a:schemeClr val="bg2">
                    <a:lumMod val="10000"/>
                  </a:schemeClr>
                </a:solidFill>
                <a:latin typeface="Simplified Arabic" panose="02020603050405020304" pitchFamily="18" charset="-78"/>
                <a:cs typeface="Simplified Arabic" panose="02020603050405020304" pitchFamily="18" charset="-78"/>
              </a:rPr>
              <a:t>Workflow</a:t>
            </a:r>
            <a:r>
              <a:rPr lang="ar-SA" sz="3600" b="1" dirty="0">
                <a:solidFill>
                  <a:schemeClr val="bg2">
                    <a:lumMod val="10000"/>
                  </a:schemeClr>
                </a:solidFill>
                <a:latin typeface="Simplified Arabic" panose="02020603050405020304" pitchFamily="18" charset="-78"/>
                <a:cs typeface="Simplified Arabic" panose="02020603050405020304" pitchFamily="18" charset="-78"/>
              </a:rPr>
              <a:t>)</a:t>
            </a:r>
            <a:endParaRPr lang="ar-SY" sz="3600" dirty="0">
              <a:solidFill>
                <a:schemeClr val="bg2">
                  <a:lumMod val="10000"/>
                </a:schemeClr>
              </a:solidFill>
              <a:latin typeface="Simplified Arabic" panose="02020603050405020304" pitchFamily="18" charset="-78"/>
              <a:cs typeface="Simplified Arabic" pitchFamily="18" charset="-78"/>
            </a:endParaRPr>
          </a:p>
        </p:txBody>
      </p:sp>
      <p:sp>
        <p:nvSpPr>
          <p:cNvPr id="22" name="TextBox 21"/>
          <p:cNvSpPr txBox="1"/>
          <p:nvPr/>
        </p:nvSpPr>
        <p:spPr>
          <a:xfrm>
            <a:off x="137181" y="1457715"/>
            <a:ext cx="1363382" cy="1200329"/>
          </a:xfrm>
          <a:prstGeom prst="rect">
            <a:avLst/>
          </a:prstGeom>
          <a:noFill/>
        </p:spPr>
        <p:txBody>
          <a:bodyPr wrap="square" rtlCol="0">
            <a:spAutoFit/>
          </a:bodyPr>
          <a:lstStyle/>
          <a:p>
            <a:pPr algn="ctr" rtl="1"/>
            <a:r>
              <a:rPr lang="ar-SY" sz="2400" b="1" dirty="0">
                <a:latin typeface="Simplified Arabic" panose="02020603050405020304" pitchFamily="18" charset="-78"/>
                <a:cs typeface="Simplified Arabic" panose="02020603050405020304" pitchFamily="18" charset="-78"/>
              </a:rPr>
              <a:t>يبدأ المستخدم برفع الصورة</a:t>
            </a:r>
            <a:endParaRPr lang="ar-SY" sz="2000" b="1" dirty="0">
              <a:latin typeface="Simplified Arabic" panose="02020603050405020304" pitchFamily="18" charset="-78"/>
              <a:cs typeface="Simplified Arabic" panose="02020603050405020304" pitchFamily="18" charset="-78"/>
            </a:endParaRPr>
          </a:p>
        </p:txBody>
      </p:sp>
      <p:sp>
        <p:nvSpPr>
          <p:cNvPr id="23" name="TextBox 22"/>
          <p:cNvSpPr txBox="1"/>
          <p:nvPr/>
        </p:nvSpPr>
        <p:spPr>
          <a:xfrm>
            <a:off x="1387245" y="5189767"/>
            <a:ext cx="2050382" cy="830997"/>
          </a:xfrm>
          <a:prstGeom prst="rect">
            <a:avLst/>
          </a:prstGeom>
          <a:noFill/>
        </p:spPr>
        <p:txBody>
          <a:bodyPr wrap="square" rtlCol="0">
            <a:spAutoFit/>
          </a:bodyPr>
          <a:lstStyle/>
          <a:p>
            <a:pPr algn="ctr" rtl="1"/>
            <a:r>
              <a:rPr lang="ar-SY" sz="2400" b="1" dirty="0">
                <a:latin typeface="Simplified Arabic" panose="02020603050405020304" pitchFamily="18" charset="-78"/>
                <a:cs typeface="Simplified Arabic" panose="02020603050405020304" pitchFamily="18" charset="-78"/>
              </a:rPr>
              <a:t>تخضع الصورة للمعالجة المسبقة</a:t>
            </a:r>
          </a:p>
        </p:txBody>
      </p:sp>
      <p:sp>
        <p:nvSpPr>
          <p:cNvPr id="24" name="TextBox 23"/>
          <p:cNvSpPr txBox="1"/>
          <p:nvPr/>
        </p:nvSpPr>
        <p:spPr>
          <a:xfrm>
            <a:off x="3482485" y="1588386"/>
            <a:ext cx="2374975" cy="1200329"/>
          </a:xfrm>
          <a:prstGeom prst="rect">
            <a:avLst/>
          </a:prstGeom>
          <a:noFill/>
        </p:spPr>
        <p:txBody>
          <a:bodyPr wrap="square" rtlCol="0">
            <a:spAutoFit/>
          </a:bodyPr>
          <a:lstStyle/>
          <a:p>
            <a:pPr algn="ctr" rtl="1"/>
            <a:r>
              <a:rPr lang="ar-SA" sz="2400" b="1" dirty="0">
                <a:latin typeface="Simplified Arabic" panose="02020603050405020304" pitchFamily="18" charset="-78"/>
                <a:cs typeface="Simplified Arabic" panose="02020603050405020304" pitchFamily="18" charset="-78"/>
              </a:rPr>
              <a:t>تشغيل نموذج </a:t>
            </a:r>
            <a:r>
              <a:rPr lang="en-US" sz="2200" b="1" dirty="0">
                <a:latin typeface="Simplified Arabic" panose="02020603050405020304" pitchFamily="18" charset="-78"/>
                <a:cs typeface="Simplified Arabic" panose="02020603050405020304" pitchFamily="18" charset="-78"/>
              </a:rPr>
              <a:t>EfficientNet-B0</a:t>
            </a:r>
            <a:r>
              <a:rPr lang="ar-SA" sz="2400" b="1" dirty="0">
                <a:latin typeface="Simplified Arabic" panose="02020603050405020304" pitchFamily="18" charset="-78"/>
                <a:cs typeface="Simplified Arabic" panose="02020603050405020304" pitchFamily="18" charset="-78"/>
              </a:rPr>
              <a:t> للتشخيص</a:t>
            </a:r>
            <a:endParaRPr lang="ar-SY" sz="2400" b="1" dirty="0">
              <a:latin typeface="Simplified Arabic" panose="02020603050405020304" pitchFamily="18" charset="-78"/>
              <a:cs typeface="Simplified Arabic" panose="02020603050405020304" pitchFamily="18" charset="-78"/>
            </a:endParaRPr>
          </a:p>
        </p:txBody>
      </p:sp>
      <p:sp>
        <p:nvSpPr>
          <p:cNvPr id="26" name="TextBox 25"/>
          <p:cNvSpPr txBox="1"/>
          <p:nvPr/>
        </p:nvSpPr>
        <p:spPr>
          <a:xfrm>
            <a:off x="6681570" y="1541687"/>
            <a:ext cx="2374975" cy="1200329"/>
          </a:xfrm>
          <a:prstGeom prst="rect">
            <a:avLst/>
          </a:prstGeom>
          <a:noFill/>
        </p:spPr>
        <p:txBody>
          <a:bodyPr wrap="square" rtlCol="0">
            <a:spAutoFit/>
          </a:bodyPr>
          <a:lstStyle/>
          <a:p>
            <a:pPr algn="ctr"/>
            <a:r>
              <a:rPr lang="ar-SA" sz="2400" b="1" dirty="0">
                <a:latin typeface="Simplified Arabic" panose="02020603050405020304" pitchFamily="18" charset="-78"/>
                <a:cs typeface="Simplified Arabic" panose="02020603050405020304" pitchFamily="18" charset="-78"/>
              </a:rPr>
              <a:t>عرض نتيجة التشخيص وتوصيات المعالجة للمستخدم</a:t>
            </a:r>
            <a:endParaRPr lang="ar-SY" sz="2400" dirty="0">
              <a:latin typeface="Simplified Arabic" panose="02020603050405020304" pitchFamily="18" charset="-78"/>
              <a:cs typeface="Simplified Arabic" panose="02020603050405020304" pitchFamily="18" charset="-78"/>
            </a:endParaRPr>
          </a:p>
        </p:txBody>
      </p:sp>
      <p:sp>
        <p:nvSpPr>
          <p:cNvPr id="27" name="TextBox 26"/>
          <p:cNvSpPr txBox="1"/>
          <p:nvPr/>
        </p:nvSpPr>
        <p:spPr>
          <a:xfrm>
            <a:off x="4510363" y="5202010"/>
            <a:ext cx="3218501" cy="830997"/>
          </a:xfrm>
          <a:prstGeom prst="rect">
            <a:avLst/>
          </a:prstGeom>
          <a:noFill/>
        </p:spPr>
        <p:txBody>
          <a:bodyPr wrap="square" rtlCol="0">
            <a:spAutoFit/>
          </a:bodyPr>
          <a:lstStyle/>
          <a:p>
            <a:pPr algn="ctr" rtl="1"/>
            <a:r>
              <a:rPr lang="ar-SA" sz="2400" b="1" dirty="0">
                <a:latin typeface="Simplified Arabic" panose="02020603050405020304" pitchFamily="18" charset="-78"/>
                <a:cs typeface="Simplified Arabic" panose="02020603050405020304" pitchFamily="18" charset="-78"/>
              </a:rPr>
              <a:t>استرجاع اسم المرض والوصف و توصيات المعالجة</a:t>
            </a:r>
            <a:endParaRPr lang="ar-SY" sz="2400" dirty="0">
              <a:latin typeface="Simplified Arabic" panose="02020603050405020304" pitchFamily="18" charset="-78"/>
              <a:cs typeface="Simplified Arabic" panose="02020603050405020304" pitchFamily="18" charset="-78"/>
            </a:endParaRPr>
          </a:p>
        </p:txBody>
      </p:sp>
      <p:sp>
        <p:nvSpPr>
          <p:cNvPr id="34" name="Striped Right Arrow 33"/>
          <p:cNvSpPr/>
          <p:nvPr/>
        </p:nvSpPr>
        <p:spPr>
          <a:xfrm rot="5400000">
            <a:off x="497902" y="2819329"/>
            <a:ext cx="468028" cy="300214"/>
          </a:xfrm>
          <a:prstGeom prst="stripedRightArrow">
            <a:avLst/>
          </a:prstGeom>
          <a:solidFill>
            <a:srgbClr val="008080"/>
          </a:solidFill>
          <a:ln>
            <a:solidFill>
              <a:schemeClr val="accent6">
                <a:lumMod val="50000"/>
              </a:schemeClr>
            </a:solidFill>
          </a:ln>
          <a:effectLst>
            <a:outerShdw blurRad="50800" dist="38100" dir="10800000" algn="r" rotWithShape="0">
              <a:prstClr val="black">
                <a:alpha val="40000"/>
              </a:prstClr>
            </a:outerShdw>
            <a:softEdge rad="12700"/>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p>
        </p:txBody>
      </p:sp>
      <p:sp>
        <p:nvSpPr>
          <p:cNvPr id="33" name="Striped Right Arrow 32"/>
          <p:cNvSpPr/>
          <p:nvPr/>
        </p:nvSpPr>
        <p:spPr>
          <a:xfrm rot="16200000">
            <a:off x="5929841" y="4729283"/>
            <a:ext cx="561681" cy="289321"/>
          </a:xfrm>
          <a:prstGeom prst="stripedRightArrow">
            <a:avLst/>
          </a:prstGeom>
          <a:solidFill>
            <a:srgbClr val="008080"/>
          </a:solidFill>
          <a:ln>
            <a:solidFill>
              <a:schemeClr val="accent6">
                <a:lumMod val="50000"/>
              </a:schemeClr>
            </a:solidFill>
          </a:ln>
          <a:effectLst>
            <a:outerShdw blurRad="50800" dist="38100" dir="10800000" algn="r" rotWithShape="0">
              <a:prstClr val="black">
                <a:alpha val="40000"/>
              </a:prstClr>
            </a:outerShdw>
            <a:softEdge rad="12700"/>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p>
        </p:txBody>
      </p:sp>
      <p:grpSp>
        <p:nvGrpSpPr>
          <p:cNvPr id="51" name="Group 50">
            <a:extLst>
              <a:ext uri="{FF2B5EF4-FFF2-40B4-BE49-F238E27FC236}">
                <a16:creationId xmlns:a16="http://schemas.microsoft.com/office/drawing/2014/main" id="{6CBB7A8A-E921-4655-B5A3-DC47B507C852}"/>
              </a:ext>
            </a:extLst>
          </p:cNvPr>
          <p:cNvGrpSpPr/>
          <p:nvPr/>
        </p:nvGrpSpPr>
        <p:grpSpPr>
          <a:xfrm>
            <a:off x="97479" y="2827227"/>
            <a:ext cx="8867009" cy="1742262"/>
            <a:chOff x="107503" y="2788715"/>
            <a:chExt cx="8949041" cy="1742262"/>
          </a:xfrm>
        </p:grpSpPr>
        <p:sp>
          <p:nvSpPr>
            <p:cNvPr id="15" name="Striped Right Arrow 14"/>
            <p:cNvSpPr/>
            <p:nvPr/>
          </p:nvSpPr>
          <p:spPr>
            <a:xfrm rot="5400000">
              <a:off x="4420711" y="2887479"/>
              <a:ext cx="498524" cy="300996"/>
            </a:xfrm>
            <a:prstGeom prst="stripedRightArrow">
              <a:avLst/>
            </a:prstGeom>
            <a:solidFill>
              <a:srgbClr val="008080"/>
            </a:solidFill>
            <a:ln>
              <a:solidFill>
                <a:schemeClr val="accent6">
                  <a:lumMod val="50000"/>
                </a:schemeClr>
              </a:solidFill>
            </a:ln>
            <a:effectLst>
              <a:outerShdw blurRad="50800" dist="38100" dir="10800000" algn="r" rotWithShape="0">
                <a:prstClr val="black">
                  <a:alpha val="40000"/>
                </a:prstClr>
              </a:outerShdw>
              <a:softEdge rad="12700"/>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p>
          </p:txBody>
        </p:sp>
        <p:sp>
          <p:nvSpPr>
            <p:cNvPr id="14" name="Striped Right Arrow 13"/>
            <p:cNvSpPr/>
            <p:nvPr/>
          </p:nvSpPr>
          <p:spPr>
            <a:xfrm>
              <a:off x="107503" y="3685582"/>
              <a:ext cx="8949041" cy="411769"/>
            </a:xfrm>
            <a:prstGeom prst="stripedRightArrow">
              <a:avLst/>
            </a:prstGeom>
            <a:solidFill>
              <a:srgbClr val="008080"/>
            </a:solidFill>
            <a:ln>
              <a:solidFill>
                <a:schemeClr val="accent6">
                  <a:lumMod val="50000"/>
                </a:schemeClr>
              </a:solidFill>
            </a:ln>
            <a:effectLst>
              <a:innerShdw blurRad="63500" dist="50800" dir="18900000">
                <a:prstClr val="black">
                  <a:alpha val="50000"/>
                </a:prstClr>
              </a:innerShd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25"/>
            </a:p>
          </p:txBody>
        </p:sp>
        <p:pic>
          <p:nvPicPr>
            <p:cNvPr id="12" name="Picture 11">
              <a:extLst>
                <a:ext uri="{FF2B5EF4-FFF2-40B4-BE49-F238E27FC236}">
                  <a16:creationId xmlns:a16="http://schemas.microsoft.com/office/drawing/2014/main" id="{B9F80810-3B88-4177-BD26-86696EA27FCE}"/>
                </a:ext>
              </a:extLst>
            </p:cNvPr>
            <p:cNvPicPr>
              <a:picLocks noChangeAspect="1"/>
            </p:cNvPicPr>
            <p:nvPr/>
          </p:nvPicPr>
          <p:blipFill>
            <a:blip r:embed="rId3"/>
            <a:stretch>
              <a:fillRect/>
            </a:stretch>
          </p:blipFill>
          <p:spPr>
            <a:xfrm>
              <a:off x="208622" y="3287239"/>
              <a:ext cx="1021112" cy="1200329"/>
            </a:xfrm>
            <a:prstGeom prst="rect">
              <a:avLst/>
            </a:prstGeom>
          </p:spPr>
        </p:pic>
        <p:pic>
          <p:nvPicPr>
            <p:cNvPr id="17" name="Picture 16">
              <a:extLst>
                <a:ext uri="{FF2B5EF4-FFF2-40B4-BE49-F238E27FC236}">
                  <a16:creationId xmlns:a16="http://schemas.microsoft.com/office/drawing/2014/main" id="{66B91829-3018-49B6-9820-ADEA8FB81D7A}"/>
                </a:ext>
              </a:extLst>
            </p:cNvPr>
            <p:cNvPicPr>
              <a:picLocks noChangeAspect="1"/>
            </p:cNvPicPr>
            <p:nvPr/>
          </p:nvPicPr>
          <p:blipFill>
            <a:blip r:embed="rId4"/>
            <a:stretch>
              <a:fillRect/>
            </a:stretch>
          </p:blipFill>
          <p:spPr>
            <a:xfrm>
              <a:off x="3797000" y="3304225"/>
              <a:ext cx="1460078" cy="1209005"/>
            </a:xfrm>
            <a:prstGeom prst="rect">
              <a:avLst/>
            </a:prstGeom>
          </p:spPr>
        </p:pic>
        <p:pic>
          <p:nvPicPr>
            <p:cNvPr id="44" name="Picture 43">
              <a:extLst>
                <a:ext uri="{FF2B5EF4-FFF2-40B4-BE49-F238E27FC236}">
                  <a16:creationId xmlns:a16="http://schemas.microsoft.com/office/drawing/2014/main" id="{FA8689F1-5C64-4101-8443-1D5A89166FF1}"/>
                </a:ext>
              </a:extLst>
            </p:cNvPr>
            <p:cNvPicPr>
              <a:picLocks noChangeAspect="1"/>
            </p:cNvPicPr>
            <p:nvPr/>
          </p:nvPicPr>
          <p:blipFill>
            <a:blip r:embed="rId5"/>
            <a:stretch>
              <a:fillRect/>
            </a:stretch>
          </p:blipFill>
          <p:spPr>
            <a:xfrm>
              <a:off x="1345385" y="3271506"/>
              <a:ext cx="2289457" cy="1259471"/>
            </a:xfrm>
            <a:prstGeom prst="rect">
              <a:avLst/>
            </a:prstGeom>
          </p:spPr>
        </p:pic>
        <p:pic>
          <p:nvPicPr>
            <p:cNvPr id="48" name="Picture 47">
              <a:extLst>
                <a:ext uri="{FF2B5EF4-FFF2-40B4-BE49-F238E27FC236}">
                  <a16:creationId xmlns:a16="http://schemas.microsoft.com/office/drawing/2014/main" id="{5437D0CE-D2D6-442C-BB82-C2CE363B4BA8}"/>
                </a:ext>
              </a:extLst>
            </p:cNvPr>
            <p:cNvPicPr>
              <a:picLocks noChangeAspect="1"/>
            </p:cNvPicPr>
            <p:nvPr/>
          </p:nvPicPr>
          <p:blipFill>
            <a:blip r:embed="rId6"/>
            <a:stretch>
              <a:fillRect/>
            </a:stretch>
          </p:blipFill>
          <p:spPr>
            <a:xfrm>
              <a:off x="7164287" y="3314917"/>
              <a:ext cx="1555875" cy="1172651"/>
            </a:xfrm>
            <a:prstGeom prst="rect">
              <a:avLst/>
            </a:prstGeom>
          </p:spPr>
        </p:pic>
        <p:pic>
          <p:nvPicPr>
            <p:cNvPr id="50" name="Picture 49">
              <a:extLst>
                <a:ext uri="{FF2B5EF4-FFF2-40B4-BE49-F238E27FC236}">
                  <a16:creationId xmlns:a16="http://schemas.microsoft.com/office/drawing/2014/main" id="{5D07FAA3-C9B5-47C5-B3FE-12A7EAF1DEE9}"/>
                </a:ext>
              </a:extLst>
            </p:cNvPr>
            <p:cNvPicPr>
              <a:picLocks noChangeAspect="1"/>
            </p:cNvPicPr>
            <p:nvPr/>
          </p:nvPicPr>
          <p:blipFill>
            <a:blip r:embed="rId7"/>
            <a:stretch>
              <a:fillRect/>
            </a:stretch>
          </p:blipFill>
          <p:spPr>
            <a:xfrm>
              <a:off x="5445919" y="3316317"/>
              <a:ext cx="1529526" cy="1203227"/>
            </a:xfrm>
            <a:prstGeom prst="rect">
              <a:avLst/>
            </a:prstGeom>
          </p:spPr>
        </p:pic>
      </p:grpSp>
      <p:sp>
        <p:nvSpPr>
          <p:cNvPr id="25" name="Slide Number Placeholder 4">
            <a:extLst>
              <a:ext uri="{FF2B5EF4-FFF2-40B4-BE49-F238E27FC236}">
                <a16:creationId xmlns:a16="http://schemas.microsoft.com/office/drawing/2014/main" id="{08846E8E-EFA5-424C-8E23-DBF917742549}"/>
              </a:ext>
            </a:extLst>
          </p:cNvPr>
          <p:cNvSpPr txBox="1">
            <a:spLocks/>
          </p:cNvSpPr>
          <p:nvPr/>
        </p:nvSpPr>
        <p:spPr>
          <a:xfrm>
            <a:off x="8388424" y="6330459"/>
            <a:ext cx="576064" cy="365125"/>
          </a:xfrm>
          <a:prstGeom prst="rect">
            <a:avLst/>
          </a:prstGeom>
        </p:spPr>
        <p:txBody>
          <a:bodyPr/>
          <a:lst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fld id="{0B34F065-1154-456A-91E3-76DE8E75E17B}" type="slidenum">
              <a:rPr lang="ar-SA" sz="2000" b="1" smtClean="0">
                <a:solidFill>
                  <a:schemeClr val="bg1">
                    <a:lumMod val="50000"/>
                  </a:schemeClr>
                </a:solidFill>
                <a:latin typeface="Simplified Arabic" panose="02020603050405020304" pitchFamily="18" charset="-78"/>
                <a:cs typeface="Simplified Arabic" panose="02020603050405020304" pitchFamily="18" charset="-78"/>
              </a:rPr>
              <a:pPr/>
              <a:t>9</a:t>
            </a:fld>
            <a:endParaRPr lang="ar-SA" b="1" dirty="0">
              <a:solidFill>
                <a:schemeClr val="bg1">
                  <a:lumMod val="50000"/>
                </a:schemeClr>
              </a:solidFill>
              <a:latin typeface="Simplified Arabic" panose="02020603050405020304" pitchFamily="18" charset="-78"/>
              <a:cs typeface="Simplified Arabic" panose="02020603050405020304" pitchFamily="18" charset="-78"/>
            </a:endParaRPr>
          </a:p>
        </p:txBody>
      </p:sp>
    </p:spTree>
    <p:extLst>
      <p:ext uri="{BB962C8B-B14F-4D97-AF65-F5344CB8AC3E}">
        <p14:creationId xmlns:p14="http://schemas.microsoft.com/office/powerpoint/2010/main" val="10717089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0E325D-6973-4676-A2E8-C18E751C7B1A}"/>
              </a:ext>
            </a:extLst>
          </p:cNvPr>
          <p:cNvSpPr>
            <a:spLocks noGrp="1"/>
          </p:cNvSpPr>
          <p:nvPr>
            <p:ph type="ctrTitle"/>
          </p:nvPr>
        </p:nvSpPr>
        <p:spPr>
          <a:xfrm>
            <a:off x="2573288" y="136525"/>
            <a:ext cx="3997424" cy="404664"/>
          </a:xfrm>
        </p:spPr>
        <p:txBody>
          <a:bodyPr>
            <a:noAutofit/>
          </a:bodyPr>
          <a:lstStyle/>
          <a:p>
            <a:r>
              <a:rPr lang="ar-SA" sz="3200" b="1" dirty="0"/>
              <a:t>مخطط حالات الاستخدام</a:t>
            </a:r>
            <a:endParaRPr lang="ar-SY" sz="5400" dirty="0"/>
          </a:p>
        </p:txBody>
      </p:sp>
      <p:sp>
        <p:nvSpPr>
          <p:cNvPr id="5" name="Slide Number Placeholder 4">
            <a:extLst>
              <a:ext uri="{FF2B5EF4-FFF2-40B4-BE49-F238E27FC236}">
                <a16:creationId xmlns:a16="http://schemas.microsoft.com/office/drawing/2014/main" id="{ED72447B-D7E1-4275-97C5-6DB39090CD28}"/>
              </a:ext>
            </a:extLst>
          </p:cNvPr>
          <p:cNvSpPr>
            <a:spLocks noGrp="1"/>
          </p:cNvSpPr>
          <p:nvPr>
            <p:ph type="sldNum" sz="quarter" idx="12"/>
          </p:nvPr>
        </p:nvSpPr>
        <p:spPr>
          <a:xfrm>
            <a:off x="8460432" y="6356350"/>
            <a:ext cx="576064" cy="365125"/>
          </a:xfrm>
        </p:spPr>
        <p:txBody>
          <a:bodyPr/>
          <a:lstStyle/>
          <a:p>
            <a:fld id="{0B34F065-1154-456A-91E3-76DE8E75E17B}" type="slidenum">
              <a:rPr lang="ar-SA" sz="2000" b="1" smtClean="0">
                <a:latin typeface="Simplified Arabic" panose="02020603050405020304" pitchFamily="18" charset="-78"/>
                <a:cs typeface="Simplified Arabic" panose="02020603050405020304" pitchFamily="18" charset="-78"/>
              </a:rPr>
              <a:t>10</a:t>
            </a:fld>
            <a:endParaRPr lang="ar-SA" b="1" dirty="0">
              <a:latin typeface="Simplified Arabic" panose="02020603050405020304" pitchFamily="18" charset="-78"/>
              <a:cs typeface="Simplified Arabic" panose="02020603050405020304" pitchFamily="18" charset="-78"/>
            </a:endParaRPr>
          </a:p>
        </p:txBody>
      </p:sp>
      <p:pic>
        <p:nvPicPr>
          <p:cNvPr id="7" name="Picture 6">
            <a:extLst>
              <a:ext uri="{FF2B5EF4-FFF2-40B4-BE49-F238E27FC236}">
                <a16:creationId xmlns:a16="http://schemas.microsoft.com/office/drawing/2014/main" id="{7FA4E3DB-D1C2-48EA-BFE8-7C6F7FF50A5A}"/>
              </a:ext>
            </a:extLst>
          </p:cNvPr>
          <p:cNvPicPr>
            <a:picLocks noChangeAspect="1"/>
          </p:cNvPicPr>
          <p:nvPr/>
        </p:nvPicPr>
        <p:blipFill>
          <a:blip r:embed="rId3"/>
          <a:stretch>
            <a:fillRect/>
          </a:stretch>
        </p:blipFill>
        <p:spPr>
          <a:xfrm>
            <a:off x="1180428" y="656991"/>
            <a:ext cx="6783144" cy="6064484"/>
          </a:xfrm>
          <a:prstGeom prst="rect">
            <a:avLst/>
          </a:prstGeom>
        </p:spPr>
      </p:pic>
    </p:spTree>
    <p:extLst>
      <p:ext uri="{BB962C8B-B14F-4D97-AF65-F5344CB8AC3E}">
        <p14:creationId xmlns:p14="http://schemas.microsoft.com/office/powerpoint/2010/main" val="15047021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0E325D-6973-4676-A2E8-C18E751C7B1A}"/>
              </a:ext>
            </a:extLst>
          </p:cNvPr>
          <p:cNvSpPr>
            <a:spLocks noGrp="1"/>
          </p:cNvSpPr>
          <p:nvPr>
            <p:ph type="ctrTitle"/>
          </p:nvPr>
        </p:nvSpPr>
        <p:spPr>
          <a:xfrm>
            <a:off x="5868144" y="3226668"/>
            <a:ext cx="3168352" cy="404664"/>
          </a:xfrm>
        </p:spPr>
        <p:txBody>
          <a:bodyPr>
            <a:normAutofit fontScale="90000"/>
          </a:bodyPr>
          <a:lstStyle/>
          <a:p>
            <a:r>
              <a:rPr lang="ar-SA" sz="2400" b="1" dirty="0"/>
              <a:t>مخطط التسلسل لأنشطة المستخدم</a:t>
            </a:r>
            <a:endParaRPr lang="ar-SY" dirty="0"/>
          </a:p>
        </p:txBody>
      </p:sp>
      <p:pic>
        <p:nvPicPr>
          <p:cNvPr id="2050" name="Picture 2">
            <a:extLst>
              <a:ext uri="{FF2B5EF4-FFF2-40B4-BE49-F238E27FC236}">
                <a16:creationId xmlns:a16="http://schemas.microsoft.com/office/drawing/2014/main" id="{77E35567-CBAC-46DD-9078-46808866107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3568" y="-5150"/>
            <a:ext cx="5431333" cy="686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4">
            <a:extLst>
              <a:ext uri="{FF2B5EF4-FFF2-40B4-BE49-F238E27FC236}">
                <a16:creationId xmlns:a16="http://schemas.microsoft.com/office/drawing/2014/main" id="{FE7C2B7B-1639-4E74-BBC0-158D64EC11B1}"/>
              </a:ext>
            </a:extLst>
          </p:cNvPr>
          <p:cNvSpPr>
            <a:spLocks noGrp="1"/>
          </p:cNvSpPr>
          <p:nvPr>
            <p:ph type="sldNum" sz="quarter" idx="12"/>
          </p:nvPr>
        </p:nvSpPr>
        <p:spPr>
          <a:xfrm>
            <a:off x="8450088" y="6381328"/>
            <a:ext cx="586408" cy="365125"/>
          </a:xfrm>
        </p:spPr>
        <p:txBody>
          <a:bodyPr/>
          <a:lstStyle/>
          <a:p>
            <a:fld id="{0B34F065-1154-456A-91E3-76DE8E75E17B}" type="slidenum">
              <a:rPr lang="ar-SA" sz="2000" b="1" smtClean="0">
                <a:latin typeface="Simplified Arabic" panose="02020603050405020304" pitchFamily="18" charset="-78"/>
                <a:cs typeface="Simplified Arabic" panose="02020603050405020304" pitchFamily="18" charset="-78"/>
              </a:rPr>
              <a:t>11</a:t>
            </a:fld>
            <a:endParaRPr lang="ar-SA" b="1" dirty="0">
              <a:latin typeface="Simplified Arabic" panose="02020603050405020304" pitchFamily="18" charset="-78"/>
              <a:cs typeface="Simplified Arabic" panose="02020603050405020304" pitchFamily="18" charset="-78"/>
            </a:endParaRPr>
          </a:p>
        </p:txBody>
      </p:sp>
    </p:spTree>
    <p:extLst>
      <p:ext uri="{BB962C8B-B14F-4D97-AF65-F5344CB8AC3E}">
        <p14:creationId xmlns:p14="http://schemas.microsoft.com/office/powerpoint/2010/main" val="18147457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E7C2B7B-1639-4E74-BBC0-158D64EC11B1}"/>
              </a:ext>
            </a:extLst>
          </p:cNvPr>
          <p:cNvSpPr>
            <a:spLocks noGrp="1"/>
          </p:cNvSpPr>
          <p:nvPr>
            <p:ph type="sldNum" sz="quarter" idx="12"/>
          </p:nvPr>
        </p:nvSpPr>
        <p:spPr>
          <a:xfrm>
            <a:off x="8503503" y="6381328"/>
            <a:ext cx="549485" cy="365125"/>
          </a:xfrm>
        </p:spPr>
        <p:txBody>
          <a:bodyPr/>
          <a:lstStyle/>
          <a:p>
            <a:fld id="{0B34F065-1154-456A-91E3-76DE8E75E17B}" type="slidenum">
              <a:rPr lang="ar-SA" sz="2000" b="1" smtClean="0">
                <a:latin typeface="Simplified Arabic" panose="02020603050405020304" pitchFamily="18" charset="-78"/>
                <a:cs typeface="Simplified Arabic" panose="02020603050405020304" pitchFamily="18" charset="-78"/>
              </a:rPr>
              <a:t>12</a:t>
            </a:fld>
            <a:endParaRPr lang="ar-SA" b="1" dirty="0">
              <a:latin typeface="Simplified Arabic" panose="02020603050405020304" pitchFamily="18" charset="-78"/>
              <a:cs typeface="Simplified Arabic" panose="02020603050405020304" pitchFamily="18" charset="-78"/>
            </a:endParaRPr>
          </a:p>
        </p:txBody>
      </p:sp>
      <p:pic>
        <p:nvPicPr>
          <p:cNvPr id="1026" name="Picture 1">
            <a:extLst>
              <a:ext uri="{FF2B5EF4-FFF2-40B4-BE49-F238E27FC236}">
                <a16:creationId xmlns:a16="http://schemas.microsoft.com/office/drawing/2014/main" id="{486A4492-527D-4CAD-93A5-F9FBB3482B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370" y="2492896"/>
            <a:ext cx="8965259" cy="2632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itle 2">
            <a:extLst>
              <a:ext uri="{FF2B5EF4-FFF2-40B4-BE49-F238E27FC236}">
                <a16:creationId xmlns:a16="http://schemas.microsoft.com/office/drawing/2014/main" id="{E26B6FD0-59F9-45A9-AB43-E7F6C6522C95}"/>
              </a:ext>
            </a:extLst>
          </p:cNvPr>
          <p:cNvSpPr>
            <a:spLocks noGrp="1"/>
          </p:cNvSpPr>
          <p:nvPr>
            <p:ph type="ctrTitle"/>
          </p:nvPr>
        </p:nvSpPr>
        <p:spPr>
          <a:xfrm>
            <a:off x="1006685" y="590924"/>
            <a:ext cx="7130627" cy="857573"/>
          </a:xfrm>
        </p:spPr>
        <p:txBody>
          <a:bodyPr>
            <a:noAutofit/>
          </a:bodyPr>
          <a:lstStyle/>
          <a:p>
            <a:r>
              <a:rPr lang="ar-SA" sz="3200" b="1" kern="100" dirty="0">
                <a:effectLst/>
                <a:ea typeface="Times New Roman" panose="02020603050405020304" pitchFamily="18" charset="0"/>
                <a:cs typeface="Simplified Arabic" panose="02020603050405020304" pitchFamily="18" charset="-78"/>
              </a:rPr>
              <a:t>مخطط الكيان والعلاقة (</a:t>
            </a:r>
            <a:r>
              <a:rPr lang="en-US" sz="3200" b="1" kern="100" dirty="0">
                <a:effectLst/>
                <a:latin typeface="Times New Roman" panose="02020603050405020304" pitchFamily="18" charset="0"/>
                <a:ea typeface="Times New Roman" panose="02020603050405020304" pitchFamily="18" charset="0"/>
              </a:rPr>
              <a:t>ERD</a:t>
            </a:r>
            <a:r>
              <a:rPr lang="ar-SA" sz="3200" b="1" kern="100" dirty="0">
                <a:effectLst/>
                <a:ea typeface="Times New Roman" panose="02020603050405020304" pitchFamily="18" charset="0"/>
                <a:cs typeface="Simplified Arabic" panose="02020603050405020304" pitchFamily="18" charset="-78"/>
              </a:rPr>
              <a:t>) لقاعدة بيانات النظام</a:t>
            </a:r>
            <a:endParaRPr lang="ar-SY" sz="8800" dirty="0"/>
          </a:p>
        </p:txBody>
      </p:sp>
    </p:spTree>
    <p:extLst>
      <p:ext uri="{BB962C8B-B14F-4D97-AF65-F5344CB8AC3E}">
        <p14:creationId xmlns:p14="http://schemas.microsoft.com/office/powerpoint/2010/main" val="28451540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0"/>
          <p:cNvSpPr/>
          <p:nvPr/>
        </p:nvSpPr>
        <p:spPr>
          <a:xfrm>
            <a:off x="4216648" y="233729"/>
            <a:ext cx="4392017" cy="375047"/>
          </a:xfrm>
          <a:prstGeom prst="rect">
            <a:avLst/>
          </a:prstGeom>
          <a:noFill/>
          <a:ln/>
        </p:spPr>
        <p:txBody>
          <a:bodyPr wrap="none" lIns="0" tIns="0" rIns="0" bIns="0" rtlCol="0" anchor="t"/>
          <a:lstStyle/>
          <a:p>
            <a:pPr>
              <a:lnSpc>
                <a:spcPct val="104000"/>
              </a:lnSpc>
            </a:pPr>
            <a:r>
              <a:rPr lang="ar-SA" sz="2350" b="1" dirty="0"/>
              <a:t>معالجة الصور الرقمية وزيادة البيانات:</a:t>
            </a:r>
          </a:p>
        </p:txBody>
      </p:sp>
      <p:sp>
        <p:nvSpPr>
          <p:cNvPr id="13" name="Text 1"/>
          <p:cNvSpPr/>
          <p:nvPr/>
        </p:nvSpPr>
        <p:spPr>
          <a:xfrm>
            <a:off x="7092280" y="976841"/>
            <a:ext cx="1516385" cy="410815"/>
          </a:xfrm>
          <a:prstGeom prst="rect">
            <a:avLst/>
          </a:prstGeom>
          <a:noFill/>
          <a:ln/>
        </p:spPr>
        <p:txBody>
          <a:bodyPr wrap="none" lIns="0" tIns="0" rIns="0" bIns="0" rtlCol="0" anchor="t"/>
          <a:lstStyle/>
          <a:p>
            <a:pPr>
              <a:lnSpc>
                <a:spcPct val="104000"/>
              </a:lnSpc>
            </a:pPr>
            <a:r>
              <a:rPr lang="ar-SA" altLang="en-US" sz="2000" b="1" dirty="0">
                <a:solidFill>
                  <a:srgbClr val="000000"/>
                </a:solidFill>
                <a:latin typeface="Simplified Arabic" pitchFamily="18" charset="-78"/>
                <a:ea typeface="Prompt Medium" pitchFamily="34" charset="-122"/>
                <a:cs typeface="Simplified Arabic" pitchFamily="18" charset="-78"/>
              </a:rPr>
              <a:t>المعالجة المسبقة</a:t>
            </a:r>
            <a:endParaRPr lang="ar-SA" sz="2000" b="1" dirty="0">
              <a:latin typeface="Simplified Arabic" pitchFamily="18" charset="-78"/>
              <a:cs typeface="Simplified Arabic" pitchFamily="18" charset="-78"/>
            </a:endParaRPr>
          </a:p>
        </p:txBody>
      </p:sp>
      <p:sp>
        <p:nvSpPr>
          <p:cNvPr id="14" name="Text 2"/>
          <p:cNvSpPr/>
          <p:nvPr/>
        </p:nvSpPr>
        <p:spPr>
          <a:xfrm>
            <a:off x="3995936" y="1387657"/>
            <a:ext cx="4824537" cy="1753312"/>
          </a:xfrm>
          <a:prstGeom prst="rect">
            <a:avLst/>
          </a:prstGeom>
          <a:noFill/>
          <a:ln/>
        </p:spPr>
        <p:txBody>
          <a:bodyPr wrap="square" lIns="0" tIns="0" rIns="0" bIns="0" rtlCol="0" anchor="t">
            <a:noAutofit/>
          </a:bodyPr>
          <a:lstStyle/>
          <a:p>
            <a:pPr marL="213360" indent="-213360">
              <a:lnSpc>
                <a:spcPct val="125000"/>
              </a:lnSpc>
              <a:buSzPct val="100000"/>
              <a:buChar char="•"/>
            </a:pPr>
            <a:r>
              <a:rPr lang="ar-SA" sz="2000" dirty="0">
                <a:latin typeface="Simplified Arabic" pitchFamily="18" charset="-78"/>
                <a:cs typeface="Simplified Arabic" pitchFamily="18" charset="-78"/>
              </a:rPr>
              <a:t>تغيير حجم الصور إلى 224×224 بكسل ( متوافق مع نموذج </a:t>
            </a:r>
            <a:r>
              <a:rPr lang="en-US" sz="1900" dirty="0">
                <a:latin typeface="Simplified Arabic" pitchFamily="18" charset="-78"/>
                <a:cs typeface="+mj-cs"/>
              </a:rPr>
              <a:t>EfficientNet-B0</a:t>
            </a:r>
            <a:r>
              <a:rPr lang="ar-SA" sz="2000" dirty="0">
                <a:latin typeface="Simplified Arabic" pitchFamily="18" charset="-78"/>
                <a:cs typeface="Simplified Arabic" pitchFamily="18" charset="-78"/>
              </a:rPr>
              <a:t> </a:t>
            </a:r>
            <a:r>
              <a:rPr lang="en-US" sz="2000" dirty="0">
                <a:latin typeface="Simplified Arabic" pitchFamily="18" charset="-78"/>
                <a:cs typeface="Simplified Arabic" pitchFamily="18" charset="-78"/>
              </a:rPr>
              <a:t>(</a:t>
            </a:r>
            <a:r>
              <a:rPr lang="ar-SA" sz="2000" dirty="0">
                <a:latin typeface="Simplified Arabic" pitchFamily="18" charset="-78"/>
                <a:cs typeface="Simplified Arabic" pitchFamily="18" charset="-78"/>
              </a:rPr>
              <a:t>.</a:t>
            </a:r>
            <a:endParaRPr lang="en-US" sz="2000" dirty="0">
              <a:latin typeface="Simplified Arabic" pitchFamily="18" charset="-78"/>
              <a:cs typeface="Simplified Arabic" pitchFamily="18" charset="-78"/>
            </a:endParaRPr>
          </a:p>
          <a:p>
            <a:pPr marL="213360" indent="-213360">
              <a:lnSpc>
                <a:spcPct val="125000"/>
              </a:lnSpc>
              <a:buSzPct val="100000"/>
              <a:buChar char="•"/>
            </a:pPr>
            <a:r>
              <a:rPr lang="ar-SA" sz="2000" dirty="0">
                <a:latin typeface="Simplified Arabic" pitchFamily="18" charset="-78"/>
                <a:cs typeface="Simplified Arabic" pitchFamily="18" charset="-78"/>
              </a:rPr>
              <a:t>تطبيع قيم البكسلات وفق معايير </a:t>
            </a:r>
            <a:r>
              <a:rPr lang="en-US" sz="1900" dirty="0">
                <a:latin typeface="Simplified Arabic" pitchFamily="18" charset="-78"/>
                <a:cs typeface="Simplified Arabic" pitchFamily="18" charset="-78"/>
              </a:rPr>
              <a:t>ImageNet</a:t>
            </a:r>
            <a:r>
              <a:rPr lang="ar-SA" sz="2000" dirty="0">
                <a:latin typeface="Simplified Arabic" pitchFamily="18" charset="-78"/>
                <a:cs typeface="Simplified Arabic" pitchFamily="18" charset="-78"/>
              </a:rPr>
              <a:t>.</a:t>
            </a:r>
          </a:p>
          <a:p>
            <a:pPr marL="213360" indent="-213360">
              <a:lnSpc>
                <a:spcPct val="125000"/>
              </a:lnSpc>
              <a:buSzPct val="100000"/>
              <a:buChar char="•"/>
            </a:pPr>
            <a:r>
              <a:rPr lang="ar-SA" sz="2000" dirty="0">
                <a:latin typeface="Simplified Arabic" pitchFamily="18" charset="-78"/>
                <a:cs typeface="Simplified Arabic" pitchFamily="18" charset="-78"/>
              </a:rPr>
              <a:t>تحويل الصور إلى</a:t>
            </a:r>
            <a:r>
              <a:rPr lang="en-US" sz="1900" dirty="0">
                <a:latin typeface="Simplified Arabic" pitchFamily="18" charset="-78"/>
                <a:cs typeface="Simplified Arabic" pitchFamily="18" charset="-78"/>
              </a:rPr>
              <a:t>Tensor</a:t>
            </a:r>
            <a:r>
              <a:rPr lang="en-US" sz="2000" dirty="0">
                <a:latin typeface="Simplified Arabic" pitchFamily="18" charset="-78"/>
                <a:cs typeface="Simplified Arabic" pitchFamily="18" charset="-78"/>
              </a:rPr>
              <a:t> </a:t>
            </a:r>
            <a:r>
              <a:rPr lang="ar-SA" sz="2000" dirty="0">
                <a:latin typeface="Simplified Arabic" pitchFamily="18" charset="-78"/>
                <a:cs typeface="Simplified Arabic" pitchFamily="18" charset="-78"/>
              </a:rPr>
              <a:t> ضمن إطار </a:t>
            </a:r>
            <a:r>
              <a:rPr lang="en-US" sz="1900" dirty="0">
                <a:latin typeface="Simplified Arabic" pitchFamily="18" charset="-78"/>
                <a:cs typeface="Simplified Arabic" pitchFamily="18" charset="-78"/>
              </a:rPr>
              <a:t>PyTorch</a:t>
            </a:r>
            <a:r>
              <a:rPr lang="ar-SA" sz="2000" dirty="0">
                <a:latin typeface="Simplified Arabic" pitchFamily="18" charset="-78"/>
                <a:cs typeface="Simplified Arabic" pitchFamily="18" charset="-78"/>
              </a:rPr>
              <a:t>.</a:t>
            </a:r>
          </a:p>
        </p:txBody>
      </p:sp>
      <p:sp>
        <p:nvSpPr>
          <p:cNvPr id="15" name="Text 3"/>
          <p:cNvSpPr/>
          <p:nvPr/>
        </p:nvSpPr>
        <p:spPr>
          <a:xfrm>
            <a:off x="3923928" y="3140969"/>
            <a:ext cx="4896545" cy="780853"/>
          </a:xfrm>
          <a:prstGeom prst="rect">
            <a:avLst/>
          </a:prstGeom>
          <a:noFill/>
          <a:ln/>
        </p:spPr>
        <p:txBody>
          <a:bodyPr wrap="square" lIns="0" tIns="0" rIns="0" bIns="0" rtlCol="0" anchor="t">
            <a:normAutofit/>
          </a:bodyPr>
          <a:lstStyle/>
          <a:p>
            <a:pPr>
              <a:lnSpc>
                <a:spcPct val="104000"/>
              </a:lnSpc>
            </a:pPr>
            <a:r>
              <a:rPr lang="ar-SA" sz="2000" b="1" dirty="0">
                <a:latin typeface="Simplified Arabic" pitchFamily="18" charset="-78"/>
                <a:cs typeface="Simplified Arabic" pitchFamily="18" charset="-78"/>
              </a:rPr>
              <a:t>زيادة البيانات (</a:t>
            </a:r>
            <a:r>
              <a:rPr lang="en-US" sz="1900" b="1" dirty="0">
                <a:latin typeface="Simplified Arabic" pitchFamily="18" charset="-78"/>
                <a:cs typeface="Simplified Arabic" pitchFamily="18" charset="-78"/>
              </a:rPr>
              <a:t>Data Augmentation</a:t>
            </a:r>
            <a:r>
              <a:rPr lang="ar-SA" sz="2000" b="1" dirty="0">
                <a:latin typeface="Simplified Arabic" pitchFamily="18" charset="-78"/>
                <a:cs typeface="Simplified Arabic" pitchFamily="18" charset="-78"/>
              </a:rPr>
              <a:t>)</a:t>
            </a:r>
            <a:r>
              <a:rPr lang="en-US" sz="2000" b="1" dirty="0">
                <a:latin typeface="Simplified Arabic" pitchFamily="18" charset="-78"/>
                <a:cs typeface="Simplified Arabic" pitchFamily="18" charset="-78"/>
              </a:rPr>
              <a:t> — </a:t>
            </a:r>
            <a:r>
              <a:rPr lang="ar-SA" sz="2000" b="1" dirty="0">
                <a:latin typeface="Simplified Arabic" pitchFamily="18" charset="-78"/>
                <a:cs typeface="Simplified Arabic" pitchFamily="18" charset="-78"/>
              </a:rPr>
              <a:t> مكتبة (</a:t>
            </a:r>
            <a:r>
              <a:rPr lang="en-US" sz="1900" b="1" dirty="0">
                <a:latin typeface="Simplified Arabic" pitchFamily="18" charset="-78"/>
                <a:cs typeface="+mj-cs"/>
              </a:rPr>
              <a:t>Albumentations</a:t>
            </a:r>
            <a:r>
              <a:rPr lang="ar-SA" sz="2000" b="1" dirty="0">
                <a:latin typeface="Simplified Arabic" pitchFamily="18" charset="-78"/>
                <a:cs typeface="Simplified Arabic" pitchFamily="18" charset="-78"/>
              </a:rPr>
              <a:t>)</a:t>
            </a:r>
          </a:p>
        </p:txBody>
      </p:sp>
      <p:sp>
        <p:nvSpPr>
          <p:cNvPr id="16" name="Text 4"/>
          <p:cNvSpPr/>
          <p:nvPr/>
        </p:nvSpPr>
        <p:spPr>
          <a:xfrm>
            <a:off x="3995936" y="3979762"/>
            <a:ext cx="4824537" cy="1370258"/>
          </a:xfrm>
          <a:prstGeom prst="rect">
            <a:avLst/>
          </a:prstGeom>
          <a:noFill/>
          <a:ln/>
        </p:spPr>
        <p:txBody>
          <a:bodyPr wrap="square" lIns="0" tIns="0" rIns="0" bIns="0" rtlCol="0" anchor="t">
            <a:normAutofit/>
          </a:bodyPr>
          <a:lstStyle/>
          <a:p>
            <a:pPr marL="213360" indent="-213360">
              <a:lnSpc>
                <a:spcPct val="125000"/>
              </a:lnSpc>
              <a:buSzPct val="100000"/>
              <a:buChar char="•"/>
            </a:pPr>
            <a:r>
              <a:rPr lang="ar-SA" sz="2000" dirty="0">
                <a:latin typeface="Simplified Arabic" pitchFamily="18" charset="-78"/>
                <a:cs typeface="Simplified Arabic" pitchFamily="18" charset="-78"/>
              </a:rPr>
              <a:t>التدوير العشوائي والانعكاس الأفقي.</a:t>
            </a:r>
          </a:p>
          <a:p>
            <a:pPr marL="213360" indent="-213360">
              <a:lnSpc>
                <a:spcPct val="125000"/>
              </a:lnSpc>
              <a:buSzPct val="100000"/>
              <a:buChar char="•"/>
            </a:pPr>
            <a:r>
              <a:rPr lang="ar-SA" sz="2000" dirty="0">
                <a:latin typeface="Simplified Arabic" pitchFamily="18" charset="-78"/>
                <a:cs typeface="Simplified Arabic" pitchFamily="18" charset="-78"/>
              </a:rPr>
              <a:t>تعديل السطوع والتباين.</a:t>
            </a:r>
          </a:p>
          <a:p>
            <a:pPr marL="213360" indent="-213360">
              <a:lnSpc>
                <a:spcPct val="125000"/>
              </a:lnSpc>
              <a:buSzPct val="100000"/>
              <a:buChar char="•"/>
            </a:pPr>
            <a:r>
              <a:rPr lang="ar-SA" sz="2000" dirty="0">
                <a:latin typeface="Simplified Arabic" pitchFamily="18" charset="-78"/>
                <a:cs typeface="Simplified Arabic" pitchFamily="18" charset="-78"/>
              </a:rPr>
              <a:t>التكبير والتصغير الطفيف والتحويلات الهندسية.</a:t>
            </a:r>
          </a:p>
        </p:txBody>
      </p:sp>
      <p:sp>
        <p:nvSpPr>
          <p:cNvPr id="17" name="Text 5"/>
          <p:cNvSpPr/>
          <p:nvPr/>
        </p:nvSpPr>
        <p:spPr>
          <a:xfrm>
            <a:off x="4211959" y="5407960"/>
            <a:ext cx="4608042" cy="933997"/>
          </a:xfrm>
          <a:prstGeom prst="rect">
            <a:avLst/>
          </a:prstGeom>
          <a:noFill/>
          <a:ln/>
        </p:spPr>
        <p:txBody>
          <a:bodyPr wrap="square" lIns="0" tIns="0" rIns="0" bIns="0" rtlCol="0" anchor="t">
            <a:noAutofit/>
          </a:bodyPr>
          <a:lstStyle/>
          <a:p>
            <a:pPr marL="213360" indent="-213360">
              <a:lnSpc>
                <a:spcPct val="125000"/>
              </a:lnSpc>
              <a:buSzPct val="100000"/>
              <a:buChar char="•"/>
            </a:pPr>
            <a:r>
              <a:rPr lang="ar-SA" altLang="en-US" sz="2000" dirty="0">
                <a:latin typeface="Simplified Arabic" pitchFamily="18" charset="-78"/>
                <a:cs typeface="Simplified Arabic" pitchFamily="18" charset="-78"/>
              </a:rPr>
              <a:t>ساهمت هذه العمليات في تحسين قدرة النموذج على التعميم وتقليل احتمالية زيادة الملاءمة (</a:t>
            </a:r>
            <a:r>
              <a:rPr lang="ar-SA" altLang="en-US" sz="1900" dirty="0">
                <a:latin typeface="Simplified Arabic" pitchFamily="18" charset="-78"/>
                <a:cs typeface="+mj-cs"/>
              </a:rPr>
              <a:t>Overfitting</a:t>
            </a:r>
            <a:r>
              <a:rPr lang="ar-SA" altLang="en-US" sz="2000" dirty="0">
                <a:latin typeface="Simplified Arabic" pitchFamily="18" charset="-78"/>
                <a:cs typeface="Simplified Arabic" pitchFamily="18" charset="-78"/>
              </a:rPr>
              <a:t>).</a:t>
            </a:r>
            <a:endParaRPr lang="ar-SA" sz="2000" dirty="0">
              <a:latin typeface="Simplified Arabic" pitchFamily="18" charset="-78"/>
              <a:cs typeface="Simplified Arabic" pitchFamily="18" charset="-78"/>
            </a:endParaRPr>
          </a:p>
        </p:txBody>
      </p:sp>
      <p:sp>
        <p:nvSpPr>
          <p:cNvPr id="4" name="Slide Number Placeholder 3">
            <a:extLst>
              <a:ext uri="{FF2B5EF4-FFF2-40B4-BE49-F238E27FC236}">
                <a16:creationId xmlns:a16="http://schemas.microsoft.com/office/drawing/2014/main" id="{3D7CFAE7-D7C9-4591-9556-ADE598EE4511}"/>
              </a:ext>
            </a:extLst>
          </p:cNvPr>
          <p:cNvSpPr>
            <a:spLocks noGrp="1"/>
          </p:cNvSpPr>
          <p:nvPr>
            <p:ph type="sldNum" sz="quarter" idx="12"/>
          </p:nvPr>
        </p:nvSpPr>
        <p:spPr>
          <a:xfrm>
            <a:off x="8346349" y="6344826"/>
            <a:ext cx="524632" cy="365125"/>
          </a:xfrm>
        </p:spPr>
        <p:txBody>
          <a:bodyPr/>
          <a:lstStyle/>
          <a:p>
            <a:fld id="{0B34F065-1154-456A-91E3-76DE8E75E17B}" type="slidenum">
              <a:rPr lang="ar-SA" sz="2000" b="1" smtClean="0">
                <a:latin typeface="Simplified Arabic" panose="02020603050405020304" pitchFamily="18" charset="-78"/>
                <a:cs typeface="Simplified Arabic" panose="02020603050405020304" pitchFamily="18" charset="-78"/>
              </a:rPr>
              <a:t>13</a:t>
            </a:fld>
            <a:endParaRPr lang="ar-SA" sz="2000" b="1" dirty="0">
              <a:latin typeface="Simplified Arabic" panose="02020603050405020304" pitchFamily="18" charset="-78"/>
              <a:cs typeface="Simplified Arabic" panose="02020603050405020304" pitchFamily="18" charset="-78"/>
            </a:endParaRPr>
          </a:p>
        </p:txBody>
      </p:sp>
      <p:pic>
        <p:nvPicPr>
          <p:cNvPr id="12" name="Picture 1">
            <a:extLst>
              <a:ext uri="{FF2B5EF4-FFF2-40B4-BE49-F238E27FC236}">
                <a16:creationId xmlns:a16="http://schemas.microsoft.com/office/drawing/2014/main" id="{477379DA-3221-4591-A002-AAAA1D4EC0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3031849"/>
            <a:ext cx="4211958" cy="3678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a:extLst>
              <a:ext uri="{FF2B5EF4-FFF2-40B4-BE49-F238E27FC236}">
                <a16:creationId xmlns:a16="http://schemas.microsoft.com/office/drawing/2014/main" id="{D4DAE5EE-1247-4750-9B7D-B58DCE408ADA}"/>
              </a:ext>
            </a:extLst>
          </p:cNvPr>
          <p:cNvPicPr>
            <a:picLocks noChangeAspect="1"/>
          </p:cNvPicPr>
          <p:nvPr/>
        </p:nvPicPr>
        <p:blipFill>
          <a:blip r:embed="rId4"/>
          <a:stretch>
            <a:fillRect/>
          </a:stretch>
        </p:blipFill>
        <p:spPr>
          <a:xfrm>
            <a:off x="0" y="1"/>
            <a:ext cx="3782471" cy="3031848"/>
          </a:xfrm>
          <a:prstGeom prst="rect">
            <a:avLst/>
          </a:prstGeom>
        </p:spPr>
      </p:pic>
    </p:spTree>
    <p:extLst>
      <p:ext uri="{BB962C8B-B14F-4D97-AF65-F5344CB8AC3E}">
        <p14:creationId xmlns:p14="http://schemas.microsoft.com/office/powerpoint/2010/main" val="7381650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 0"/>
          <p:cNvSpPr/>
          <p:nvPr/>
        </p:nvSpPr>
        <p:spPr>
          <a:xfrm>
            <a:off x="2442606" y="411678"/>
            <a:ext cx="4526116" cy="576107"/>
          </a:xfrm>
          <a:prstGeom prst="rect">
            <a:avLst/>
          </a:prstGeom>
          <a:noFill/>
          <a:ln/>
        </p:spPr>
        <p:txBody>
          <a:bodyPr wrap="none" lIns="0" tIns="0" rIns="0" bIns="0" rtlCol="0" anchor="t"/>
          <a:lstStyle/>
          <a:p>
            <a:pPr algn="ctr">
              <a:lnSpc>
                <a:spcPct val="104000"/>
              </a:lnSpc>
            </a:pPr>
            <a:r>
              <a:rPr lang="ar-SA" sz="2800" b="1" dirty="0"/>
              <a:t>نموذج</a:t>
            </a:r>
            <a:r>
              <a:rPr lang="en-US" sz="2600" b="1" dirty="0"/>
              <a:t>EfficientNet-B0</a:t>
            </a:r>
            <a:r>
              <a:rPr lang="en-US" sz="2800" b="1" dirty="0"/>
              <a:t>  </a:t>
            </a:r>
            <a:r>
              <a:rPr lang="ar-SA" sz="2800" b="1" dirty="0"/>
              <a:t> والتدريب</a:t>
            </a:r>
          </a:p>
        </p:txBody>
      </p:sp>
      <p:pic>
        <p:nvPicPr>
          <p:cNvPr id="34" name="Image 0" descr="preencoded.png"/>
          <p:cNvPicPr>
            <a:picLocks noChangeAspect="1"/>
          </p:cNvPicPr>
          <p:nvPr/>
        </p:nvPicPr>
        <p:blipFill>
          <a:blip r:embed="rId3"/>
          <a:stretch>
            <a:fillRect/>
          </a:stretch>
        </p:blipFill>
        <p:spPr>
          <a:xfrm>
            <a:off x="759539" y="912248"/>
            <a:ext cx="7892249" cy="3305311"/>
          </a:xfrm>
          <a:prstGeom prst="rect">
            <a:avLst/>
          </a:prstGeom>
        </p:spPr>
      </p:pic>
      <p:sp>
        <p:nvSpPr>
          <p:cNvPr id="35" name="Text 1"/>
          <p:cNvSpPr/>
          <p:nvPr/>
        </p:nvSpPr>
        <p:spPr>
          <a:xfrm>
            <a:off x="1187624" y="3532392"/>
            <a:ext cx="1177322" cy="417552"/>
          </a:xfrm>
          <a:prstGeom prst="rect">
            <a:avLst/>
          </a:prstGeom>
          <a:noFill/>
          <a:ln/>
        </p:spPr>
        <p:txBody>
          <a:bodyPr wrap="none" lIns="0" tIns="0" rIns="0" bIns="0" rtlCol="0" anchor="t"/>
          <a:lstStyle/>
          <a:p>
            <a:pPr algn="ctr">
              <a:lnSpc>
                <a:spcPct val="104000"/>
              </a:lnSpc>
            </a:pPr>
            <a:r>
              <a:rPr lang="ar-SA" sz="2000" dirty="0">
                <a:latin typeface="Simplified Arabic" pitchFamily="18" charset="-78"/>
                <a:cs typeface="Simplified Arabic" pitchFamily="18" charset="-78"/>
              </a:rPr>
              <a:t>تقييم النتائج</a:t>
            </a:r>
          </a:p>
        </p:txBody>
      </p:sp>
      <p:sp>
        <p:nvSpPr>
          <p:cNvPr id="36" name="Text 2"/>
          <p:cNvSpPr/>
          <p:nvPr/>
        </p:nvSpPr>
        <p:spPr>
          <a:xfrm>
            <a:off x="3203848" y="3512157"/>
            <a:ext cx="1177321" cy="492906"/>
          </a:xfrm>
          <a:prstGeom prst="rect">
            <a:avLst/>
          </a:prstGeom>
          <a:noFill/>
          <a:ln/>
        </p:spPr>
        <p:txBody>
          <a:bodyPr wrap="none" lIns="0" tIns="0" rIns="0" bIns="0" rtlCol="0" anchor="t"/>
          <a:lstStyle/>
          <a:p>
            <a:pPr marL="0" indent="0" algn="ctr" rtl="1">
              <a:lnSpc>
                <a:spcPct val="104000"/>
              </a:lnSpc>
              <a:buNone/>
            </a:pPr>
            <a:endParaRPr lang="ar-SA" sz="1250" dirty="0"/>
          </a:p>
        </p:txBody>
      </p:sp>
      <p:sp>
        <p:nvSpPr>
          <p:cNvPr id="37" name="Text 3"/>
          <p:cNvSpPr/>
          <p:nvPr/>
        </p:nvSpPr>
        <p:spPr>
          <a:xfrm>
            <a:off x="4705665" y="3544188"/>
            <a:ext cx="1728192" cy="417553"/>
          </a:xfrm>
          <a:prstGeom prst="rect">
            <a:avLst/>
          </a:prstGeom>
          <a:noFill/>
          <a:ln/>
        </p:spPr>
        <p:txBody>
          <a:bodyPr wrap="none" lIns="0" tIns="0" rIns="0" bIns="0" rtlCol="0" anchor="t"/>
          <a:lstStyle/>
          <a:p>
            <a:pPr algn="ctr">
              <a:lnSpc>
                <a:spcPct val="104000"/>
              </a:lnSpc>
            </a:pPr>
            <a:r>
              <a:rPr lang="ar-SA" sz="2000" dirty="0">
                <a:latin typeface="Simplified Arabic" pitchFamily="18" charset="-78"/>
                <a:cs typeface="Simplified Arabic" pitchFamily="18" charset="-78"/>
              </a:rPr>
              <a:t>استبدال طبقة التصنيف</a:t>
            </a:r>
          </a:p>
        </p:txBody>
      </p:sp>
      <p:sp>
        <p:nvSpPr>
          <p:cNvPr id="38" name="Text 4"/>
          <p:cNvSpPr/>
          <p:nvPr/>
        </p:nvSpPr>
        <p:spPr>
          <a:xfrm>
            <a:off x="6804248" y="3571747"/>
            <a:ext cx="1417403" cy="362433"/>
          </a:xfrm>
          <a:prstGeom prst="rect">
            <a:avLst/>
          </a:prstGeom>
          <a:noFill/>
          <a:ln/>
        </p:spPr>
        <p:txBody>
          <a:bodyPr wrap="none" lIns="0" tIns="0" rIns="0" bIns="0" rtlCol="0" anchor="t"/>
          <a:lstStyle/>
          <a:p>
            <a:pPr algn="ctr">
              <a:lnSpc>
                <a:spcPct val="104000"/>
              </a:lnSpc>
            </a:pPr>
            <a:r>
              <a:rPr lang="ar-SA" sz="2000" dirty="0">
                <a:latin typeface="Simplified Arabic" pitchFamily="18" charset="-78"/>
                <a:cs typeface="Simplified Arabic" pitchFamily="18" charset="-78"/>
              </a:rPr>
              <a:t>تحميل النموذج</a:t>
            </a:r>
          </a:p>
        </p:txBody>
      </p:sp>
      <p:sp>
        <p:nvSpPr>
          <p:cNvPr id="39" name="Text 5"/>
          <p:cNvSpPr/>
          <p:nvPr/>
        </p:nvSpPr>
        <p:spPr>
          <a:xfrm>
            <a:off x="323528" y="4399344"/>
            <a:ext cx="8496944" cy="1957006"/>
          </a:xfrm>
          <a:prstGeom prst="rect">
            <a:avLst/>
          </a:prstGeom>
          <a:noFill/>
          <a:ln/>
        </p:spPr>
        <p:txBody>
          <a:bodyPr wrap="square" lIns="0" tIns="0" rIns="0" bIns="0" rtlCol="0" anchor="t">
            <a:noAutofit/>
          </a:bodyPr>
          <a:lstStyle/>
          <a:p>
            <a:pPr>
              <a:lnSpc>
                <a:spcPct val="127000"/>
              </a:lnSpc>
            </a:pPr>
            <a:r>
              <a:rPr lang="ar-SA" sz="2000" dirty="0">
                <a:latin typeface="Simplified Arabic" pitchFamily="18" charset="-78"/>
                <a:cs typeface="Simplified Arabic" pitchFamily="18" charset="-78"/>
              </a:rPr>
              <a:t>اعتمد البحث على تقنية نقل التعلم (</a:t>
            </a:r>
            <a:r>
              <a:rPr lang="en-US" sz="2000" dirty="0">
                <a:latin typeface="Simplified Arabic" pitchFamily="18" charset="-78"/>
                <a:cs typeface="+mj-cs"/>
              </a:rPr>
              <a:t>Transfer Learning</a:t>
            </a:r>
            <a:r>
              <a:rPr lang="ar-SA" sz="2000" dirty="0">
                <a:latin typeface="Simplified Arabic" pitchFamily="18" charset="-78"/>
                <a:cs typeface="Simplified Arabic" pitchFamily="18" charset="-78"/>
              </a:rPr>
              <a:t>) من نموذج </a:t>
            </a:r>
            <a:r>
              <a:rPr lang="en-US" sz="2000" dirty="0">
                <a:latin typeface="Simplified Arabic" pitchFamily="18" charset="-78"/>
                <a:cs typeface="Simplified Arabic" pitchFamily="18" charset="-78"/>
              </a:rPr>
              <a:t>EfficientNet-B0</a:t>
            </a:r>
            <a:r>
              <a:rPr lang="ar-SA" sz="2000" dirty="0">
                <a:latin typeface="Simplified Arabic" pitchFamily="18" charset="-78"/>
                <a:cs typeface="Simplified Arabic" pitchFamily="18" charset="-78"/>
              </a:rPr>
              <a:t> المدرب على </a:t>
            </a:r>
            <a:r>
              <a:rPr lang="en-US" sz="2000" dirty="0">
                <a:latin typeface="Simplified Arabic" pitchFamily="18" charset="-78"/>
                <a:cs typeface="Simplified Arabic" pitchFamily="18" charset="-78"/>
              </a:rPr>
              <a:t>ImageNet</a:t>
            </a:r>
            <a:r>
              <a:rPr lang="ar-SA" sz="2000" dirty="0">
                <a:latin typeface="Simplified Arabic" pitchFamily="18" charset="-78"/>
                <a:cs typeface="Simplified Arabic" pitchFamily="18" charset="-78"/>
              </a:rPr>
              <a:t>، مع استبدال طبقة التصنيف النهائية لتناسب 20 فئة مرضية.</a:t>
            </a:r>
          </a:p>
          <a:p>
            <a:pPr>
              <a:lnSpc>
                <a:spcPct val="127000"/>
              </a:lnSpc>
            </a:pPr>
            <a:r>
              <a:rPr lang="ar-SA" sz="2000" dirty="0">
                <a:latin typeface="Simplified Arabic" pitchFamily="18" charset="-78"/>
                <a:cs typeface="Simplified Arabic" pitchFamily="18" charset="-78"/>
              </a:rPr>
              <a:t> استُخدم المحسّن </a:t>
            </a:r>
            <a:r>
              <a:rPr lang="en-US" sz="2000" dirty="0">
                <a:latin typeface="Simplified Arabic" pitchFamily="18" charset="-78"/>
                <a:cs typeface="Simplified Arabic" pitchFamily="18" charset="-78"/>
              </a:rPr>
              <a:t>Adam</a:t>
            </a:r>
            <a:r>
              <a:rPr lang="ar-SA" sz="2000" dirty="0">
                <a:latin typeface="Simplified Arabic" pitchFamily="18" charset="-78"/>
                <a:cs typeface="Simplified Arabic" pitchFamily="18" charset="-78"/>
              </a:rPr>
              <a:t> بدفعات حجمها 16 صورة ولمدة 20 حقبة تدريبية، مع تطبيق آلية الإيقاف المبكر (</a:t>
            </a:r>
            <a:r>
              <a:rPr lang="en-US" sz="2000" dirty="0">
                <a:latin typeface="Simplified Arabic" pitchFamily="18" charset="-78"/>
                <a:cs typeface="Simplified Arabic" pitchFamily="18" charset="-78"/>
              </a:rPr>
              <a:t>Early Stopping</a:t>
            </a:r>
            <a:r>
              <a:rPr lang="ar-SA" sz="2000" dirty="0">
                <a:latin typeface="Simplified Arabic" pitchFamily="18" charset="-78"/>
                <a:cs typeface="Simplified Arabic" pitchFamily="18" charset="-78"/>
              </a:rPr>
              <a:t>) وحفظ أفضل نموذج. دالة الخسارة المستخدمة هي </a:t>
            </a:r>
            <a:r>
              <a:rPr lang="en-US" sz="2000" dirty="0">
                <a:latin typeface="Simplified Arabic" pitchFamily="18" charset="-78"/>
                <a:cs typeface="Simplified Arabic" pitchFamily="18" charset="-78"/>
              </a:rPr>
              <a:t>CrossEntropyLoss</a:t>
            </a:r>
            <a:r>
              <a:rPr lang="ar-SA" sz="2000" dirty="0">
                <a:latin typeface="Simplified Arabic" pitchFamily="18" charset="-78"/>
                <a:cs typeface="Simplified Arabic" pitchFamily="18" charset="-78"/>
              </a:rPr>
              <a:t> المناسبة للتصنيف متعدد الفئات.</a:t>
            </a:r>
          </a:p>
        </p:txBody>
      </p:sp>
      <p:sp>
        <p:nvSpPr>
          <p:cNvPr id="2" name="مستطيل 1"/>
          <p:cNvSpPr/>
          <p:nvPr/>
        </p:nvSpPr>
        <p:spPr>
          <a:xfrm>
            <a:off x="2830745" y="3549834"/>
            <a:ext cx="1550424" cy="400110"/>
          </a:xfrm>
          <a:prstGeom prst="rect">
            <a:avLst/>
          </a:prstGeom>
        </p:spPr>
        <p:txBody>
          <a:bodyPr wrap="none">
            <a:spAutoFit/>
          </a:bodyPr>
          <a:lstStyle/>
          <a:p>
            <a:r>
              <a:rPr lang="ar-SY" sz="2000" dirty="0"/>
              <a:t>تدريب (</a:t>
            </a:r>
            <a:r>
              <a:rPr lang="en-US" sz="2000" dirty="0"/>
              <a:t>(Adam</a:t>
            </a:r>
            <a:endParaRPr lang="ar-SY" sz="2000" dirty="0"/>
          </a:p>
        </p:txBody>
      </p:sp>
      <p:sp>
        <p:nvSpPr>
          <p:cNvPr id="5" name="Slide Number Placeholder 4">
            <a:extLst>
              <a:ext uri="{FF2B5EF4-FFF2-40B4-BE49-F238E27FC236}">
                <a16:creationId xmlns:a16="http://schemas.microsoft.com/office/drawing/2014/main" id="{FF57055C-DEB3-4F12-85D8-AADFBBF0A662}"/>
              </a:ext>
            </a:extLst>
          </p:cNvPr>
          <p:cNvSpPr>
            <a:spLocks noGrp="1"/>
          </p:cNvSpPr>
          <p:nvPr>
            <p:ph type="sldNum" sz="quarter" idx="12"/>
          </p:nvPr>
        </p:nvSpPr>
        <p:spPr>
          <a:xfrm>
            <a:off x="8394588" y="6384090"/>
            <a:ext cx="514400" cy="365125"/>
          </a:xfrm>
        </p:spPr>
        <p:txBody>
          <a:bodyPr/>
          <a:lstStyle/>
          <a:p>
            <a:fld id="{0B34F065-1154-456A-91E3-76DE8E75E17B}" type="slidenum">
              <a:rPr lang="ar-SA" sz="2000" b="1" smtClean="0">
                <a:latin typeface="Simplified Arabic" panose="02020603050405020304" pitchFamily="18" charset="-78"/>
                <a:cs typeface="Simplified Arabic" panose="02020603050405020304" pitchFamily="18" charset="-78"/>
              </a:rPr>
              <a:t>14</a:t>
            </a:fld>
            <a:endParaRPr lang="ar-SA" sz="2000" b="1" dirty="0">
              <a:latin typeface="Simplified Arabic" panose="02020603050405020304" pitchFamily="18" charset="-78"/>
              <a:cs typeface="Simplified Arabic" panose="02020603050405020304" pitchFamily="18" charset="-78"/>
            </a:endParaRPr>
          </a:p>
        </p:txBody>
      </p:sp>
    </p:spTree>
    <p:extLst>
      <p:ext uri="{BB962C8B-B14F-4D97-AF65-F5344CB8AC3E}">
        <p14:creationId xmlns:p14="http://schemas.microsoft.com/office/powerpoint/2010/main" val="21364740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0"/>
          <p:cNvSpPr/>
          <p:nvPr/>
        </p:nvSpPr>
        <p:spPr>
          <a:xfrm>
            <a:off x="2397802" y="233787"/>
            <a:ext cx="4348395" cy="395139"/>
          </a:xfrm>
          <a:prstGeom prst="rect">
            <a:avLst/>
          </a:prstGeom>
          <a:noFill/>
          <a:ln/>
        </p:spPr>
        <p:txBody>
          <a:bodyPr wrap="none" lIns="0" tIns="0" rIns="0" bIns="0" rtlCol="0" anchor="t"/>
          <a:lstStyle/>
          <a:p>
            <a:pPr algn="ctr">
              <a:lnSpc>
                <a:spcPct val="104000"/>
              </a:lnSpc>
            </a:pPr>
            <a:r>
              <a:rPr lang="ar-SA" sz="2800" b="1" dirty="0"/>
              <a:t>تطبيق الويب الذكي — </a:t>
            </a:r>
            <a:r>
              <a:rPr lang="en-US" sz="2800" b="1" dirty="0"/>
              <a:t>Django</a:t>
            </a:r>
            <a:endParaRPr lang="ar-SA" sz="2800" b="1" dirty="0"/>
          </a:p>
        </p:txBody>
      </p:sp>
      <p:pic>
        <p:nvPicPr>
          <p:cNvPr id="11" name="Image 0" descr="preencoded.png"/>
          <p:cNvPicPr>
            <a:picLocks noChangeAspect="1"/>
          </p:cNvPicPr>
          <p:nvPr/>
        </p:nvPicPr>
        <p:blipFill>
          <a:blip r:embed="rId3"/>
          <a:stretch>
            <a:fillRect/>
          </a:stretch>
        </p:blipFill>
        <p:spPr>
          <a:xfrm>
            <a:off x="0" y="1422065"/>
            <a:ext cx="4716016" cy="4934285"/>
          </a:xfrm>
          <a:prstGeom prst="rect">
            <a:avLst/>
          </a:prstGeom>
        </p:spPr>
      </p:pic>
      <p:sp>
        <p:nvSpPr>
          <p:cNvPr id="12" name="Text 1"/>
          <p:cNvSpPr/>
          <p:nvPr/>
        </p:nvSpPr>
        <p:spPr>
          <a:xfrm>
            <a:off x="6012160" y="793062"/>
            <a:ext cx="2596753" cy="432048"/>
          </a:xfrm>
          <a:prstGeom prst="rect">
            <a:avLst/>
          </a:prstGeom>
          <a:noFill/>
          <a:ln/>
        </p:spPr>
        <p:txBody>
          <a:bodyPr wrap="none" lIns="0" tIns="0" rIns="0" bIns="0" rtlCol="0" anchor="t"/>
          <a:lstStyle/>
          <a:p>
            <a:pPr>
              <a:lnSpc>
                <a:spcPct val="104000"/>
              </a:lnSpc>
            </a:pPr>
            <a:r>
              <a:rPr lang="ar-SA" sz="2000" b="1" dirty="0">
                <a:latin typeface="Simplified Arabic" pitchFamily="18" charset="-78"/>
                <a:cs typeface="Simplified Arabic" pitchFamily="18" charset="-78"/>
              </a:rPr>
              <a:t>الممثلون ووظائف النظام</a:t>
            </a:r>
          </a:p>
        </p:txBody>
      </p:sp>
      <p:sp>
        <p:nvSpPr>
          <p:cNvPr id="13" name="Text 2"/>
          <p:cNvSpPr/>
          <p:nvPr/>
        </p:nvSpPr>
        <p:spPr>
          <a:xfrm>
            <a:off x="4716017" y="1180195"/>
            <a:ext cx="4137704" cy="3951151"/>
          </a:xfrm>
          <a:prstGeom prst="rect">
            <a:avLst/>
          </a:prstGeom>
          <a:noFill/>
          <a:ln/>
        </p:spPr>
        <p:txBody>
          <a:bodyPr wrap="square" lIns="0" tIns="0" rIns="0" bIns="0" rtlCol="0" anchor="t">
            <a:noAutofit/>
          </a:bodyPr>
          <a:lstStyle/>
          <a:p>
            <a:pPr marL="223520" indent="-223520">
              <a:lnSpc>
                <a:spcPct val="128000"/>
              </a:lnSpc>
              <a:buSzPct val="100000"/>
              <a:buChar char="•"/>
            </a:pPr>
            <a:r>
              <a:rPr lang="ar-SA" sz="2000" dirty="0">
                <a:latin typeface="Simplified Arabic" pitchFamily="18" charset="-78"/>
                <a:cs typeface="Simplified Arabic" pitchFamily="18" charset="-78"/>
              </a:rPr>
              <a:t>المستخدم: تسجيل الدخول، رفع صور النبات، عرض التشخيص (اسم المرض بالعربية والإنكليزية، نسبة الثقة، الوصف، التوصيات)، استعراض السجل، تحميل تقرير </a:t>
            </a:r>
            <a:r>
              <a:rPr lang="en-US" sz="2000" dirty="0">
                <a:latin typeface="Simplified Arabic" pitchFamily="18" charset="-78"/>
                <a:cs typeface="Simplified Arabic" pitchFamily="18" charset="-78"/>
              </a:rPr>
              <a:t>PDF</a:t>
            </a:r>
            <a:r>
              <a:rPr lang="ar-SY" sz="2000" dirty="0">
                <a:latin typeface="Simplified Arabic" pitchFamily="18" charset="-78"/>
                <a:cs typeface="Simplified Arabic" pitchFamily="18" charset="-78"/>
              </a:rPr>
              <a:t>.</a:t>
            </a:r>
            <a:endParaRPr lang="en-US" sz="2000" dirty="0">
              <a:latin typeface="Simplified Arabic" pitchFamily="18" charset="-78"/>
              <a:cs typeface="Simplified Arabic" pitchFamily="18" charset="-78"/>
            </a:endParaRPr>
          </a:p>
          <a:p>
            <a:pPr marL="223520" indent="-223520">
              <a:lnSpc>
                <a:spcPct val="128000"/>
              </a:lnSpc>
              <a:buSzPct val="100000"/>
              <a:buChar char="•"/>
            </a:pPr>
            <a:r>
              <a:rPr lang="ar-SA" sz="2000" dirty="0">
                <a:latin typeface="Simplified Arabic" pitchFamily="18" charset="-78"/>
                <a:cs typeface="Simplified Arabic" pitchFamily="18" charset="-78"/>
              </a:rPr>
              <a:t>مدير النظام (</a:t>
            </a:r>
            <a:r>
              <a:rPr lang="en-US" sz="2000" dirty="0">
                <a:latin typeface="Simplified Arabic" pitchFamily="18" charset="-78"/>
                <a:cs typeface="Simplified Arabic" pitchFamily="18" charset="-78"/>
              </a:rPr>
              <a:t>Admin</a:t>
            </a:r>
            <a:r>
              <a:rPr lang="ar-SA" sz="2000" dirty="0">
                <a:latin typeface="Simplified Arabic" pitchFamily="18" charset="-78"/>
                <a:cs typeface="Simplified Arabic" pitchFamily="18" charset="-78"/>
              </a:rPr>
              <a:t>): إدارة المستخدمين، قاعدة بيانات الأمراض والتوصيات، مراجعة سجلات التصنيف، وإعدادات النظام.</a:t>
            </a:r>
          </a:p>
          <a:p>
            <a:pPr marL="223520" indent="-223520">
              <a:lnSpc>
                <a:spcPct val="128000"/>
              </a:lnSpc>
              <a:buSzPct val="100000"/>
              <a:buChar char="•"/>
            </a:pPr>
            <a:r>
              <a:rPr lang="ar-SA" sz="2000" dirty="0">
                <a:latin typeface="Simplified Arabic" pitchFamily="18" charset="-78"/>
                <a:cs typeface="Simplified Arabic" pitchFamily="18" charset="-78"/>
              </a:rPr>
              <a:t>النظام: معالجة الصور مسبقاً، تشغيل </a:t>
            </a:r>
            <a:r>
              <a:rPr lang="en-US" dirty="0">
                <a:latin typeface="Simplified Arabic" pitchFamily="18" charset="-78"/>
                <a:cs typeface="Simplified Arabic" pitchFamily="18" charset="-78"/>
              </a:rPr>
              <a:t>EfficientNet-B0</a:t>
            </a:r>
            <a:r>
              <a:rPr lang="en-US" sz="2000" dirty="0">
                <a:latin typeface="Simplified Arabic" pitchFamily="18" charset="-78"/>
                <a:cs typeface="Simplified Arabic" pitchFamily="18" charset="-78"/>
              </a:rPr>
              <a:t>، </a:t>
            </a:r>
            <a:r>
              <a:rPr lang="ar-SA" sz="2000" dirty="0">
                <a:latin typeface="Simplified Arabic" pitchFamily="18" charset="-78"/>
                <a:cs typeface="Simplified Arabic" pitchFamily="18" charset="-78"/>
              </a:rPr>
              <a:t>حساب نسبة الثقة، واسترجاع الوصف و التوصيات من قاعدة البيانات.</a:t>
            </a:r>
          </a:p>
        </p:txBody>
      </p:sp>
      <p:sp>
        <p:nvSpPr>
          <p:cNvPr id="14" name="Text 3"/>
          <p:cNvSpPr/>
          <p:nvPr/>
        </p:nvSpPr>
        <p:spPr>
          <a:xfrm>
            <a:off x="5176520" y="5236691"/>
            <a:ext cx="3641987" cy="1484784"/>
          </a:xfrm>
          <a:prstGeom prst="rect">
            <a:avLst/>
          </a:prstGeom>
          <a:noFill/>
          <a:ln/>
        </p:spPr>
        <p:txBody>
          <a:bodyPr wrap="square" lIns="0" tIns="0" rIns="0" bIns="0" rtlCol="0" anchor="t">
            <a:noAutofit/>
          </a:bodyPr>
          <a:lstStyle/>
          <a:p>
            <a:pPr>
              <a:lnSpc>
                <a:spcPct val="128000"/>
              </a:lnSpc>
            </a:pPr>
            <a:r>
              <a:rPr lang="ar-SA" sz="2000" dirty="0">
                <a:latin typeface="Simplified Arabic" pitchFamily="18" charset="-78"/>
                <a:cs typeface="Simplified Arabic" pitchFamily="18" charset="-78"/>
              </a:rPr>
              <a:t>يعمل النظام عبر جميع المتصفحات الحديثة بتصميم متجاوب (</a:t>
            </a:r>
            <a:r>
              <a:rPr lang="en-US" sz="2000" dirty="0">
                <a:latin typeface="Simplified Arabic" pitchFamily="18" charset="-78"/>
                <a:cs typeface="Simplified Arabic" pitchFamily="18" charset="-78"/>
              </a:rPr>
              <a:t>(Chrome, Firefox, Edge</a:t>
            </a:r>
            <a:r>
              <a:rPr lang="ar-SA" sz="2000" dirty="0">
                <a:latin typeface="Simplified Arabic" pitchFamily="18" charset="-78"/>
                <a:cs typeface="Simplified Arabic" pitchFamily="18" charset="-78"/>
              </a:rPr>
              <a:t> ويدعم صوراً حتى 5 ميغابايت بصيغ </a:t>
            </a:r>
            <a:r>
              <a:rPr lang="en-US" sz="2000" dirty="0">
                <a:latin typeface="Simplified Arabic" pitchFamily="18" charset="-78"/>
                <a:cs typeface="Simplified Arabic" pitchFamily="18" charset="-78"/>
              </a:rPr>
              <a:t>JPG, PNG, JPEG, BMP, WEBP.</a:t>
            </a:r>
            <a:endParaRPr lang="ar-SA" sz="2000" dirty="0">
              <a:latin typeface="Simplified Arabic" pitchFamily="18" charset="-78"/>
              <a:cs typeface="Simplified Arabic" pitchFamily="18" charset="-78"/>
            </a:endParaRPr>
          </a:p>
        </p:txBody>
      </p:sp>
      <p:sp>
        <p:nvSpPr>
          <p:cNvPr id="4" name="Slide Number Placeholder 3">
            <a:extLst>
              <a:ext uri="{FF2B5EF4-FFF2-40B4-BE49-F238E27FC236}">
                <a16:creationId xmlns:a16="http://schemas.microsoft.com/office/drawing/2014/main" id="{1ABAFE5B-57CF-4F40-A684-1667CC85517E}"/>
              </a:ext>
            </a:extLst>
          </p:cNvPr>
          <p:cNvSpPr>
            <a:spLocks noGrp="1"/>
          </p:cNvSpPr>
          <p:nvPr>
            <p:ph type="sldNum" sz="quarter" idx="12"/>
          </p:nvPr>
        </p:nvSpPr>
        <p:spPr>
          <a:xfrm>
            <a:off x="4596055" y="6441650"/>
            <a:ext cx="580465" cy="365125"/>
          </a:xfrm>
        </p:spPr>
        <p:txBody>
          <a:bodyPr/>
          <a:lstStyle/>
          <a:p>
            <a:fld id="{0B34F065-1154-456A-91E3-76DE8E75E17B}" type="slidenum">
              <a:rPr lang="ar-SA" sz="2000" b="1" smtClean="0">
                <a:latin typeface="Simplified Arabic" panose="02020603050405020304" pitchFamily="18" charset="-78"/>
                <a:cs typeface="Simplified Arabic" panose="02020603050405020304" pitchFamily="18" charset="-78"/>
              </a:rPr>
              <a:t>15</a:t>
            </a:fld>
            <a:endParaRPr lang="ar-SA" b="1" dirty="0">
              <a:latin typeface="Simplified Arabic" panose="02020603050405020304" pitchFamily="18" charset="-78"/>
              <a:cs typeface="Simplified Arabic" panose="02020603050405020304" pitchFamily="18" charset="-78"/>
            </a:endParaRPr>
          </a:p>
        </p:txBody>
      </p:sp>
    </p:spTree>
    <p:extLst>
      <p:ext uri="{BB962C8B-B14F-4D97-AF65-F5344CB8AC3E}">
        <p14:creationId xmlns:p14="http://schemas.microsoft.com/office/powerpoint/2010/main" val="28878177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a:extLst>
              <a:ext uri="{FF2B5EF4-FFF2-40B4-BE49-F238E27FC236}">
                <a16:creationId xmlns:a16="http://schemas.microsoft.com/office/drawing/2014/main" id="{536D7237-BEC2-4C23-B155-D6D20D8446BE}"/>
              </a:ext>
            </a:extLst>
          </p:cNvPr>
          <p:cNvSpPr/>
          <p:nvPr/>
        </p:nvSpPr>
        <p:spPr>
          <a:xfrm>
            <a:off x="717190" y="6425952"/>
            <a:ext cx="7452320" cy="432047"/>
          </a:xfrm>
          <a:prstGeom prst="rect">
            <a:avLst/>
          </a:prstGeom>
          <a:noFill/>
          <a:ln/>
        </p:spPr>
        <p:txBody>
          <a:bodyPr wrap="none" lIns="0" tIns="0" rIns="0" bIns="0" rtlCol="0" anchor="t"/>
          <a:lstStyle/>
          <a:p>
            <a:pPr algn="ctr">
              <a:lnSpc>
                <a:spcPct val="111000"/>
              </a:lnSpc>
            </a:pPr>
            <a:r>
              <a:rPr lang="ar-SA" sz="2000" b="1" dirty="0">
                <a:latin typeface="Simplified Arabic" pitchFamily="18" charset="-78"/>
                <a:cs typeface="Simplified Arabic" pitchFamily="18" charset="-78"/>
              </a:rPr>
              <a:t>مصفوفة الارتباك لنتائج النموذج </a:t>
            </a:r>
            <a:r>
              <a:rPr lang="en-US" sz="2000" b="1" dirty="0">
                <a:latin typeface="Simplified Arabic" pitchFamily="18" charset="-78"/>
                <a:cs typeface="Simplified Arabic" pitchFamily="18" charset="-78"/>
              </a:rPr>
              <a:t>EfficientNet-B0 </a:t>
            </a:r>
            <a:r>
              <a:rPr lang="ar-SA" sz="2000" b="1" dirty="0">
                <a:latin typeface="Simplified Arabic" pitchFamily="18" charset="-78"/>
                <a:cs typeface="Simplified Arabic" pitchFamily="18" charset="-78"/>
              </a:rPr>
              <a:t> على مجموعة بيانات تضم 20 فئة</a:t>
            </a:r>
            <a:br>
              <a:rPr lang="ar-SA" sz="2000" b="1" dirty="0">
                <a:latin typeface="Simplified Arabic" pitchFamily="18" charset="-78"/>
                <a:cs typeface="Simplified Arabic" pitchFamily="18" charset="-78"/>
              </a:rPr>
            </a:br>
            <a:endParaRPr lang="ar-SA" sz="2000" b="1" dirty="0">
              <a:latin typeface="Simplified Arabic" pitchFamily="18" charset="-78"/>
              <a:cs typeface="Simplified Arabic" pitchFamily="18" charset="-78"/>
            </a:endParaRPr>
          </a:p>
        </p:txBody>
      </p:sp>
      <p:pic>
        <p:nvPicPr>
          <p:cNvPr id="1026" name="صورة 1">
            <a:extLst>
              <a:ext uri="{FF2B5EF4-FFF2-40B4-BE49-F238E27FC236}">
                <a16:creationId xmlns:a16="http://schemas.microsoft.com/office/drawing/2014/main" id="{89ED4E8F-1C68-4A43-A271-96A69EE5DD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3966" y="523403"/>
            <a:ext cx="6316067" cy="5811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lide Number Placeholder 4">
            <a:extLst>
              <a:ext uri="{FF2B5EF4-FFF2-40B4-BE49-F238E27FC236}">
                <a16:creationId xmlns:a16="http://schemas.microsoft.com/office/drawing/2014/main" id="{EC6F06C3-53ED-4B2F-AC84-31F92CA0DD5C}"/>
              </a:ext>
            </a:extLst>
          </p:cNvPr>
          <p:cNvSpPr>
            <a:spLocks noGrp="1"/>
          </p:cNvSpPr>
          <p:nvPr>
            <p:ph type="sldNum" sz="quarter" idx="12"/>
          </p:nvPr>
        </p:nvSpPr>
        <p:spPr>
          <a:xfrm>
            <a:off x="8445915" y="6349962"/>
            <a:ext cx="537678" cy="365125"/>
          </a:xfrm>
        </p:spPr>
        <p:txBody>
          <a:bodyPr/>
          <a:lstStyle/>
          <a:p>
            <a:fld id="{0B34F065-1154-456A-91E3-76DE8E75E17B}" type="slidenum">
              <a:rPr lang="ar-SA" sz="2000" b="1" smtClean="0">
                <a:latin typeface="Simplified Arabic" panose="02020603050405020304" pitchFamily="18" charset="-78"/>
                <a:cs typeface="Simplified Arabic" panose="02020603050405020304" pitchFamily="18" charset="-78"/>
              </a:rPr>
              <a:t>16</a:t>
            </a:fld>
            <a:endParaRPr lang="ar-SA" b="1" dirty="0">
              <a:latin typeface="Simplified Arabic" panose="02020603050405020304" pitchFamily="18" charset="-78"/>
              <a:cs typeface="Simplified Arabic" panose="02020603050405020304" pitchFamily="18" charset="-78"/>
            </a:endParaRPr>
          </a:p>
        </p:txBody>
      </p:sp>
      <p:sp>
        <p:nvSpPr>
          <p:cNvPr id="6" name="Text 0">
            <a:extLst>
              <a:ext uri="{FF2B5EF4-FFF2-40B4-BE49-F238E27FC236}">
                <a16:creationId xmlns:a16="http://schemas.microsoft.com/office/drawing/2014/main" id="{92779837-B473-4661-8B75-B199424A96F7}"/>
              </a:ext>
            </a:extLst>
          </p:cNvPr>
          <p:cNvSpPr/>
          <p:nvPr/>
        </p:nvSpPr>
        <p:spPr>
          <a:xfrm>
            <a:off x="3202685" y="86456"/>
            <a:ext cx="2481330" cy="576064"/>
          </a:xfrm>
          <a:prstGeom prst="rect">
            <a:avLst/>
          </a:prstGeom>
          <a:noFill/>
          <a:ln/>
        </p:spPr>
        <p:txBody>
          <a:bodyPr wrap="none" lIns="0" tIns="0" rIns="0" bIns="0" rtlCol="0" anchor="t"/>
          <a:lstStyle/>
          <a:p>
            <a:pPr marL="0" indent="0" algn="ctr" rtl="1">
              <a:lnSpc>
                <a:spcPct val="104000"/>
              </a:lnSpc>
              <a:buNone/>
            </a:pPr>
            <a:r>
              <a:rPr lang="ar-SA" altLang="en-US" sz="2400" b="1" dirty="0">
                <a:solidFill>
                  <a:srgbClr val="000000"/>
                </a:solidFill>
                <a:latin typeface="Simplified Arabic" pitchFamily="18" charset="-78"/>
                <a:ea typeface="Prompt Medium" pitchFamily="34" charset="-122"/>
                <a:cs typeface="Simplified Arabic" pitchFamily="18" charset="-78"/>
              </a:rPr>
              <a:t>النتائج التجريبية</a:t>
            </a:r>
            <a:endParaRPr lang="ar-SA" sz="2400" b="1" dirty="0">
              <a:latin typeface="Simplified Arabic" pitchFamily="18" charset="-78"/>
              <a:cs typeface="Simplified Arabic" pitchFamily="18" charset="-78"/>
            </a:endParaRPr>
          </a:p>
        </p:txBody>
      </p:sp>
    </p:spTree>
    <p:extLst>
      <p:ext uri="{BB962C8B-B14F-4D97-AF65-F5344CB8AC3E}">
        <p14:creationId xmlns:p14="http://schemas.microsoft.com/office/powerpoint/2010/main" val="18076336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1">
            <a:extLst>
              <a:ext uri="{FF2B5EF4-FFF2-40B4-BE49-F238E27FC236}">
                <a16:creationId xmlns:a16="http://schemas.microsoft.com/office/drawing/2014/main" id="{A2C33A1D-2100-4831-87E4-E848EE89DC34}"/>
              </a:ext>
            </a:extLst>
          </p:cNvPr>
          <p:cNvSpPr/>
          <p:nvPr/>
        </p:nvSpPr>
        <p:spPr>
          <a:xfrm>
            <a:off x="966016" y="6093296"/>
            <a:ext cx="7211968" cy="432047"/>
          </a:xfrm>
          <a:prstGeom prst="rect">
            <a:avLst/>
          </a:prstGeom>
          <a:noFill/>
          <a:ln/>
        </p:spPr>
        <p:txBody>
          <a:bodyPr wrap="none" lIns="0" tIns="0" rIns="0" bIns="0" rtlCol="0" anchor="t"/>
          <a:lstStyle/>
          <a:p>
            <a:pPr algn="ctr">
              <a:lnSpc>
                <a:spcPct val="111000"/>
              </a:lnSpc>
            </a:pPr>
            <a:r>
              <a:rPr lang="ar-SA" sz="2200" b="1" dirty="0">
                <a:latin typeface="Simplified Arabic" pitchFamily="18" charset="-78"/>
                <a:cs typeface="Simplified Arabic" pitchFamily="18" charset="-78"/>
              </a:rPr>
              <a:t>منحنى الدقة لبيانات التدريب والتحقق للنموذج </a:t>
            </a:r>
            <a:r>
              <a:rPr lang="en-US" sz="2100" b="1" dirty="0">
                <a:latin typeface="Simplified Arabic" pitchFamily="18" charset="-78"/>
                <a:cs typeface="+mj-cs"/>
              </a:rPr>
              <a:t>EfficientNet-B0</a:t>
            </a:r>
            <a:endParaRPr lang="ar-SA" sz="2100" b="1" dirty="0">
              <a:latin typeface="Simplified Arabic" pitchFamily="18" charset="-78"/>
              <a:cs typeface="Simplified Arabic" pitchFamily="18" charset="-78"/>
            </a:endParaRPr>
          </a:p>
        </p:txBody>
      </p:sp>
      <p:pic>
        <p:nvPicPr>
          <p:cNvPr id="1026" name="صورة 1">
            <a:extLst>
              <a:ext uri="{FF2B5EF4-FFF2-40B4-BE49-F238E27FC236}">
                <a16:creationId xmlns:a16="http://schemas.microsoft.com/office/drawing/2014/main" id="{2E0BD144-322F-4021-82B1-14AD7DC1D2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6017" y="0"/>
            <a:ext cx="7211967" cy="5920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a:extLst>
              <a:ext uri="{FF2B5EF4-FFF2-40B4-BE49-F238E27FC236}">
                <a16:creationId xmlns:a16="http://schemas.microsoft.com/office/drawing/2014/main" id="{DDB1284C-B72A-4343-92FA-0C3F619F2EBA}"/>
              </a:ext>
            </a:extLst>
          </p:cNvPr>
          <p:cNvSpPr>
            <a:spLocks noGrp="1"/>
          </p:cNvSpPr>
          <p:nvPr>
            <p:ph type="sldNum" sz="quarter" idx="12"/>
          </p:nvPr>
        </p:nvSpPr>
        <p:spPr>
          <a:xfrm>
            <a:off x="8460432" y="6335388"/>
            <a:ext cx="508816" cy="365125"/>
          </a:xfrm>
        </p:spPr>
        <p:txBody>
          <a:bodyPr/>
          <a:lstStyle/>
          <a:p>
            <a:fld id="{0B34F065-1154-456A-91E3-76DE8E75E17B}" type="slidenum">
              <a:rPr lang="ar-SA" sz="2000" b="1" smtClean="0">
                <a:latin typeface="Simplified Arabic" panose="02020603050405020304" pitchFamily="18" charset="-78"/>
                <a:cs typeface="Simplified Arabic" panose="02020603050405020304" pitchFamily="18" charset="-78"/>
              </a:rPr>
              <a:t>17</a:t>
            </a:fld>
            <a:endParaRPr lang="ar-SA" b="1" dirty="0">
              <a:latin typeface="Simplified Arabic" panose="02020603050405020304" pitchFamily="18" charset="-78"/>
              <a:cs typeface="Simplified Arabic" panose="02020603050405020304" pitchFamily="18" charset="-78"/>
            </a:endParaRPr>
          </a:p>
        </p:txBody>
      </p:sp>
    </p:spTree>
    <p:extLst>
      <p:ext uri="{BB962C8B-B14F-4D97-AF65-F5344CB8AC3E}">
        <p14:creationId xmlns:p14="http://schemas.microsoft.com/office/powerpoint/2010/main" val="32718806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0E801C6-F248-4918-9E80-57F0434C34D4}"/>
              </a:ext>
            </a:extLst>
          </p:cNvPr>
          <p:cNvSpPr>
            <a:spLocks noGrp="1"/>
          </p:cNvSpPr>
          <p:nvPr>
            <p:ph type="sldNum" sz="quarter" idx="12"/>
          </p:nvPr>
        </p:nvSpPr>
        <p:spPr>
          <a:xfrm>
            <a:off x="8536489" y="6309320"/>
            <a:ext cx="504056" cy="365125"/>
          </a:xfrm>
        </p:spPr>
        <p:txBody>
          <a:bodyPr/>
          <a:lstStyle/>
          <a:p>
            <a:fld id="{0B34F065-1154-456A-91E3-76DE8E75E17B}" type="slidenum">
              <a:rPr lang="ar-SA" sz="2000" b="1" smtClean="0">
                <a:latin typeface="Simplified Arabic" panose="02020603050405020304" pitchFamily="18" charset="-78"/>
                <a:cs typeface="Simplified Arabic" panose="02020603050405020304" pitchFamily="18" charset="-78"/>
              </a:rPr>
              <a:t>18</a:t>
            </a:fld>
            <a:endParaRPr lang="ar-SA" b="1" dirty="0">
              <a:latin typeface="Simplified Arabic" panose="02020603050405020304" pitchFamily="18" charset="-78"/>
              <a:cs typeface="Simplified Arabic" panose="02020603050405020304" pitchFamily="18" charset="-78"/>
            </a:endParaRPr>
          </a:p>
        </p:txBody>
      </p:sp>
      <p:pic>
        <p:nvPicPr>
          <p:cNvPr id="2050" name="صورة 1">
            <a:extLst>
              <a:ext uri="{FF2B5EF4-FFF2-40B4-BE49-F238E27FC236}">
                <a16:creationId xmlns:a16="http://schemas.microsoft.com/office/drawing/2014/main" id="{0860B6BC-021C-4F4C-B7E9-258960858E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66" y="744773"/>
            <a:ext cx="9014079" cy="5368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1">
            <a:extLst>
              <a:ext uri="{FF2B5EF4-FFF2-40B4-BE49-F238E27FC236}">
                <a16:creationId xmlns:a16="http://schemas.microsoft.com/office/drawing/2014/main" id="{D2A38705-6CC0-427B-A504-3ECBE8904644}"/>
              </a:ext>
            </a:extLst>
          </p:cNvPr>
          <p:cNvSpPr/>
          <p:nvPr/>
        </p:nvSpPr>
        <p:spPr>
          <a:xfrm>
            <a:off x="3162561" y="6242398"/>
            <a:ext cx="2741888" cy="432047"/>
          </a:xfrm>
          <a:prstGeom prst="rect">
            <a:avLst/>
          </a:prstGeom>
          <a:noFill/>
          <a:ln/>
        </p:spPr>
        <p:txBody>
          <a:bodyPr wrap="none" lIns="0" tIns="0" rIns="0" bIns="0" rtlCol="0" anchor="t"/>
          <a:lstStyle/>
          <a:p>
            <a:pPr algn="ctr">
              <a:lnSpc>
                <a:spcPct val="111000"/>
              </a:lnSpc>
            </a:pPr>
            <a:r>
              <a:rPr lang="ar-SA" sz="2200" b="1" dirty="0">
                <a:latin typeface="Simplified Arabic" pitchFamily="18" charset="-78"/>
                <a:cs typeface="Simplified Arabic" pitchFamily="18" charset="-78"/>
              </a:rPr>
              <a:t>صفحة نتيجة التشخيص</a:t>
            </a:r>
            <a:endParaRPr lang="ar-SA" sz="2100" b="1" dirty="0">
              <a:latin typeface="Simplified Arabic" pitchFamily="18" charset="-78"/>
              <a:cs typeface="Simplified Arabic" pitchFamily="18" charset="-78"/>
            </a:endParaRPr>
          </a:p>
        </p:txBody>
      </p:sp>
    </p:spTree>
    <p:extLst>
      <p:ext uri="{BB962C8B-B14F-4D97-AF65-F5344CB8AC3E}">
        <p14:creationId xmlns:p14="http://schemas.microsoft.com/office/powerpoint/2010/main" val="40880512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0E801C6-F248-4918-9E80-57F0434C34D4}"/>
              </a:ext>
            </a:extLst>
          </p:cNvPr>
          <p:cNvSpPr>
            <a:spLocks noGrp="1"/>
          </p:cNvSpPr>
          <p:nvPr>
            <p:ph type="sldNum" sz="quarter" idx="12"/>
          </p:nvPr>
        </p:nvSpPr>
        <p:spPr>
          <a:xfrm>
            <a:off x="8424428" y="6435924"/>
            <a:ext cx="504056" cy="365125"/>
          </a:xfrm>
        </p:spPr>
        <p:txBody>
          <a:bodyPr/>
          <a:lstStyle/>
          <a:p>
            <a:fld id="{0B34F065-1154-456A-91E3-76DE8E75E17B}" type="slidenum">
              <a:rPr lang="ar-SA" sz="2000" b="1" smtClean="0">
                <a:latin typeface="Simplified Arabic" panose="02020603050405020304" pitchFamily="18" charset="-78"/>
                <a:cs typeface="Simplified Arabic" panose="02020603050405020304" pitchFamily="18" charset="-78"/>
              </a:rPr>
              <a:t>19</a:t>
            </a:fld>
            <a:endParaRPr lang="ar-SA" b="1" dirty="0">
              <a:latin typeface="Simplified Arabic" panose="02020603050405020304" pitchFamily="18" charset="-78"/>
              <a:cs typeface="Simplified Arabic" panose="02020603050405020304" pitchFamily="18" charset="-78"/>
            </a:endParaRPr>
          </a:p>
        </p:txBody>
      </p:sp>
      <p:sp>
        <p:nvSpPr>
          <p:cNvPr id="5" name="TextBox 4">
            <a:extLst>
              <a:ext uri="{FF2B5EF4-FFF2-40B4-BE49-F238E27FC236}">
                <a16:creationId xmlns:a16="http://schemas.microsoft.com/office/drawing/2014/main" id="{497D91CC-D35D-4FDC-9D21-6C10B4085873}"/>
              </a:ext>
            </a:extLst>
          </p:cNvPr>
          <p:cNvSpPr txBox="1"/>
          <p:nvPr/>
        </p:nvSpPr>
        <p:spPr>
          <a:xfrm>
            <a:off x="4325374" y="3733688"/>
            <a:ext cx="4716016" cy="2677656"/>
          </a:xfrm>
          <a:prstGeom prst="rect">
            <a:avLst/>
          </a:prstGeom>
          <a:noFill/>
        </p:spPr>
        <p:txBody>
          <a:bodyPr wrap="square">
            <a:spAutoFit/>
          </a:bodyPr>
          <a:lstStyle/>
          <a:p>
            <a:r>
              <a:rPr lang="ar-SA" sz="2400" b="1" dirty="0">
                <a:latin typeface="Simplified Arabic" panose="02020603050405020304" pitchFamily="18" charset="-78"/>
                <a:cs typeface="Simplified Arabic" panose="02020603050405020304" pitchFamily="18" charset="-78"/>
              </a:rPr>
              <a:t>تحويل النموذج:</a:t>
            </a:r>
            <a:endParaRPr lang="ar-SY" sz="2400" b="1" dirty="0">
              <a:latin typeface="Simplified Arabic" panose="02020603050405020304" pitchFamily="18" charset="-78"/>
              <a:cs typeface="Simplified Arabic" panose="02020603050405020304" pitchFamily="18" charset="-78"/>
            </a:endParaRPr>
          </a:p>
          <a:p>
            <a:pPr marL="180000" indent="-180000">
              <a:buFont typeface="Arial" panose="020B0604020202020204" pitchFamily="34" charset="0"/>
              <a:buChar char="•"/>
            </a:pPr>
            <a:r>
              <a:rPr lang="ar-SA" sz="2400" dirty="0">
                <a:latin typeface="Simplified Arabic" panose="02020603050405020304" pitchFamily="18" charset="-78"/>
                <a:cs typeface="Simplified Arabic" panose="02020603050405020304" pitchFamily="18" charset="-78"/>
              </a:rPr>
              <a:t>تحويل النموذج المدرَّب من </a:t>
            </a:r>
            <a:r>
              <a:rPr lang="en-US" sz="2400" dirty="0">
                <a:latin typeface="Simplified Arabic" panose="02020603050405020304" pitchFamily="18" charset="-78"/>
                <a:cs typeface="Simplified Arabic" panose="02020603050405020304" pitchFamily="18" charset="-78"/>
              </a:rPr>
              <a:t>PyTorch</a:t>
            </a:r>
            <a:r>
              <a:rPr lang="ar-SA" sz="2400" dirty="0">
                <a:latin typeface="Simplified Arabic" panose="02020603050405020304" pitchFamily="18" charset="-78"/>
                <a:cs typeface="Simplified Arabic" panose="02020603050405020304" pitchFamily="18" charset="-78"/>
              </a:rPr>
              <a:t> إلى </a:t>
            </a:r>
            <a:r>
              <a:rPr lang="en-US" sz="2400" dirty="0">
                <a:latin typeface="Simplified Arabic" panose="02020603050405020304" pitchFamily="18" charset="-78"/>
                <a:cs typeface="Simplified Arabic" panose="02020603050405020304" pitchFamily="18" charset="-78"/>
              </a:rPr>
              <a:t>ONNX</a:t>
            </a:r>
            <a:r>
              <a:rPr lang="ar-SA" sz="2400" dirty="0">
                <a:latin typeface="Simplified Arabic" panose="02020603050405020304" pitchFamily="18" charset="-78"/>
                <a:cs typeface="Simplified Arabic" panose="02020603050405020304" pitchFamily="18" charset="-78"/>
              </a:rPr>
              <a:t>.</a:t>
            </a:r>
            <a:endParaRPr lang="en-US" sz="2400" dirty="0">
              <a:latin typeface="Simplified Arabic" panose="02020603050405020304" pitchFamily="18" charset="-78"/>
              <a:cs typeface="Simplified Arabic" panose="02020603050405020304" pitchFamily="18" charset="-78"/>
            </a:endParaRPr>
          </a:p>
          <a:p>
            <a:pPr marL="180000" indent="-180000">
              <a:buFont typeface="Arial" panose="020B0604020202020204" pitchFamily="34" charset="0"/>
              <a:buChar char="•"/>
            </a:pPr>
            <a:r>
              <a:rPr lang="ar-SA" sz="2400" dirty="0">
                <a:latin typeface="Simplified Arabic" panose="02020603050405020304" pitchFamily="18" charset="-78"/>
                <a:cs typeface="Simplified Arabic" panose="02020603050405020304" pitchFamily="18" charset="-78"/>
              </a:rPr>
              <a:t>حفظ أفضل نموذج في الملف:</a:t>
            </a:r>
            <a:r>
              <a:rPr lang="ar-SY" sz="2400" dirty="0">
                <a:latin typeface="Simplified Arabic" panose="02020603050405020304" pitchFamily="18" charset="-78"/>
                <a:cs typeface="Simplified Arabic" panose="02020603050405020304" pitchFamily="18" charset="-78"/>
              </a:rPr>
              <a:t> </a:t>
            </a:r>
            <a:r>
              <a:rPr lang="en-US" sz="2400" dirty="0">
                <a:latin typeface="Simplified Arabic" panose="02020603050405020304" pitchFamily="18" charset="-78"/>
                <a:cs typeface="Simplified Arabic" panose="02020603050405020304" pitchFamily="18" charset="-78"/>
              </a:rPr>
              <a:t>efficientnet_b0_stratified_best.onnx</a:t>
            </a:r>
          </a:p>
          <a:p>
            <a:pPr marL="180000" indent="-180000">
              <a:buFont typeface="Arial" panose="020B0604020202020204" pitchFamily="34" charset="0"/>
              <a:buChar char="•"/>
            </a:pPr>
            <a:r>
              <a:rPr lang="ar-SA" sz="2400" dirty="0">
                <a:latin typeface="Simplified Arabic" panose="02020603050405020304" pitchFamily="18" charset="-78"/>
                <a:cs typeface="Simplified Arabic" panose="02020603050405020304" pitchFamily="18" charset="-78"/>
              </a:rPr>
              <a:t>استخدام مكتبة </a:t>
            </a:r>
            <a:r>
              <a:rPr lang="en-US" sz="2400" dirty="0">
                <a:latin typeface="Simplified Arabic" panose="02020603050405020304" pitchFamily="18" charset="-78"/>
                <a:cs typeface="Simplified Arabic" panose="02020603050405020304" pitchFamily="18" charset="-78"/>
              </a:rPr>
              <a:t>ONNX Runtime</a:t>
            </a:r>
            <a:r>
              <a:rPr lang="ar-SA" sz="2400" dirty="0">
                <a:latin typeface="Simplified Arabic" panose="02020603050405020304" pitchFamily="18" charset="-78"/>
                <a:cs typeface="Simplified Arabic" panose="02020603050405020304" pitchFamily="18" charset="-78"/>
              </a:rPr>
              <a:t> في بيئة الإنتاج</a:t>
            </a:r>
            <a:endParaRPr lang="ar-SY" sz="2400" dirty="0">
              <a:latin typeface="Simplified Arabic" panose="02020603050405020304" pitchFamily="18" charset="-78"/>
              <a:cs typeface="Simplified Arabic" panose="02020603050405020304" pitchFamily="18" charset="-78"/>
            </a:endParaRPr>
          </a:p>
        </p:txBody>
      </p:sp>
      <p:sp>
        <p:nvSpPr>
          <p:cNvPr id="7" name="TextBox 6">
            <a:extLst>
              <a:ext uri="{FF2B5EF4-FFF2-40B4-BE49-F238E27FC236}">
                <a16:creationId xmlns:a16="http://schemas.microsoft.com/office/drawing/2014/main" id="{61679ED1-A0D5-4A0E-B2BB-AFA34AA80BEB}"/>
              </a:ext>
            </a:extLst>
          </p:cNvPr>
          <p:cNvSpPr txBox="1"/>
          <p:nvPr/>
        </p:nvSpPr>
        <p:spPr>
          <a:xfrm>
            <a:off x="102610" y="3891276"/>
            <a:ext cx="3935490" cy="2677656"/>
          </a:xfrm>
          <a:prstGeom prst="rect">
            <a:avLst/>
          </a:prstGeom>
          <a:noFill/>
        </p:spPr>
        <p:txBody>
          <a:bodyPr wrap="square">
            <a:spAutoFit/>
          </a:bodyPr>
          <a:lstStyle/>
          <a:p>
            <a:r>
              <a:rPr lang="ar-SA" sz="2400" b="1" dirty="0">
                <a:latin typeface="Simplified Arabic" panose="02020603050405020304" pitchFamily="18" charset="-78"/>
                <a:cs typeface="Simplified Arabic" panose="02020603050405020304" pitchFamily="18" charset="-78"/>
              </a:rPr>
              <a:t>النشر على </a:t>
            </a:r>
            <a:r>
              <a:rPr lang="en-US" sz="2400" b="1" dirty="0">
                <a:latin typeface="Simplified Arabic" panose="02020603050405020304" pitchFamily="18" charset="-78"/>
                <a:cs typeface="Simplified Arabic" panose="02020603050405020304" pitchFamily="18" charset="-78"/>
              </a:rPr>
              <a:t>pythonanywhere</a:t>
            </a:r>
            <a:r>
              <a:rPr lang="ar-SA" sz="2400" b="1" dirty="0">
                <a:latin typeface="Simplified Arabic" panose="02020603050405020304" pitchFamily="18" charset="-78"/>
                <a:cs typeface="Simplified Arabic" panose="02020603050405020304" pitchFamily="18" charset="-78"/>
              </a:rPr>
              <a:t>:</a:t>
            </a:r>
          </a:p>
          <a:p>
            <a:pPr marL="180000" indent="-180000">
              <a:buFont typeface="Arial" panose="020B0604020202020204" pitchFamily="34" charset="0"/>
              <a:buChar char="•"/>
            </a:pPr>
            <a:r>
              <a:rPr lang="ar-SA" sz="2400" dirty="0">
                <a:latin typeface="Simplified Arabic" panose="02020603050405020304" pitchFamily="18" charset="-78"/>
                <a:cs typeface="Simplified Arabic" panose="02020603050405020304" pitchFamily="18" charset="-78"/>
              </a:rPr>
              <a:t>إعداد قاعدة البيانات </a:t>
            </a:r>
            <a:r>
              <a:rPr lang="en-US" sz="2400" dirty="0">
                <a:latin typeface="Simplified Arabic" panose="02020603050405020304" pitchFamily="18" charset="-78"/>
                <a:cs typeface="Simplified Arabic" panose="02020603050405020304" pitchFamily="18" charset="-78"/>
              </a:rPr>
              <a:t>MySQL</a:t>
            </a:r>
            <a:r>
              <a:rPr lang="ar-SA" sz="2400" dirty="0">
                <a:latin typeface="Simplified Arabic" panose="02020603050405020304" pitchFamily="18" charset="-78"/>
                <a:cs typeface="Simplified Arabic" panose="02020603050405020304" pitchFamily="18" charset="-78"/>
              </a:rPr>
              <a:t>.</a:t>
            </a:r>
          </a:p>
          <a:p>
            <a:pPr marL="180000" indent="-180000">
              <a:buFont typeface="Arial" panose="020B0604020202020204" pitchFamily="34" charset="0"/>
              <a:buChar char="•"/>
            </a:pPr>
            <a:r>
              <a:rPr lang="ar-SA" sz="2400" dirty="0">
                <a:latin typeface="Simplified Arabic" panose="02020603050405020304" pitchFamily="18" charset="-78"/>
                <a:cs typeface="Simplified Arabic" panose="02020603050405020304" pitchFamily="18" charset="-78"/>
              </a:rPr>
              <a:t>تهيئة ملفات </a:t>
            </a:r>
            <a:r>
              <a:rPr lang="en-US" sz="2400" dirty="0">
                <a:latin typeface="Simplified Arabic" panose="02020603050405020304" pitchFamily="18" charset="-78"/>
                <a:cs typeface="Simplified Arabic" panose="02020603050405020304" pitchFamily="18" charset="-78"/>
              </a:rPr>
              <a:t>Static</a:t>
            </a:r>
            <a:r>
              <a:rPr lang="ar-SA" sz="2400" dirty="0">
                <a:latin typeface="Simplified Arabic" panose="02020603050405020304" pitchFamily="18" charset="-78"/>
                <a:cs typeface="Simplified Arabic" panose="02020603050405020304" pitchFamily="18" charset="-78"/>
              </a:rPr>
              <a:t> و</a:t>
            </a:r>
            <a:r>
              <a:rPr lang="en-US" sz="2400" dirty="0">
                <a:latin typeface="Simplified Arabic" panose="02020603050405020304" pitchFamily="18" charset="-78"/>
                <a:cs typeface="Simplified Arabic" panose="02020603050405020304" pitchFamily="18" charset="-78"/>
              </a:rPr>
              <a:t>Media</a:t>
            </a:r>
            <a:r>
              <a:rPr lang="ar-SA" sz="2400" dirty="0">
                <a:latin typeface="Simplified Arabic" panose="02020603050405020304" pitchFamily="18" charset="-78"/>
                <a:cs typeface="Simplified Arabic" panose="02020603050405020304" pitchFamily="18" charset="-78"/>
              </a:rPr>
              <a:t>.</a:t>
            </a:r>
          </a:p>
          <a:p>
            <a:pPr marL="180000" indent="-180000">
              <a:buFont typeface="Arial" panose="020B0604020202020204" pitchFamily="34" charset="0"/>
              <a:buChar char="•"/>
            </a:pPr>
            <a:r>
              <a:rPr lang="ar-SA" sz="2400" dirty="0">
                <a:latin typeface="Simplified Arabic" panose="02020603050405020304" pitchFamily="18" charset="-78"/>
                <a:cs typeface="Simplified Arabic" panose="02020603050405020304" pitchFamily="18" charset="-78"/>
              </a:rPr>
              <a:t>تكوين تطبيق </a:t>
            </a:r>
            <a:r>
              <a:rPr lang="en-US" sz="2400" dirty="0">
                <a:latin typeface="Simplified Arabic" panose="02020603050405020304" pitchFamily="18" charset="-78"/>
                <a:cs typeface="Simplified Arabic" panose="02020603050405020304" pitchFamily="18" charset="-78"/>
              </a:rPr>
              <a:t>Django</a:t>
            </a:r>
            <a:r>
              <a:rPr lang="ar-SA" sz="2400" dirty="0">
                <a:latin typeface="Simplified Arabic" panose="02020603050405020304" pitchFamily="18" charset="-78"/>
                <a:cs typeface="Simplified Arabic" panose="02020603050405020304" pitchFamily="18" charset="-78"/>
              </a:rPr>
              <a:t> للعمل على المنصة.</a:t>
            </a:r>
          </a:p>
          <a:p>
            <a:pPr marL="180000" indent="-180000">
              <a:buFont typeface="Arial" panose="020B0604020202020204" pitchFamily="34" charset="0"/>
              <a:buChar char="•"/>
            </a:pPr>
            <a:r>
              <a:rPr lang="ar-SA" sz="2400" dirty="0">
                <a:latin typeface="Simplified Arabic" panose="02020603050405020304" pitchFamily="18" charset="-78"/>
                <a:cs typeface="Simplified Arabic" panose="02020603050405020304" pitchFamily="18" charset="-78"/>
              </a:rPr>
              <a:t>إنشاء حساب مدير النظام.</a:t>
            </a:r>
          </a:p>
          <a:p>
            <a:pPr marL="180000" indent="-180000">
              <a:buFont typeface="Arial" panose="020B0604020202020204" pitchFamily="34" charset="0"/>
              <a:buChar char="•"/>
            </a:pPr>
            <a:r>
              <a:rPr lang="ar-SA" sz="2400" dirty="0">
                <a:latin typeface="Simplified Arabic" panose="02020603050405020304" pitchFamily="18" charset="-78"/>
                <a:cs typeface="Simplified Arabic" panose="02020603050405020304" pitchFamily="18" charset="-78"/>
              </a:rPr>
              <a:t>إضافة بيانات الأمراض الـ 20.</a:t>
            </a:r>
          </a:p>
        </p:txBody>
      </p:sp>
      <p:sp>
        <p:nvSpPr>
          <p:cNvPr id="11" name="TextBox 10">
            <a:extLst>
              <a:ext uri="{FF2B5EF4-FFF2-40B4-BE49-F238E27FC236}">
                <a16:creationId xmlns:a16="http://schemas.microsoft.com/office/drawing/2014/main" id="{C3947DC2-A189-40A8-8203-4399840464BC}"/>
              </a:ext>
            </a:extLst>
          </p:cNvPr>
          <p:cNvSpPr txBox="1"/>
          <p:nvPr/>
        </p:nvSpPr>
        <p:spPr>
          <a:xfrm>
            <a:off x="467544" y="149334"/>
            <a:ext cx="8208912" cy="523220"/>
          </a:xfrm>
          <a:prstGeom prst="rect">
            <a:avLst/>
          </a:prstGeom>
          <a:noFill/>
        </p:spPr>
        <p:txBody>
          <a:bodyPr wrap="square">
            <a:spAutoFit/>
          </a:bodyPr>
          <a:lstStyle/>
          <a:p>
            <a:r>
              <a:rPr lang="ar-SA" sz="2800" b="1" dirty="0">
                <a:solidFill>
                  <a:schemeClr val="bg2">
                    <a:lumMod val="10000"/>
                  </a:schemeClr>
                </a:solidFill>
                <a:effectLst/>
                <a:latin typeface="Simplified Arabic" panose="02020603050405020304" pitchFamily="18" charset="-78"/>
                <a:ea typeface="Calibri" panose="020F0502020204030204" pitchFamily="34" charset="0"/>
                <a:cs typeface="Simplified Arabic" panose="02020603050405020304" pitchFamily="18" charset="-78"/>
              </a:rPr>
              <a:t>نشر النظام على منصة </a:t>
            </a:r>
            <a:r>
              <a:rPr lang="en-US" sz="2200" b="1" dirty="0">
                <a:solidFill>
                  <a:schemeClr val="bg2">
                    <a:lumMod val="10000"/>
                  </a:schemeClr>
                </a:solidFill>
                <a:effectLst/>
                <a:latin typeface="Simplified Arabic" panose="02020603050405020304" pitchFamily="18" charset="-78"/>
                <a:ea typeface="Calibri" panose="020F0502020204030204" pitchFamily="34" charset="0"/>
                <a:cs typeface="Simplified Arabic" panose="02020603050405020304" pitchFamily="18" charset="-78"/>
              </a:rPr>
              <a:t>PythonAnywhere</a:t>
            </a:r>
            <a:r>
              <a:rPr lang="ar-SA" sz="2800" b="1" dirty="0">
                <a:solidFill>
                  <a:schemeClr val="bg2">
                    <a:lumMod val="10000"/>
                  </a:schemeClr>
                </a:solidFill>
                <a:effectLst/>
                <a:latin typeface="Simplified Arabic" panose="02020603050405020304" pitchFamily="18" charset="-78"/>
                <a:ea typeface="Calibri" panose="020F0502020204030204" pitchFamily="34" charset="0"/>
                <a:cs typeface="Simplified Arabic" panose="02020603050405020304" pitchFamily="18" charset="-78"/>
              </a:rPr>
              <a:t> واستخدام نموذج </a:t>
            </a:r>
            <a:r>
              <a:rPr lang="en-US" sz="2200" b="1" dirty="0">
                <a:solidFill>
                  <a:schemeClr val="bg2">
                    <a:lumMod val="10000"/>
                  </a:schemeClr>
                </a:solidFill>
                <a:effectLst/>
                <a:latin typeface="Simplified Arabic" panose="02020603050405020304" pitchFamily="18" charset="-78"/>
                <a:ea typeface="Calibri" panose="020F0502020204030204" pitchFamily="34" charset="0"/>
                <a:cs typeface="Simplified Arabic" panose="02020603050405020304" pitchFamily="18" charset="-78"/>
              </a:rPr>
              <a:t>ONNX</a:t>
            </a:r>
            <a:endParaRPr lang="ar-SY" sz="2200" dirty="0">
              <a:solidFill>
                <a:schemeClr val="bg2">
                  <a:lumMod val="10000"/>
                </a:schemeClr>
              </a:solidFill>
              <a:latin typeface="Simplified Arabic" panose="02020603050405020304" pitchFamily="18" charset="-78"/>
              <a:cs typeface="Simplified Arabic" panose="02020603050405020304" pitchFamily="18" charset="-78"/>
            </a:endParaRPr>
          </a:p>
        </p:txBody>
      </p:sp>
      <p:grpSp>
        <p:nvGrpSpPr>
          <p:cNvPr id="9" name="Group 8">
            <a:extLst>
              <a:ext uri="{FF2B5EF4-FFF2-40B4-BE49-F238E27FC236}">
                <a16:creationId xmlns:a16="http://schemas.microsoft.com/office/drawing/2014/main" id="{DD4FCEBD-589B-4719-8BBE-04D74CF44ED9}"/>
              </a:ext>
            </a:extLst>
          </p:cNvPr>
          <p:cNvGrpSpPr/>
          <p:nvPr/>
        </p:nvGrpSpPr>
        <p:grpSpPr>
          <a:xfrm>
            <a:off x="717724" y="739906"/>
            <a:ext cx="7708551" cy="2975717"/>
            <a:chOff x="727439" y="769966"/>
            <a:chExt cx="7928271" cy="3158633"/>
          </a:xfrm>
        </p:grpSpPr>
        <p:sp>
          <p:nvSpPr>
            <p:cNvPr id="6" name="Arrow: Striped Right 5">
              <a:extLst>
                <a:ext uri="{FF2B5EF4-FFF2-40B4-BE49-F238E27FC236}">
                  <a16:creationId xmlns:a16="http://schemas.microsoft.com/office/drawing/2014/main" id="{3F9EABEB-6C37-4E87-8617-72C133A0679F}"/>
                </a:ext>
              </a:extLst>
            </p:cNvPr>
            <p:cNvSpPr/>
            <p:nvPr/>
          </p:nvSpPr>
          <p:spPr>
            <a:xfrm>
              <a:off x="755576" y="769966"/>
              <a:ext cx="4680520" cy="864096"/>
            </a:xfrm>
            <a:prstGeom prst="stripedRightArrow">
              <a:avLst/>
            </a:prstGeom>
            <a:solidFill>
              <a:schemeClr val="accent3">
                <a:lumMod val="20000"/>
                <a:lumOff val="8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Y"/>
            </a:p>
          </p:txBody>
        </p:sp>
        <p:sp>
          <p:nvSpPr>
            <p:cNvPr id="10" name="Arrow: Striped Right 9">
              <a:extLst>
                <a:ext uri="{FF2B5EF4-FFF2-40B4-BE49-F238E27FC236}">
                  <a16:creationId xmlns:a16="http://schemas.microsoft.com/office/drawing/2014/main" id="{454C3364-16A6-44A3-BC71-26E1B0EA64AD}"/>
                </a:ext>
              </a:extLst>
            </p:cNvPr>
            <p:cNvSpPr/>
            <p:nvPr/>
          </p:nvSpPr>
          <p:spPr>
            <a:xfrm>
              <a:off x="748186" y="1528420"/>
              <a:ext cx="5695310" cy="864096"/>
            </a:xfrm>
            <a:prstGeom prst="stripedRightArrow">
              <a:avLst/>
            </a:prstGeom>
            <a:solidFill>
              <a:schemeClr val="accent3">
                <a:lumMod val="40000"/>
                <a:lumOff val="6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Y"/>
            </a:p>
          </p:txBody>
        </p:sp>
        <p:sp>
          <p:nvSpPr>
            <p:cNvPr id="12" name="Arrow: Striped Right 11">
              <a:extLst>
                <a:ext uri="{FF2B5EF4-FFF2-40B4-BE49-F238E27FC236}">
                  <a16:creationId xmlns:a16="http://schemas.microsoft.com/office/drawing/2014/main" id="{4E27E9E6-30E0-484A-B957-44B86ABEFE7C}"/>
                </a:ext>
              </a:extLst>
            </p:cNvPr>
            <p:cNvSpPr/>
            <p:nvPr/>
          </p:nvSpPr>
          <p:spPr>
            <a:xfrm>
              <a:off x="727439" y="2306049"/>
              <a:ext cx="6704133" cy="864096"/>
            </a:xfrm>
            <a:prstGeom prst="stripedRightArrow">
              <a:avLst/>
            </a:prstGeom>
            <a:solidFill>
              <a:schemeClr val="accent3">
                <a:lumMod val="60000"/>
                <a:lumOff val="4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Y"/>
            </a:p>
          </p:txBody>
        </p:sp>
        <p:sp>
          <p:nvSpPr>
            <p:cNvPr id="13" name="Arrow: Striped Right 12">
              <a:extLst>
                <a:ext uri="{FF2B5EF4-FFF2-40B4-BE49-F238E27FC236}">
                  <a16:creationId xmlns:a16="http://schemas.microsoft.com/office/drawing/2014/main" id="{F34118B2-58AD-4294-AAFE-AB2AB738ABD7}"/>
                </a:ext>
              </a:extLst>
            </p:cNvPr>
            <p:cNvSpPr/>
            <p:nvPr/>
          </p:nvSpPr>
          <p:spPr>
            <a:xfrm>
              <a:off x="727440" y="3064503"/>
              <a:ext cx="7928270" cy="864096"/>
            </a:xfrm>
            <a:prstGeom prst="stripedRightArrow">
              <a:avLst/>
            </a:prstGeom>
            <a:solidFill>
              <a:schemeClr val="accent3">
                <a:lumMod val="75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Y"/>
            </a:p>
          </p:txBody>
        </p:sp>
        <p:sp>
          <p:nvSpPr>
            <p:cNvPr id="14" name="Text 1">
              <a:extLst>
                <a:ext uri="{FF2B5EF4-FFF2-40B4-BE49-F238E27FC236}">
                  <a16:creationId xmlns:a16="http://schemas.microsoft.com/office/drawing/2014/main" id="{B246444F-B52F-49A0-86AC-C7F6480D8772}"/>
                </a:ext>
              </a:extLst>
            </p:cNvPr>
            <p:cNvSpPr/>
            <p:nvPr/>
          </p:nvSpPr>
          <p:spPr>
            <a:xfrm>
              <a:off x="971600" y="980616"/>
              <a:ext cx="2592288" cy="432047"/>
            </a:xfrm>
            <a:prstGeom prst="rect">
              <a:avLst/>
            </a:prstGeom>
            <a:noFill/>
            <a:ln/>
          </p:spPr>
          <p:txBody>
            <a:bodyPr wrap="none" lIns="0" tIns="0" rIns="0" bIns="0" rtlCol="0" anchor="t"/>
            <a:lstStyle/>
            <a:p>
              <a:pPr algn="l" rtl="0">
                <a:lnSpc>
                  <a:spcPct val="111000"/>
                </a:lnSpc>
              </a:pPr>
              <a:r>
                <a:rPr lang="en-US" sz="2200" b="1" dirty="0">
                  <a:latin typeface="Simplified Arabic" pitchFamily="18" charset="-78"/>
                  <a:cs typeface="Simplified Arabic" pitchFamily="18" charset="-78"/>
                </a:rPr>
                <a:t>PyTorch -</a:t>
              </a:r>
              <a:r>
                <a:rPr lang="en-US" sz="2200" b="1" dirty="0">
                  <a:latin typeface="Simplified Arabic" pitchFamily="18" charset="-78"/>
                  <a:cs typeface="Simplified Arabic" pitchFamily="18" charset="-78"/>
                  <a:sym typeface="Wingdings" panose="05000000000000000000" pitchFamily="2" charset="2"/>
                </a:rPr>
                <a:t> ONNX</a:t>
              </a:r>
              <a:endParaRPr lang="ar-SA" sz="2100" b="1" dirty="0">
                <a:latin typeface="Simplified Arabic" pitchFamily="18" charset="-78"/>
                <a:cs typeface="Simplified Arabic" pitchFamily="18" charset="-78"/>
              </a:endParaRPr>
            </a:p>
          </p:txBody>
        </p:sp>
        <p:sp>
          <p:nvSpPr>
            <p:cNvPr id="15" name="Text 1">
              <a:extLst>
                <a:ext uri="{FF2B5EF4-FFF2-40B4-BE49-F238E27FC236}">
                  <a16:creationId xmlns:a16="http://schemas.microsoft.com/office/drawing/2014/main" id="{41D793B8-56DC-4470-895E-748A44B3401E}"/>
                </a:ext>
              </a:extLst>
            </p:cNvPr>
            <p:cNvSpPr/>
            <p:nvPr/>
          </p:nvSpPr>
          <p:spPr>
            <a:xfrm>
              <a:off x="971600" y="1783484"/>
              <a:ext cx="3183006" cy="432047"/>
            </a:xfrm>
            <a:prstGeom prst="rect">
              <a:avLst/>
            </a:prstGeom>
            <a:noFill/>
            <a:ln/>
          </p:spPr>
          <p:txBody>
            <a:bodyPr wrap="none" lIns="0" tIns="0" rIns="0" bIns="0" rtlCol="0" anchor="t"/>
            <a:lstStyle/>
            <a:p>
              <a:pPr algn="l" rtl="0">
                <a:lnSpc>
                  <a:spcPct val="111000"/>
                </a:lnSpc>
              </a:pPr>
              <a:r>
                <a:rPr lang="en-US" sz="2200" b="1" dirty="0">
                  <a:latin typeface="Simplified Arabic" pitchFamily="18" charset="-78"/>
                  <a:cs typeface="Simplified Arabic" pitchFamily="18" charset="-78"/>
                </a:rPr>
                <a:t>efficientnet_b0_stratified_best.onnx</a:t>
              </a:r>
              <a:endParaRPr lang="ar-SA" sz="2200" b="1" dirty="0">
                <a:latin typeface="Simplified Arabic" pitchFamily="18" charset="-78"/>
                <a:cs typeface="Simplified Arabic" pitchFamily="18" charset="-78"/>
              </a:endParaRPr>
            </a:p>
          </p:txBody>
        </p:sp>
        <p:sp>
          <p:nvSpPr>
            <p:cNvPr id="16" name="Text 1">
              <a:extLst>
                <a:ext uri="{FF2B5EF4-FFF2-40B4-BE49-F238E27FC236}">
                  <a16:creationId xmlns:a16="http://schemas.microsoft.com/office/drawing/2014/main" id="{EA3EB28D-D8B0-4552-89D6-4D88D2160E24}"/>
                </a:ext>
              </a:extLst>
            </p:cNvPr>
            <p:cNvSpPr/>
            <p:nvPr/>
          </p:nvSpPr>
          <p:spPr>
            <a:xfrm>
              <a:off x="971600" y="2552045"/>
              <a:ext cx="1937920" cy="432047"/>
            </a:xfrm>
            <a:prstGeom prst="rect">
              <a:avLst/>
            </a:prstGeom>
            <a:noFill/>
            <a:ln/>
          </p:spPr>
          <p:txBody>
            <a:bodyPr wrap="none" lIns="0" tIns="0" rIns="0" bIns="0" rtlCol="0" anchor="t"/>
            <a:lstStyle/>
            <a:p>
              <a:pPr algn="l" rtl="0">
                <a:lnSpc>
                  <a:spcPct val="111000"/>
                </a:lnSpc>
              </a:pPr>
              <a:r>
                <a:rPr lang="en-US" sz="2200" b="1" dirty="0">
                  <a:latin typeface="Simplified Arabic" pitchFamily="18" charset="-78"/>
                  <a:cs typeface="Simplified Arabic" pitchFamily="18" charset="-78"/>
                </a:rPr>
                <a:t>ONNX Runtime</a:t>
              </a:r>
              <a:endParaRPr lang="ar-SA" sz="2200" b="1" dirty="0">
                <a:latin typeface="Simplified Arabic" pitchFamily="18" charset="-78"/>
                <a:cs typeface="Simplified Arabic" pitchFamily="18" charset="-78"/>
              </a:endParaRPr>
            </a:p>
          </p:txBody>
        </p:sp>
        <p:sp>
          <p:nvSpPr>
            <p:cNvPr id="17" name="Text 1">
              <a:extLst>
                <a:ext uri="{FF2B5EF4-FFF2-40B4-BE49-F238E27FC236}">
                  <a16:creationId xmlns:a16="http://schemas.microsoft.com/office/drawing/2014/main" id="{22A51D65-E99D-45D7-A98D-25DF9179223B}"/>
                </a:ext>
              </a:extLst>
            </p:cNvPr>
            <p:cNvSpPr/>
            <p:nvPr/>
          </p:nvSpPr>
          <p:spPr>
            <a:xfrm>
              <a:off x="971600" y="3280527"/>
              <a:ext cx="2741888" cy="432047"/>
            </a:xfrm>
            <a:prstGeom prst="rect">
              <a:avLst/>
            </a:prstGeom>
            <a:noFill/>
            <a:ln/>
          </p:spPr>
          <p:txBody>
            <a:bodyPr wrap="none" lIns="0" tIns="0" rIns="0" bIns="0" rtlCol="0" anchor="t"/>
            <a:lstStyle/>
            <a:p>
              <a:pPr algn="l" rtl="0">
                <a:lnSpc>
                  <a:spcPct val="111000"/>
                </a:lnSpc>
              </a:pPr>
              <a:r>
                <a:rPr lang="en-US" sz="2200" b="1" dirty="0">
                  <a:solidFill>
                    <a:schemeClr val="bg2">
                      <a:lumMod val="10000"/>
                    </a:schemeClr>
                  </a:solidFill>
                  <a:effectLst/>
                  <a:latin typeface="Simplified Arabic" panose="02020603050405020304" pitchFamily="18" charset="-78"/>
                  <a:ea typeface="Calibri" panose="020F0502020204030204" pitchFamily="34" charset="0"/>
                  <a:cs typeface="Simplified Arabic" panose="02020603050405020304" pitchFamily="18" charset="-78"/>
                </a:rPr>
                <a:t>PythonAnywhere</a:t>
              </a:r>
              <a:endParaRPr lang="ar-SA" sz="2100" b="1" dirty="0">
                <a:latin typeface="Simplified Arabic" pitchFamily="18" charset="-78"/>
                <a:cs typeface="Simplified Arabic" pitchFamily="18" charset="-78"/>
              </a:endParaRPr>
            </a:p>
          </p:txBody>
        </p:sp>
      </p:grpSp>
    </p:spTree>
    <p:extLst>
      <p:ext uri="{BB962C8B-B14F-4D97-AF65-F5344CB8AC3E}">
        <p14:creationId xmlns:p14="http://schemas.microsoft.com/office/powerpoint/2010/main" val="6748298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a:extLst>
              <a:ext uri="{FF2B5EF4-FFF2-40B4-BE49-F238E27FC236}">
                <a16:creationId xmlns:a16="http://schemas.microsoft.com/office/drawing/2014/main" id="{30F04915-A7A7-4065-B007-C659355AEA45}"/>
              </a:ext>
            </a:extLst>
          </p:cNvPr>
          <p:cNvSpPr/>
          <p:nvPr/>
        </p:nvSpPr>
        <p:spPr>
          <a:xfrm>
            <a:off x="3429000" y="5830242"/>
            <a:ext cx="2285999" cy="479078"/>
          </a:xfrm>
          <a:prstGeom prst="rect">
            <a:avLst/>
          </a:prstGeom>
          <a:noFill/>
          <a:ln/>
        </p:spPr>
        <p:txBody>
          <a:bodyPr wrap="none" lIns="0" tIns="0" rIns="0" bIns="0" rtlCol="0" anchor="t"/>
          <a:lstStyle/>
          <a:p>
            <a:pPr algn="ctr">
              <a:lnSpc>
                <a:spcPct val="111000"/>
              </a:lnSpc>
            </a:pPr>
            <a:r>
              <a:rPr lang="ar-SA" sz="2800" b="1" dirty="0">
                <a:latin typeface="Simplified Arabic" pitchFamily="18" charset="-78"/>
                <a:cs typeface="Simplified Arabic" pitchFamily="18" charset="-78"/>
              </a:rPr>
              <a:t>مقارنة النماذج</a:t>
            </a:r>
          </a:p>
        </p:txBody>
      </p:sp>
      <p:graphicFrame>
        <p:nvGraphicFramePr>
          <p:cNvPr id="2" name="Table 1">
            <a:extLst>
              <a:ext uri="{FF2B5EF4-FFF2-40B4-BE49-F238E27FC236}">
                <a16:creationId xmlns:a16="http://schemas.microsoft.com/office/drawing/2014/main" id="{88FA9068-E76D-4494-A43C-8EFE93D52A55}"/>
              </a:ext>
            </a:extLst>
          </p:cNvPr>
          <p:cNvGraphicFramePr>
            <a:graphicFrameLocks noGrp="1"/>
          </p:cNvGraphicFramePr>
          <p:nvPr>
            <p:extLst>
              <p:ext uri="{D42A27DB-BD31-4B8C-83A1-F6EECF244321}">
                <p14:modId xmlns:p14="http://schemas.microsoft.com/office/powerpoint/2010/main" val="2217471396"/>
              </p:ext>
            </p:extLst>
          </p:nvPr>
        </p:nvGraphicFramePr>
        <p:xfrm>
          <a:off x="654532" y="548680"/>
          <a:ext cx="7819554" cy="4804896"/>
        </p:xfrm>
        <a:graphic>
          <a:graphicData uri="http://schemas.openxmlformats.org/drawingml/2006/table">
            <a:tbl>
              <a:tblPr rtl="1" firstRow="1" firstCol="1" bandRow="1">
                <a:tableStyleId>{5C22544A-7EE6-4342-B048-85BDC9FD1C3A}</a:tableStyleId>
              </a:tblPr>
              <a:tblGrid>
                <a:gridCol w="2207564">
                  <a:extLst>
                    <a:ext uri="{9D8B030D-6E8A-4147-A177-3AD203B41FA5}">
                      <a16:colId xmlns:a16="http://schemas.microsoft.com/office/drawing/2014/main" val="3871750141"/>
                    </a:ext>
                  </a:extLst>
                </a:gridCol>
                <a:gridCol w="2951522">
                  <a:extLst>
                    <a:ext uri="{9D8B030D-6E8A-4147-A177-3AD203B41FA5}">
                      <a16:colId xmlns:a16="http://schemas.microsoft.com/office/drawing/2014/main" val="1631503356"/>
                    </a:ext>
                  </a:extLst>
                </a:gridCol>
                <a:gridCol w="2660468">
                  <a:extLst>
                    <a:ext uri="{9D8B030D-6E8A-4147-A177-3AD203B41FA5}">
                      <a16:colId xmlns:a16="http://schemas.microsoft.com/office/drawing/2014/main" val="3294973141"/>
                    </a:ext>
                  </a:extLst>
                </a:gridCol>
              </a:tblGrid>
              <a:tr h="720080">
                <a:tc>
                  <a:txBody>
                    <a:bodyPr/>
                    <a:lstStyle/>
                    <a:p>
                      <a:pPr algn="ctr" rtl="1">
                        <a:spcBef>
                          <a:spcPts val="600"/>
                        </a:spcBef>
                        <a:spcAft>
                          <a:spcPts val="600"/>
                        </a:spcAft>
                      </a:pPr>
                      <a:r>
                        <a:rPr lang="ar-SA" sz="2000" kern="0" dirty="0">
                          <a:effectLst/>
                          <a:cs typeface="+mj-cs"/>
                        </a:rPr>
                        <a:t> </a:t>
                      </a:r>
                      <a:endParaRPr lang="en-US" sz="1600" kern="100" dirty="0">
                        <a:effectLst/>
                        <a:latin typeface="Calibri" panose="020F0502020204030204" pitchFamily="34" charset="0"/>
                        <a:ea typeface="Calibri" panose="020F0502020204030204" pitchFamily="34" charset="0"/>
                        <a:cs typeface="+mj-cs"/>
                      </a:endParaRPr>
                    </a:p>
                  </a:txBody>
                  <a:tcPr marL="68580" marR="68580" marT="0" marB="0"/>
                </a:tc>
                <a:tc>
                  <a:txBody>
                    <a:bodyPr/>
                    <a:lstStyle/>
                    <a:p>
                      <a:pPr algn="ctr" rtl="1">
                        <a:spcBef>
                          <a:spcPts val="600"/>
                        </a:spcBef>
                        <a:spcAft>
                          <a:spcPts val="600"/>
                        </a:spcAft>
                      </a:pPr>
                      <a:r>
                        <a:rPr lang="ar-SA" sz="2000" kern="0" dirty="0">
                          <a:effectLst/>
                          <a:cs typeface="+mj-cs"/>
                        </a:rPr>
                        <a:t>التقسيم الطبقي الآلي نموذج</a:t>
                      </a:r>
                      <a:br>
                        <a:rPr lang="ar-SA" sz="2000" kern="0" dirty="0">
                          <a:effectLst/>
                          <a:cs typeface="+mj-cs"/>
                        </a:rPr>
                      </a:br>
                      <a:r>
                        <a:rPr lang="ar-SA" sz="2000" kern="0" dirty="0">
                          <a:effectLst/>
                          <a:cs typeface="+mj-cs"/>
                        </a:rPr>
                        <a:t> </a:t>
                      </a:r>
                      <a:r>
                        <a:rPr lang="en-US" sz="1800" kern="100" dirty="0">
                          <a:effectLst/>
                          <a:cs typeface="+mj-cs"/>
                        </a:rPr>
                        <a:t>EfficientNet_B0</a:t>
                      </a:r>
                      <a:endParaRPr lang="en-US" sz="1600" kern="100" dirty="0">
                        <a:effectLst/>
                        <a:latin typeface="Calibri" panose="020F0502020204030204" pitchFamily="34" charset="0"/>
                        <a:ea typeface="Calibri" panose="020F0502020204030204" pitchFamily="34" charset="0"/>
                        <a:cs typeface="+mj-cs"/>
                      </a:endParaRPr>
                    </a:p>
                  </a:txBody>
                  <a:tcPr marL="68580" marR="68580" marT="0" marB="0"/>
                </a:tc>
                <a:tc>
                  <a:txBody>
                    <a:bodyPr/>
                    <a:lstStyle/>
                    <a:p>
                      <a:pPr algn="ctr" rtl="1">
                        <a:spcBef>
                          <a:spcPts val="600"/>
                        </a:spcBef>
                        <a:spcAft>
                          <a:spcPts val="600"/>
                        </a:spcAft>
                      </a:pPr>
                      <a:r>
                        <a:rPr lang="ar-SA" sz="2000" kern="0" dirty="0">
                          <a:effectLst/>
                          <a:cs typeface="+mj-cs"/>
                        </a:rPr>
                        <a:t>التقسيم الطبقي الآلي نموذج </a:t>
                      </a:r>
                      <a:r>
                        <a:rPr lang="en-US" sz="1800" kern="100" dirty="0">
                          <a:effectLst/>
                          <a:cs typeface="+mj-cs"/>
                        </a:rPr>
                        <a:t>ResNet-18</a:t>
                      </a:r>
                      <a:endParaRPr lang="en-US" sz="1600" kern="100" dirty="0">
                        <a:effectLst/>
                        <a:latin typeface="Calibri" panose="020F0502020204030204" pitchFamily="34" charset="0"/>
                        <a:ea typeface="Calibri" panose="020F0502020204030204" pitchFamily="34" charset="0"/>
                        <a:cs typeface="+mj-cs"/>
                      </a:endParaRPr>
                    </a:p>
                  </a:txBody>
                  <a:tcPr marL="68580" marR="68580" marT="0" marB="0"/>
                </a:tc>
                <a:extLst>
                  <a:ext uri="{0D108BD9-81ED-4DB2-BD59-A6C34878D82A}">
                    <a16:rowId xmlns:a16="http://schemas.microsoft.com/office/drawing/2014/main" val="3238100870"/>
                  </a:ext>
                </a:extLst>
              </a:tr>
              <a:tr h="510602">
                <a:tc>
                  <a:txBody>
                    <a:bodyPr/>
                    <a:lstStyle/>
                    <a:p>
                      <a:pPr algn="ctr" rtl="1">
                        <a:spcBef>
                          <a:spcPts val="600"/>
                        </a:spcBef>
                        <a:spcAft>
                          <a:spcPts val="600"/>
                        </a:spcAft>
                      </a:pPr>
                      <a:r>
                        <a:rPr lang="en-US" sz="2000" kern="100" dirty="0">
                          <a:solidFill>
                            <a:schemeClr val="tx1">
                              <a:lumMod val="95000"/>
                              <a:lumOff val="5000"/>
                            </a:schemeClr>
                          </a:solidFill>
                          <a:effectLst/>
                          <a:cs typeface="+mj-cs"/>
                        </a:rPr>
                        <a:t>Training Accuracy</a:t>
                      </a:r>
                      <a:endParaRPr lang="en-US" sz="1800" kern="100" dirty="0">
                        <a:solidFill>
                          <a:schemeClr val="tx1">
                            <a:lumMod val="95000"/>
                            <a:lumOff val="5000"/>
                          </a:schemeClr>
                        </a:solidFill>
                        <a:effectLst/>
                        <a:latin typeface="Calibri" panose="020F0502020204030204" pitchFamily="34" charset="0"/>
                        <a:ea typeface="Calibri" panose="020F0502020204030204" pitchFamily="34" charset="0"/>
                        <a:cs typeface="+mj-cs"/>
                      </a:endParaRPr>
                    </a:p>
                  </a:txBody>
                  <a:tcPr marL="68580" marR="68580" marT="0" marB="0"/>
                </a:tc>
                <a:tc>
                  <a:txBody>
                    <a:bodyPr/>
                    <a:lstStyle/>
                    <a:p>
                      <a:pPr algn="ctr" rtl="1">
                        <a:spcBef>
                          <a:spcPts val="600"/>
                        </a:spcBef>
                        <a:spcAft>
                          <a:spcPts val="600"/>
                        </a:spcAft>
                      </a:pPr>
                      <a:r>
                        <a:rPr lang="en-US" sz="1800" b="1" kern="100" dirty="0">
                          <a:effectLst/>
                          <a:cs typeface="+mj-cs"/>
                        </a:rPr>
                        <a:t>0.9836</a:t>
                      </a:r>
                      <a:endParaRPr lang="en-US" sz="1600" b="1" kern="100" dirty="0">
                        <a:effectLst/>
                        <a:latin typeface="Calibri" panose="020F0502020204030204" pitchFamily="34" charset="0"/>
                        <a:ea typeface="Calibri" panose="020F0502020204030204" pitchFamily="34" charset="0"/>
                        <a:cs typeface="+mj-cs"/>
                      </a:endParaRPr>
                    </a:p>
                  </a:txBody>
                  <a:tcPr marL="68580" marR="68580" marT="0" marB="0" anchor="ctr"/>
                </a:tc>
                <a:tc>
                  <a:txBody>
                    <a:bodyPr/>
                    <a:lstStyle/>
                    <a:p>
                      <a:pPr algn="ctr" rtl="1">
                        <a:spcBef>
                          <a:spcPts val="600"/>
                        </a:spcBef>
                        <a:spcAft>
                          <a:spcPts val="600"/>
                        </a:spcAft>
                      </a:pPr>
                      <a:r>
                        <a:rPr lang="en-US" sz="1800" b="1" kern="100">
                          <a:effectLst/>
                          <a:cs typeface="+mj-cs"/>
                        </a:rPr>
                        <a:t>0.9664</a:t>
                      </a:r>
                      <a:endParaRPr lang="en-US" sz="1600" b="1" kern="100">
                        <a:effectLst/>
                        <a:latin typeface="Calibri" panose="020F0502020204030204" pitchFamily="34" charset="0"/>
                        <a:ea typeface="Calibri" panose="020F0502020204030204" pitchFamily="34" charset="0"/>
                        <a:cs typeface="+mj-cs"/>
                      </a:endParaRPr>
                    </a:p>
                  </a:txBody>
                  <a:tcPr marL="68580" marR="68580" marT="0" marB="0" anchor="ctr"/>
                </a:tc>
                <a:extLst>
                  <a:ext uri="{0D108BD9-81ED-4DB2-BD59-A6C34878D82A}">
                    <a16:rowId xmlns:a16="http://schemas.microsoft.com/office/drawing/2014/main" val="2475956469"/>
                  </a:ext>
                </a:extLst>
              </a:tr>
              <a:tr h="510602">
                <a:tc>
                  <a:txBody>
                    <a:bodyPr/>
                    <a:lstStyle/>
                    <a:p>
                      <a:pPr algn="ctr" rtl="1">
                        <a:spcBef>
                          <a:spcPts val="600"/>
                        </a:spcBef>
                        <a:spcAft>
                          <a:spcPts val="600"/>
                        </a:spcAft>
                      </a:pPr>
                      <a:r>
                        <a:rPr lang="en-US" sz="2000" kern="100" dirty="0">
                          <a:solidFill>
                            <a:schemeClr val="tx1">
                              <a:lumMod val="95000"/>
                              <a:lumOff val="5000"/>
                            </a:schemeClr>
                          </a:solidFill>
                          <a:effectLst/>
                          <a:cs typeface="+mj-cs"/>
                        </a:rPr>
                        <a:t>Validation Accuracy</a:t>
                      </a:r>
                      <a:endParaRPr lang="en-US" sz="1800" kern="100" dirty="0">
                        <a:solidFill>
                          <a:schemeClr val="tx1">
                            <a:lumMod val="95000"/>
                            <a:lumOff val="5000"/>
                          </a:schemeClr>
                        </a:solidFill>
                        <a:effectLst/>
                        <a:latin typeface="Calibri" panose="020F0502020204030204" pitchFamily="34" charset="0"/>
                        <a:ea typeface="Calibri" panose="020F0502020204030204" pitchFamily="34" charset="0"/>
                        <a:cs typeface="+mj-cs"/>
                      </a:endParaRPr>
                    </a:p>
                  </a:txBody>
                  <a:tcPr marL="68580" marR="68580" marT="0" marB="0"/>
                </a:tc>
                <a:tc>
                  <a:txBody>
                    <a:bodyPr/>
                    <a:lstStyle/>
                    <a:p>
                      <a:pPr algn="ctr" rtl="1">
                        <a:spcBef>
                          <a:spcPts val="600"/>
                        </a:spcBef>
                        <a:spcAft>
                          <a:spcPts val="600"/>
                        </a:spcAft>
                      </a:pPr>
                      <a:r>
                        <a:rPr lang="en-US" sz="1800" b="1" kern="100" dirty="0">
                          <a:effectLst/>
                          <a:cs typeface="+mj-cs"/>
                        </a:rPr>
                        <a:t>0.9667</a:t>
                      </a:r>
                      <a:endParaRPr lang="en-US" sz="1600" b="1" kern="100" dirty="0">
                        <a:effectLst/>
                        <a:latin typeface="Calibri" panose="020F0502020204030204" pitchFamily="34" charset="0"/>
                        <a:ea typeface="Calibri" panose="020F0502020204030204" pitchFamily="34" charset="0"/>
                        <a:cs typeface="+mj-cs"/>
                      </a:endParaRPr>
                    </a:p>
                  </a:txBody>
                  <a:tcPr marL="68580" marR="68580" marT="0" marB="0" anchor="ctr"/>
                </a:tc>
                <a:tc>
                  <a:txBody>
                    <a:bodyPr/>
                    <a:lstStyle/>
                    <a:p>
                      <a:pPr algn="ctr" rtl="1">
                        <a:spcBef>
                          <a:spcPts val="600"/>
                        </a:spcBef>
                        <a:spcAft>
                          <a:spcPts val="600"/>
                        </a:spcAft>
                      </a:pPr>
                      <a:r>
                        <a:rPr lang="en-US" sz="1800" b="1" kern="100">
                          <a:effectLst/>
                          <a:cs typeface="+mj-cs"/>
                        </a:rPr>
                        <a:t>0.9200</a:t>
                      </a:r>
                      <a:endParaRPr lang="en-US" sz="1600" b="1" kern="100">
                        <a:effectLst/>
                        <a:latin typeface="Calibri" panose="020F0502020204030204" pitchFamily="34" charset="0"/>
                        <a:ea typeface="Calibri" panose="020F0502020204030204" pitchFamily="34" charset="0"/>
                        <a:cs typeface="+mj-cs"/>
                      </a:endParaRPr>
                    </a:p>
                  </a:txBody>
                  <a:tcPr marL="68580" marR="68580" marT="0" marB="0" anchor="ctr"/>
                </a:tc>
                <a:extLst>
                  <a:ext uri="{0D108BD9-81ED-4DB2-BD59-A6C34878D82A}">
                    <a16:rowId xmlns:a16="http://schemas.microsoft.com/office/drawing/2014/main" val="3666604661"/>
                  </a:ext>
                </a:extLst>
              </a:tr>
              <a:tr h="510602">
                <a:tc>
                  <a:txBody>
                    <a:bodyPr/>
                    <a:lstStyle/>
                    <a:p>
                      <a:pPr algn="ctr" rtl="1">
                        <a:spcBef>
                          <a:spcPts val="600"/>
                        </a:spcBef>
                        <a:spcAft>
                          <a:spcPts val="600"/>
                        </a:spcAft>
                      </a:pPr>
                      <a:r>
                        <a:rPr lang="en-US" sz="2000" kern="100" dirty="0">
                          <a:solidFill>
                            <a:schemeClr val="tx1">
                              <a:lumMod val="95000"/>
                              <a:lumOff val="5000"/>
                            </a:schemeClr>
                          </a:solidFill>
                          <a:effectLst/>
                          <a:cs typeface="+mj-cs"/>
                        </a:rPr>
                        <a:t>Accuracy</a:t>
                      </a:r>
                      <a:endParaRPr lang="en-US" sz="1800" kern="100" dirty="0">
                        <a:solidFill>
                          <a:schemeClr val="tx1">
                            <a:lumMod val="95000"/>
                            <a:lumOff val="5000"/>
                          </a:schemeClr>
                        </a:solidFill>
                        <a:effectLst/>
                        <a:latin typeface="Calibri" panose="020F0502020204030204" pitchFamily="34" charset="0"/>
                        <a:ea typeface="Calibri" panose="020F0502020204030204" pitchFamily="34" charset="0"/>
                        <a:cs typeface="+mj-cs"/>
                      </a:endParaRPr>
                    </a:p>
                  </a:txBody>
                  <a:tcPr marL="68580" marR="68580" marT="0" marB="0"/>
                </a:tc>
                <a:tc>
                  <a:txBody>
                    <a:bodyPr/>
                    <a:lstStyle/>
                    <a:p>
                      <a:pPr algn="ctr" rtl="1">
                        <a:spcBef>
                          <a:spcPts val="600"/>
                        </a:spcBef>
                        <a:spcAft>
                          <a:spcPts val="600"/>
                        </a:spcAft>
                      </a:pPr>
                      <a:r>
                        <a:rPr lang="en-US" sz="1800" b="1" kern="100" dirty="0">
                          <a:effectLst/>
                          <a:cs typeface="+mj-cs"/>
                        </a:rPr>
                        <a:t>0.9568</a:t>
                      </a:r>
                      <a:endParaRPr lang="en-US" sz="1600" b="1" kern="100" dirty="0">
                        <a:effectLst/>
                        <a:latin typeface="Calibri" panose="020F0502020204030204" pitchFamily="34" charset="0"/>
                        <a:ea typeface="Calibri" panose="020F0502020204030204" pitchFamily="34" charset="0"/>
                        <a:cs typeface="+mj-cs"/>
                      </a:endParaRPr>
                    </a:p>
                  </a:txBody>
                  <a:tcPr marL="68580" marR="68580" marT="0" marB="0" anchor="ctr"/>
                </a:tc>
                <a:tc>
                  <a:txBody>
                    <a:bodyPr/>
                    <a:lstStyle/>
                    <a:p>
                      <a:pPr algn="ctr" rtl="1">
                        <a:spcBef>
                          <a:spcPts val="600"/>
                        </a:spcBef>
                        <a:spcAft>
                          <a:spcPts val="600"/>
                        </a:spcAft>
                      </a:pPr>
                      <a:r>
                        <a:rPr lang="en-US" sz="1800" b="1" kern="100">
                          <a:effectLst/>
                          <a:cs typeface="+mj-cs"/>
                        </a:rPr>
                        <a:t>0.9467</a:t>
                      </a:r>
                      <a:endParaRPr lang="en-US" sz="1600" b="1" kern="100">
                        <a:effectLst/>
                        <a:latin typeface="Calibri" panose="020F0502020204030204" pitchFamily="34" charset="0"/>
                        <a:ea typeface="Calibri" panose="020F0502020204030204" pitchFamily="34" charset="0"/>
                        <a:cs typeface="+mj-cs"/>
                      </a:endParaRPr>
                    </a:p>
                  </a:txBody>
                  <a:tcPr marL="68580" marR="68580" marT="0" marB="0" anchor="ctr"/>
                </a:tc>
                <a:extLst>
                  <a:ext uri="{0D108BD9-81ED-4DB2-BD59-A6C34878D82A}">
                    <a16:rowId xmlns:a16="http://schemas.microsoft.com/office/drawing/2014/main" val="1131698121"/>
                  </a:ext>
                </a:extLst>
              </a:tr>
              <a:tr h="510602">
                <a:tc>
                  <a:txBody>
                    <a:bodyPr/>
                    <a:lstStyle/>
                    <a:p>
                      <a:pPr algn="ctr" rtl="1">
                        <a:spcBef>
                          <a:spcPts val="600"/>
                        </a:spcBef>
                        <a:spcAft>
                          <a:spcPts val="600"/>
                        </a:spcAft>
                      </a:pPr>
                      <a:r>
                        <a:rPr lang="en-US" sz="2000" kern="100" dirty="0">
                          <a:solidFill>
                            <a:schemeClr val="tx1">
                              <a:lumMod val="95000"/>
                              <a:lumOff val="5000"/>
                            </a:schemeClr>
                          </a:solidFill>
                          <a:effectLst/>
                          <a:cs typeface="+mj-cs"/>
                        </a:rPr>
                        <a:t>Precision</a:t>
                      </a:r>
                      <a:endParaRPr lang="en-US" sz="1800" kern="100" dirty="0">
                        <a:solidFill>
                          <a:schemeClr val="tx1">
                            <a:lumMod val="95000"/>
                            <a:lumOff val="5000"/>
                          </a:schemeClr>
                        </a:solidFill>
                        <a:effectLst/>
                        <a:latin typeface="Calibri" panose="020F0502020204030204" pitchFamily="34" charset="0"/>
                        <a:ea typeface="Calibri" panose="020F0502020204030204" pitchFamily="34" charset="0"/>
                        <a:cs typeface="+mj-cs"/>
                      </a:endParaRPr>
                    </a:p>
                  </a:txBody>
                  <a:tcPr marL="68580" marR="68580" marT="0" marB="0"/>
                </a:tc>
                <a:tc>
                  <a:txBody>
                    <a:bodyPr/>
                    <a:lstStyle/>
                    <a:p>
                      <a:pPr algn="ctr" rtl="1">
                        <a:spcBef>
                          <a:spcPts val="600"/>
                        </a:spcBef>
                        <a:spcAft>
                          <a:spcPts val="600"/>
                        </a:spcAft>
                      </a:pPr>
                      <a:r>
                        <a:rPr lang="en-US" sz="1800" b="1" kern="100" dirty="0">
                          <a:effectLst/>
                          <a:cs typeface="+mj-cs"/>
                        </a:rPr>
                        <a:t>0.9597</a:t>
                      </a:r>
                      <a:endParaRPr lang="en-US" sz="1600" b="1" kern="100" dirty="0">
                        <a:effectLst/>
                        <a:latin typeface="Calibri" panose="020F0502020204030204" pitchFamily="34" charset="0"/>
                        <a:ea typeface="Calibri" panose="020F0502020204030204" pitchFamily="34" charset="0"/>
                        <a:cs typeface="+mj-cs"/>
                      </a:endParaRPr>
                    </a:p>
                  </a:txBody>
                  <a:tcPr marL="68580" marR="68580" marT="0" marB="0" anchor="ctr"/>
                </a:tc>
                <a:tc>
                  <a:txBody>
                    <a:bodyPr/>
                    <a:lstStyle/>
                    <a:p>
                      <a:pPr algn="ctr" rtl="1">
                        <a:spcBef>
                          <a:spcPts val="600"/>
                        </a:spcBef>
                        <a:spcAft>
                          <a:spcPts val="600"/>
                        </a:spcAft>
                      </a:pPr>
                      <a:r>
                        <a:rPr lang="en-US" sz="1800" b="1" kern="100">
                          <a:effectLst/>
                          <a:cs typeface="+mj-cs"/>
                        </a:rPr>
                        <a:t>0.9519</a:t>
                      </a:r>
                      <a:endParaRPr lang="en-US" sz="1600" b="1" kern="100">
                        <a:effectLst/>
                        <a:latin typeface="Calibri" panose="020F0502020204030204" pitchFamily="34" charset="0"/>
                        <a:ea typeface="Calibri" panose="020F0502020204030204" pitchFamily="34" charset="0"/>
                        <a:cs typeface="+mj-cs"/>
                      </a:endParaRPr>
                    </a:p>
                  </a:txBody>
                  <a:tcPr marL="68580" marR="68580" marT="0" marB="0" anchor="ctr"/>
                </a:tc>
                <a:extLst>
                  <a:ext uri="{0D108BD9-81ED-4DB2-BD59-A6C34878D82A}">
                    <a16:rowId xmlns:a16="http://schemas.microsoft.com/office/drawing/2014/main" val="187381070"/>
                  </a:ext>
                </a:extLst>
              </a:tr>
              <a:tr h="510602">
                <a:tc>
                  <a:txBody>
                    <a:bodyPr/>
                    <a:lstStyle/>
                    <a:p>
                      <a:pPr algn="ctr" rtl="1">
                        <a:spcBef>
                          <a:spcPts val="600"/>
                        </a:spcBef>
                        <a:spcAft>
                          <a:spcPts val="600"/>
                        </a:spcAft>
                      </a:pPr>
                      <a:r>
                        <a:rPr lang="en-US" sz="2000" kern="100" dirty="0">
                          <a:solidFill>
                            <a:schemeClr val="tx1">
                              <a:lumMod val="95000"/>
                              <a:lumOff val="5000"/>
                            </a:schemeClr>
                          </a:solidFill>
                          <a:effectLst/>
                          <a:cs typeface="+mj-cs"/>
                        </a:rPr>
                        <a:t>Recall</a:t>
                      </a:r>
                      <a:endParaRPr lang="en-US" sz="1800" kern="100" dirty="0">
                        <a:solidFill>
                          <a:schemeClr val="tx1">
                            <a:lumMod val="95000"/>
                            <a:lumOff val="5000"/>
                          </a:schemeClr>
                        </a:solidFill>
                        <a:effectLst/>
                        <a:latin typeface="Calibri" panose="020F0502020204030204" pitchFamily="34" charset="0"/>
                        <a:ea typeface="Calibri" panose="020F0502020204030204" pitchFamily="34" charset="0"/>
                        <a:cs typeface="+mj-cs"/>
                      </a:endParaRPr>
                    </a:p>
                  </a:txBody>
                  <a:tcPr marL="68580" marR="68580" marT="0" marB="0"/>
                </a:tc>
                <a:tc>
                  <a:txBody>
                    <a:bodyPr/>
                    <a:lstStyle/>
                    <a:p>
                      <a:pPr algn="ctr" rtl="1">
                        <a:spcBef>
                          <a:spcPts val="600"/>
                        </a:spcBef>
                        <a:spcAft>
                          <a:spcPts val="600"/>
                        </a:spcAft>
                      </a:pPr>
                      <a:r>
                        <a:rPr lang="en-US" sz="1800" b="1" kern="100" dirty="0">
                          <a:effectLst/>
                          <a:cs typeface="+mj-cs"/>
                        </a:rPr>
                        <a:t>0.9567</a:t>
                      </a:r>
                      <a:endParaRPr lang="en-US" sz="1600" b="1" kern="100" dirty="0">
                        <a:effectLst/>
                        <a:latin typeface="Calibri" panose="020F0502020204030204" pitchFamily="34" charset="0"/>
                        <a:ea typeface="Calibri" panose="020F0502020204030204" pitchFamily="34" charset="0"/>
                        <a:cs typeface="+mj-cs"/>
                      </a:endParaRPr>
                    </a:p>
                  </a:txBody>
                  <a:tcPr marL="68580" marR="68580" marT="0" marB="0" anchor="ctr"/>
                </a:tc>
                <a:tc>
                  <a:txBody>
                    <a:bodyPr/>
                    <a:lstStyle/>
                    <a:p>
                      <a:pPr algn="ctr" rtl="1">
                        <a:spcBef>
                          <a:spcPts val="600"/>
                        </a:spcBef>
                        <a:spcAft>
                          <a:spcPts val="600"/>
                        </a:spcAft>
                      </a:pPr>
                      <a:r>
                        <a:rPr lang="en-US" sz="1800" b="1" kern="100">
                          <a:effectLst/>
                          <a:cs typeface="+mj-cs"/>
                        </a:rPr>
                        <a:t>0.9467</a:t>
                      </a:r>
                      <a:endParaRPr lang="en-US" sz="1600" b="1" kern="100">
                        <a:effectLst/>
                        <a:latin typeface="Calibri" panose="020F0502020204030204" pitchFamily="34" charset="0"/>
                        <a:ea typeface="Calibri" panose="020F0502020204030204" pitchFamily="34" charset="0"/>
                        <a:cs typeface="+mj-cs"/>
                      </a:endParaRPr>
                    </a:p>
                  </a:txBody>
                  <a:tcPr marL="68580" marR="68580" marT="0" marB="0" anchor="ctr"/>
                </a:tc>
                <a:extLst>
                  <a:ext uri="{0D108BD9-81ED-4DB2-BD59-A6C34878D82A}">
                    <a16:rowId xmlns:a16="http://schemas.microsoft.com/office/drawing/2014/main" val="1906141429"/>
                  </a:ext>
                </a:extLst>
              </a:tr>
              <a:tr h="510602">
                <a:tc>
                  <a:txBody>
                    <a:bodyPr/>
                    <a:lstStyle/>
                    <a:p>
                      <a:pPr algn="ctr" rtl="1">
                        <a:spcBef>
                          <a:spcPts val="600"/>
                        </a:spcBef>
                        <a:spcAft>
                          <a:spcPts val="600"/>
                        </a:spcAft>
                      </a:pPr>
                      <a:r>
                        <a:rPr lang="en-US" sz="2000" kern="100" dirty="0">
                          <a:solidFill>
                            <a:schemeClr val="tx1">
                              <a:lumMod val="95000"/>
                              <a:lumOff val="5000"/>
                            </a:schemeClr>
                          </a:solidFill>
                          <a:effectLst/>
                          <a:cs typeface="+mj-cs"/>
                        </a:rPr>
                        <a:t>F1_Score</a:t>
                      </a:r>
                      <a:endParaRPr lang="en-US" sz="1800" kern="100" dirty="0">
                        <a:solidFill>
                          <a:schemeClr val="tx1">
                            <a:lumMod val="95000"/>
                            <a:lumOff val="5000"/>
                          </a:schemeClr>
                        </a:solidFill>
                        <a:effectLst/>
                        <a:latin typeface="Calibri" panose="020F0502020204030204" pitchFamily="34" charset="0"/>
                        <a:ea typeface="Calibri" panose="020F0502020204030204" pitchFamily="34" charset="0"/>
                        <a:cs typeface="+mj-cs"/>
                      </a:endParaRPr>
                    </a:p>
                  </a:txBody>
                  <a:tcPr marL="68580" marR="68580" marT="0" marB="0"/>
                </a:tc>
                <a:tc>
                  <a:txBody>
                    <a:bodyPr/>
                    <a:lstStyle/>
                    <a:p>
                      <a:pPr algn="ctr" rtl="1">
                        <a:spcBef>
                          <a:spcPts val="600"/>
                        </a:spcBef>
                        <a:spcAft>
                          <a:spcPts val="600"/>
                        </a:spcAft>
                      </a:pPr>
                      <a:r>
                        <a:rPr lang="en-US" sz="1800" b="1" kern="100" dirty="0">
                          <a:effectLst/>
                          <a:cs typeface="+mj-cs"/>
                        </a:rPr>
                        <a:t>0.9568</a:t>
                      </a:r>
                      <a:endParaRPr lang="en-US" sz="1600" b="1" kern="100" dirty="0">
                        <a:effectLst/>
                        <a:latin typeface="Calibri" panose="020F0502020204030204" pitchFamily="34" charset="0"/>
                        <a:ea typeface="Calibri" panose="020F0502020204030204" pitchFamily="34" charset="0"/>
                        <a:cs typeface="+mj-cs"/>
                      </a:endParaRPr>
                    </a:p>
                  </a:txBody>
                  <a:tcPr marL="68580" marR="68580" marT="0" marB="0" anchor="ctr"/>
                </a:tc>
                <a:tc>
                  <a:txBody>
                    <a:bodyPr/>
                    <a:lstStyle/>
                    <a:p>
                      <a:pPr algn="ctr" rtl="1">
                        <a:spcBef>
                          <a:spcPts val="600"/>
                        </a:spcBef>
                        <a:spcAft>
                          <a:spcPts val="600"/>
                        </a:spcAft>
                      </a:pPr>
                      <a:r>
                        <a:rPr lang="en-US" sz="1800" b="1" kern="100" dirty="0">
                          <a:effectLst/>
                          <a:cs typeface="+mj-cs"/>
                        </a:rPr>
                        <a:t>0.9464</a:t>
                      </a:r>
                      <a:endParaRPr lang="en-US" sz="1600" b="1" kern="100" dirty="0">
                        <a:effectLst/>
                        <a:latin typeface="Calibri" panose="020F0502020204030204" pitchFamily="34" charset="0"/>
                        <a:ea typeface="Calibri" panose="020F0502020204030204" pitchFamily="34" charset="0"/>
                        <a:cs typeface="+mj-cs"/>
                      </a:endParaRPr>
                    </a:p>
                  </a:txBody>
                  <a:tcPr marL="68580" marR="68580" marT="0" marB="0" anchor="ctr"/>
                </a:tc>
                <a:extLst>
                  <a:ext uri="{0D108BD9-81ED-4DB2-BD59-A6C34878D82A}">
                    <a16:rowId xmlns:a16="http://schemas.microsoft.com/office/drawing/2014/main" val="3268302371"/>
                  </a:ext>
                </a:extLst>
              </a:tr>
              <a:tr h="510602">
                <a:tc>
                  <a:txBody>
                    <a:bodyPr/>
                    <a:lstStyle/>
                    <a:p>
                      <a:pPr algn="ctr" rtl="1">
                        <a:spcBef>
                          <a:spcPts val="600"/>
                        </a:spcBef>
                        <a:spcAft>
                          <a:spcPts val="600"/>
                        </a:spcAft>
                      </a:pPr>
                      <a:r>
                        <a:rPr lang="en-US" sz="2000" kern="100" dirty="0">
                          <a:solidFill>
                            <a:schemeClr val="tx1">
                              <a:lumMod val="95000"/>
                              <a:lumOff val="5000"/>
                            </a:schemeClr>
                          </a:solidFill>
                          <a:effectLst/>
                          <a:cs typeface="+mj-cs"/>
                        </a:rPr>
                        <a:t>Macro avg</a:t>
                      </a:r>
                      <a:endParaRPr lang="en-US" sz="1800" kern="100" dirty="0">
                        <a:solidFill>
                          <a:schemeClr val="tx1">
                            <a:lumMod val="95000"/>
                            <a:lumOff val="5000"/>
                          </a:schemeClr>
                        </a:solidFill>
                        <a:effectLst/>
                        <a:latin typeface="Calibri" panose="020F0502020204030204" pitchFamily="34" charset="0"/>
                        <a:ea typeface="Calibri" panose="020F0502020204030204" pitchFamily="34" charset="0"/>
                        <a:cs typeface="+mj-cs"/>
                      </a:endParaRPr>
                    </a:p>
                  </a:txBody>
                  <a:tcPr marL="68580" marR="68580" marT="0" marB="0"/>
                </a:tc>
                <a:tc>
                  <a:txBody>
                    <a:bodyPr/>
                    <a:lstStyle/>
                    <a:p>
                      <a:pPr algn="ctr" rtl="1">
                        <a:spcBef>
                          <a:spcPts val="600"/>
                        </a:spcBef>
                        <a:spcAft>
                          <a:spcPts val="600"/>
                        </a:spcAft>
                      </a:pPr>
                      <a:r>
                        <a:rPr lang="en-US" sz="1800" b="1" kern="100">
                          <a:effectLst/>
                          <a:cs typeface="+mj-cs"/>
                        </a:rPr>
                        <a:t>0.9568</a:t>
                      </a:r>
                      <a:endParaRPr lang="en-US" sz="1600" b="1" kern="100">
                        <a:effectLst/>
                        <a:latin typeface="Calibri" panose="020F0502020204030204" pitchFamily="34" charset="0"/>
                        <a:ea typeface="Calibri" panose="020F0502020204030204" pitchFamily="34" charset="0"/>
                        <a:cs typeface="+mj-cs"/>
                      </a:endParaRPr>
                    </a:p>
                  </a:txBody>
                  <a:tcPr marL="68580" marR="68580" marT="0" marB="0" anchor="ctr"/>
                </a:tc>
                <a:tc>
                  <a:txBody>
                    <a:bodyPr/>
                    <a:lstStyle/>
                    <a:p>
                      <a:pPr algn="ctr" rtl="1">
                        <a:spcBef>
                          <a:spcPts val="600"/>
                        </a:spcBef>
                        <a:spcAft>
                          <a:spcPts val="600"/>
                        </a:spcAft>
                      </a:pPr>
                      <a:r>
                        <a:rPr lang="en-US" sz="1800" b="1" kern="100" dirty="0">
                          <a:effectLst/>
                          <a:cs typeface="+mj-cs"/>
                        </a:rPr>
                        <a:t>0.9467</a:t>
                      </a:r>
                      <a:endParaRPr lang="en-US" sz="1600" b="1" kern="100" dirty="0">
                        <a:effectLst/>
                        <a:latin typeface="Calibri" panose="020F0502020204030204" pitchFamily="34" charset="0"/>
                        <a:ea typeface="Calibri" panose="020F0502020204030204" pitchFamily="34" charset="0"/>
                        <a:cs typeface="+mj-cs"/>
                      </a:endParaRPr>
                    </a:p>
                  </a:txBody>
                  <a:tcPr marL="68580" marR="68580" marT="0" marB="0" anchor="ctr"/>
                </a:tc>
                <a:extLst>
                  <a:ext uri="{0D108BD9-81ED-4DB2-BD59-A6C34878D82A}">
                    <a16:rowId xmlns:a16="http://schemas.microsoft.com/office/drawing/2014/main" val="2027181112"/>
                  </a:ext>
                </a:extLst>
              </a:tr>
              <a:tr h="510602">
                <a:tc>
                  <a:txBody>
                    <a:bodyPr/>
                    <a:lstStyle/>
                    <a:p>
                      <a:pPr algn="ctr" rtl="1">
                        <a:spcBef>
                          <a:spcPts val="600"/>
                        </a:spcBef>
                        <a:spcAft>
                          <a:spcPts val="600"/>
                        </a:spcAft>
                      </a:pPr>
                      <a:r>
                        <a:rPr lang="en-US" sz="2000" kern="100" dirty="0">
                          <a:solidFill>
                            <a:schemeClr val="tx1">
                              <a:lumMod val="95000"/>
                              <a:lumOff val="5000"/>
                            </a:schemeClr>
                          </a:solidFill>
                          <a:effectLst/>
                          <a:cs typeface="+mj-cs"/>
                        </a:rPr>
                        <a:t>Weighted avg</a:t>
                      </a:r>
                      <a:endParaRPr lang="en-US" sz="1800" kern="100" dirty="0">
                        <a:solidFill>
                          <a:schemeClr val="tx1">
                            <a:lumMod val="95000"/>
                            <a:lumOff val="5000"/>
                          </a:schemeClr>
                        </a:solidFill>
                        <a:effectLst/>
                        <a:latin typeface="Calibri" panose="020F0502020204030204" pitchFamily="34" charset="0"/>
                        <a:ea typeface="Calibri" panose="020F0502020204030204" pitchFamily="34" charset="0"/>
                        <a:cs typeface="+mj-cs"/>
                      </a:endParaRPr>
                    </a:p>
                  </a:txBody>
                  <a:tcPr marL="68580" marR="68580" marT="0" marB="0"/>
                </a:tc>
                <a:tc>
                  <a:txBody>
                    <a:bodyPr/>
                    <a:lstStyle/>
                    <a:p>
                      <a:pPr algn="ctr" rtl="1">
                        <a:spcBef>
                          <a:spcPts val="600"/>
                        </a:spcBef>
                        <a:spcAft>
                          <a:spcPts val="600"/>
                        </a:spcAft>
                      </a:pPr>
                      <a:r>
                        <a:rPr lang="en-US" sz="1800" b="1" kern="100" dirty="0">
                          <a:effectLst/>
                          <a:cs typeface="+mj-cs"/>
                        </a:rPr>
                        <a:t>0.9568</a:t>
                      </a:r>
                      <a:endParaRPr lang="en-US" sz="1600" b="1" kern="100" dirty="0">
                        <a:effectLst/>
                        <a:latin typeface="Calibri" panose="020F0502020204030204" pitchFamily="34" charset="0"/>
                        <a:ea typeface="Calibri" panose="020F0502020204030204" pitchFamily="34" charset="0"/>
                        <a:cs typeface="+mj-cs"/>
                      </a:endParaRPr>
                    </a:p>
                  </a:txBody>
                  <a:tcPr marL="68580" marR="68580" marT="0" marB="0" anchor="ctr"/>
                </a:tc>
                <a:tc>
                  <a:txBody>
                    <a:bodyPr/>
                    <a:lstStyle/>
                    <a:p>
                      <a:pPr algn="ctr" rtl="1">
                        <a:spcBef>
                          <a:spcPts val="600"/>
                        </a:spcBef>
                        <a:spcAft>
                          <a:spcPts val="600"/>
                        </a:spcAft>
                      </a:pPr>
                      <a:r>
                        <a:rPr lang="en-US" sz="1800" b="1" kern="100" dirty="0">
                          <a:effectLst/>
                          <a:cs typeface="+mj-cs"/>
                        </a:rPr>
                        <a:t>0.9467</a:t>
                      </a:r>
                      <a:endParaRPr lang="en-US" sz="1600" b="1" kern="100" dirty="0">
                        <a:effectLst/>
                        <a:latin typeface="Calibri" panose="020F0502020204030204" pitchFamily="34" charset="0"/>
                        <a:ea typeface="Calibri" panose="020F0502020204030204" pitchFamily="34" charset="0"/>
                        <a:cs typeface="+mj-cs"/>
                      </a:endParaRPr>
                    </a:p>
                  </a:txBody>
                  <a:tcPr marL="68580" marR="68580" marT="0" marB="0" anchor="ctr"/>
                </a:tc>
                <a:extLst>
                  <a:ext uri="{0D108BD9-81ED-4DB2-BD59-A6C34878D82A}">
                    <a16:rowId xmlns:a16="http://schemas.microsoft.com/office/drawing/2014/main" val="4124837944"/>
                  </a:ext>
                </a:extLst>
              </a:tr>
            </a:tbl>
          </a:graphicData>
        </a:graphic>
      </p:graphicFrame>
      <p:sp>
        <p:nvSpPr>
          <p:cNvPr id="6" name="Slide Number Placeholder 5">
            <a:extLst>
              <a:ext uri="{FF2B5EF4-FFF2-40B4-BE49-F238E27FC236}">
                <a16:creationId xmlns:a16="http://schemas.microsoft.com/office/drawing/2014/main" id="{3F827495-B1D5-4180-A07F-DD6E150E75E2}"/>
              </a:ext>
            </a:extLst>
          </p:cNvPr>
          <p:cNvSpPr>
            <a:spLocks noGrp="1"/>
          </p:cNvSpPr>
          <p:nvPr>
            <p:ph type="sldNum" sz="quarter" idx="12"/>
          </p:nvPr>
        </p:nvSpPr>
        <p:spPr>
          <a:xfrm>
            <a:off x="8474086" y="6309320"/>
            <a:ext cx="504163" cy="365125"/>
          </a:xfrm>
        </p:spPr>
        <p:txBody>
          <a:bodyPr/>
          <a:lstStyle/>
          <a:p>
            <a:fld id="{0B34F065-1154-456A-91E3-76DE8E75E17B}" type="slidenum">
              <a:rPr lang="ar-SA" sz="2000" b="1" smtClean="0">
                <a:latin typeface="Simplified Arabic" panose="02020603050405020304" pitchFamily="18" charset="-78"/>
                <a:cs typeface="Simplified Arabic" panose="02020603050405020304" pitchFamily="18" charset="-78"/>
              </a:rPr>
              <a:t>20</a:t>
            </a:fld>
            <a:endParaRPr lang="ar-SA" b="1" dirty="0">
              <a:latin typeface="Simplified Arabic" panose="02020603050405020304" pitchFamily="18" charset="-78"/>
              <a:cs typeface="Simplified Arabic" panose="02020603050405020304" pitchFamily="18" charset="-78"/>
            </a:endParaRPr>
          </a:p>
        </p:txBody>
      </p:sp>
    </p:spTree>
    <p:extLst>
      <p:ext uri="{BB962C8B-B14F-4D97-AF65-F5344CB8AC3E}">
        <p14:creationId xmlns:p14="http://schemas.microsoft.com/office/powerpoint/2010/main" val="42670798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 0" descr="preencoded.png"/>
          <p:cNvPicPr>
            <a:picLocks noChangeAspect="1"/>
          </p:cNvPicPr>
          <p:nvPr/>
        </p:nvPicPr>
        <p:blipFill>
          <a:blip r:embed="rId3"/>
          <a:stretch>
            <a:fillRect/>
          </a:stretch>
        </p:blipFill>
        <p:spPr>
          <a:xfrm>
            <a:off x="5544616" y="0"/>
            <a:ext cx="3599384" cy="6844047"/>
          </a:xfrm>
          <a:prstGeom prst="rect">
            <a:avLst/>
          </a:prstGeom>
        </p:spPr>
      </p:pic>
      <p:sp>
        <p:nvSpPr>
          <p:cNvPr id="12" name="Text 0"/>
          <p:cNvSpPr/>
          <p:nvPr/>
        </p:nvSpPr>
        <p:spPr>
          <a:xfrm>
            <a:off x="1293655" y="71511"/>
            <a:ext cx="2970502" cy="385838"/>
          </a:xfrm>
          <a:prstGeom prst="rect">
            <a:avLst/>
          </a:prstGeom>
          <a:noFill/>
          <a:ln/>
        </p:spPr>
        <p:txBody>
          <a:bodyPr wrap="none" lIns="0" tIns="0" rIns="0" bIns="0" rtlCol="0" anchor="t"/>
          <a:lstStyle/>
          <a:p>
            <a:pPr marL="0" indent="0" algn="r" rtl="1">
              <a:lnSpc>
                <a:spcPct val="104000"/>
              </a:lnSpc>
              <a:buNone/>
            </a:pPr>
            <a:r>
              <a:rPr lang="ar-SA" sz="2400" b="1" dirty="0">
                <a:latin typeface="Simplified Arabic" panose="02020603050405020304" pitchFamily="18" charset="-78"/>
                <a:cs typeface="Simplified Arabic" panose="02020603050405020304" pitchFamily="18" charset="-78"/>
              </a:rPr>
              <a:t>الخاتمة والآفاق المستقبلية</a:t>
            </a:r>
          </a:p>
        </p:txBody>
      </p:sp>
      <p:sp>
        <p:nvSpPr>
          <p:cNvPr id="13" name="Shape 1"/>
          <p:cNvSpPr/>
          <p:nvPr/>
        </p:nvSpPr>
        <p:spPr>
          <a:xfrm>
            <a:off x="2827501" y="641448"/>
            <a:ext cx="2620162" cy="3163660"/>
          </a:xfrm>
          <a:prstGeom prst="roundRect">
            <a:avLst>
              <a:gd name="adj" fmla="val 3658"/>
            </a:avLst>
          </a:prstGeom>
          <a:solidFill>
            <a:srgbClr val="542C49"/>
          </a:solidFill>
          <a:ln w="4763">
            <a:solidFill>
              <a:srgbClr val="6D4562"/>
            </a:solidFill>
            <a:prstDash val="solid"/>
          </a:ln>
        </p:spPr>
        <p:txBody>
          <a:bodyPr/>
          <a:lstStyle/>
          <a:p>
            <a:endParaRPr lang="ar-SY" dirty="0"/>
          </a:p>
        </p:txBody>
      </p:sp>
      <p:sp>
        <p:nvSpPr>
          <p:cNvPr id="14" name="Text 2"/>
          <p:cNvSpPr/>
          <p:nvPr/>
        </p:nvSpPr>
        <p:spPr>
          <a:xfrm>
            <a:off x="3680987" y="725580"/>
            <a:ext cx="1550673" cy="406744"/>
          </a:xfrm>
          <a:prstGeom prst="rect">
            <a:avLst/>
          </a:prstGeom>
          <a:noFill/>
          <a:ln/>
        </p:spPr>
        <p:txBody>
          <a:bodyPr wrap="none" lIns="0" tIns="0" rIns="0" bIns="0" rtlCol="0" anchor="t"/>
          <a:lstStyle/>
          <a:p>
            <a:pPr marL="0" indent="0" algn="r" rtl="1">
              <a:lnSpc>
                <a:spcPct val="104000"/>
              </a:lnSpc>
              <a:buNone/>
            </a:pPr>
            <a:r>
              <a:rPr lang="ar-SA" sz="2400" b="1" dirty="0">
                <a:solidFill>
                  <a:schemeClr val="bg1"/>
                </a:solidFill>
                <a:latin typeface="Simplified Arabic" panose="02020603050405020304" pitchFamily="18" charset="-78"/>
                <a:cs typeface="Simplified Arabic" panose="02020603050405020304" pitchFamily="18" charset="-78"/>
              </a:rPr>
              <a:t>إنجاز البحث</a:t>
            </a:r>
          </a:p>
        </p:txBody>
      </p:sp>
      <p:sp>
        <p:nvSpPr>
          <p:cNvPr id="21" name="Text 3"/>
          <p:cNvSpPr/>
          <p:nvPr/>
        </p:nvSpPr>
        <p:spPr>
          <a:xfrm>
            <a:off x="2893324" y="1144976"/>
            <a:ext cx="2407635" cy="2580046"/>
          </a:xfrm>
          <a:prstGeom prst="rect">
            <a:avLst/>
          </a:prstGeom>
          <a:noFill/>
          <a:ln/>
        </p:spPr>
        <p:txBody>
          <a:bodyPr wrap="square" lIns="0" tIns="0" rIns="0" bIns="0" rtlCol="0" anchor="t">
            <a:noAutofit/>
          </a:bodyPr>
          <a:lstStyle/>
          <a:p>
            <a:pPr marL="0" indent="0" algn="r" rtl="1">
              <a:lnSpc>
                <a:spcPct val="125000"/>
              </a:lnSpc>
              <a:buNone/>
            </a:pPr>
            <a:r>
              <a:rPr lang="ar-SA" sz="2000" dirty="0">
                <a:solidFill>
                  <a:schemeClr val="bg1"/>
                </a:solidFill>
                <a:latin typeface="Simplified Arabic" panose="02020603050405020304" pitchFamily="18" charset="-78"/>
                <a:cs typeface="Simplified Arabic" panose="02020603050405020304" pitchFamily="18" charset="-78"/>
              </a:rPr>
              <a:t>نظام ذكي متكامل يجمع بين </a:t>
            </a:r>
            <a:r>
              <a:rPr lang="en-US" sz="1900" dirty="0">
                <a:solidFill>
                  <a:schemeClr val="bg1"/>
                </a:solidFill>
                <a:latin typeface="Simplified Arabic" panose="02020603050405020304" pitchFamily="18" charset="-78"/>
                <a:cs typeface="Simplified Arabic" panose="02020603050405020304" pitchFamily="18" charset="-78"/>
              </a:rPr>
              <a:t>EfficientNet-B0 </a:t>
            </a:r>
            <a:r>
              <a:rPr lang="ar-SA" sz="2000" dirty="0">
                <a:solidFill>
                  <a:schemeClr val="bg1"/>
                </a:solidFill>
                <a:latin typeface="Simplified Arabic" panose="02020603050405020304" pitchFamily="18" charset="-78"/>
                <a:cs typeface="Simplified Arabic" panose="02020603050405020304" pitchFamily="18" charset="-78"/>
              </a:rPr>
              <a:t> وتطبيق </a:t>
            </a:r>
            <a:r>
              <a:rPr lang="en-US" sz="1900" dirty="0">
                <a:solidFill>
                  <a:schemeClr val="bg1"/>
                </a:solidFill>
                <a:latin typeface="Simplified Arabic" panose="02020603050405020304" pitchFamily="18" charset="-78"/>
                <a:cs typeface="Simplified Arabic" panose="02020603050405020304" pitchFamily="18" charset="-78"/>
              </a:rPr>
              <a:t>Django</a:t>
            </a:r>
            <a:r>
              <a:rPr lang="en-US" sz="2000" dirty="0">
                <a:solidFill>
                  <a:schemeClr val="bg1"/>
                </a:solidFill>
                <a:latin typeface="Simplified Arabic" panose="02020603050405020304" pitchFamily="18" charset="-78"/>
                <a:cs typeface="Simplified Arabic" panose="02020603050405020304" pitchFamily="18" charset="-78"/>
              </a:rPr>
              <a:t> </a:t>
            </a:r>
            <a:r>
              <a:rPr lang="ar-SA" sz="2000" dirty="0">
                <a:solidFill>
                  <a:schemeClr val="bg1"/>
                </a:solidFill>
                <a:latin typeface="Simplified Arabic" panose="02020603050405020304" pitchFamily="18" charset="-78"/>
                <a:cs typeface="Simplified Arabic" panose="02020603050405020304" pitchFamily="18" charset="-78"/>
              </a:rPr>
              <a:t> لتشخيص 20 مرضاً في الزيتون والحمضيات بدقة عالية وتقديم توصيات علاجية باللغة العربية.</a:t>
            </a:r>
          </a:p>
        </p:txBody>
      </p:sp>
      <p:sp>
        <p:nvSpPr>
          <p:cNvPr id="22" name="Shape 4"/>
          <p:cNvSpPr/>
          <p:nvPr/>
        </p:nvSpPr>
        <p:spPr>
          <a:xfrm>
            <a:off x="222890" y="641449"/>
            <a:ext cx="2446179" cy="3163659"/>
          </a:xfrm>
          <a:prstGeom prst="roundRect">
            <a:avLst>
              <a:gd name="adj" fmla="val 3658"/>
            </a:avLst>
          </a:prstGeom>
          <a:solidFill>
            <a:srgbClr val="542C49"/>
          </a:solidFill>
          <a:ln w="4763">
            <a:solidFill>
              <a:srgbClr val="6D4562"/>
            </a:solidFill>
            <a:prstDash val="solid"/>
          </a:ln>
        </p:spPr>
        <p:txBody>
          <a:bodyPr/>
          <a:lstStyle/>
          <a:p>
            <a:endParaRPr lang="ar-SY" sz="2400" b="1" dirty="0">
              <a:solidFill>
                <a:schemeClr val="bg1"/>
              </a:solidFill>
              <a:latin typeface="Simplified Arabic" panose="02020603050405020304" pitchFamily="18" charset="-78"/>
              <a:cs typeface="Simplified Arabic" panose="02020603050405020304" pitchFamily="18" charset="-78"/>
            </a:endParaRPr>
          </a:p>
        </p:txBody>
      </p:sp>
      <p:sp>
        <p:nvSpPr>
          <p:cNvPr id="23" name="Text 5"/>
          <p:cNvSpPr/>
          <p:nvPr/>
        </p:nvSpPr>
        <p:spPr>
          <a:xfrm>
            <a:off x="553904" y="967648"/>
            <a:ext cx="1978968" cy="504222"/>
          </a:xfrm>
          <a:prstGeom prst="rect">
            <a:avLst/>
          </a:prstGeom>
          <a:noFill/>
          <a:ln/>
        </p:spPr>
        <p:txBody>
          <a:bodyPr wrap="none" lIns="0" tIns="0" rIns="0" bIns="0" rtlCol="0" anchor="t"/>
          <a:lstStyle/>
          <a:p>
            <a:pPr marL="0" indent="0" algn="r" rtl="1">
              <a:lnSpc>
                <a:spcPct val="104000"/>
              </a:lnSpc>
              <a:buNone/>
            </a:pPr>
            <a:endParaRPr lang="ar-SA" sz="1150" dirty="0"/>
          </a:p>
        </p:txBody>
      </p:sp>
      <p:sp>
        <p:nvSpPr>
          <p:cNvPr id="24" name="Text 6"/>
          <p:cNvSpPr/>
          <p:nvPr/>
        </p:nvSpPr>
        <p:spPr>
          <a:xfrm>
            <a:off x="384253" y="1351442"/>
            <a:ext cx="2125419" cy="2373580"/>
          </a:xfrm>
          <a:prstGeom prst="rect">
            <a:avLst/>
          </a:prstGeom>
          <a:noFill/>
          <a:ln/>
        </p:spPr>
        <p:txBody>
          <a:bodyPr wrap="square" lIns="0" tIns="0" rIns="0" bIns="0" rtlCol="0" anchor="t">
            <a:normAutofit/>
          </a:bodyPr>
          <a:lstStyle/>
          <a:p>
            <a:pPr>
              <a:lnSpc>
                <a:spcPct val="125000"/>
              </a:lnSpc>
            </a:pPr>
            <a:r>
              <a:rPr lang="ar-SA" sz="2000" dirty="0">
                <a:solidFill>
                  <a:schemeClr val="bg1"/>
                </a:solidFill>
                <a:latin typeface="Simplified Arabic" panose="02020603050405020304" pitchFamily="18" charset="-78"/>
                <a:cs typeface="Simplified Arabic" panose="02020603050405020304" pitchFamily="18" charset="-78"/>
              </a:rPr>
              <a:t>تعميم النظام على محاصيل أخرى، وتحديث قاعدة البيانات باستمرار، وتطبيقه ميدانياً بالتعاون مع الجهات الزراعية.</a:t>
            </a:r>
          </a:p>
        </p:txBody>
      </p:sp>
      <p:sp>
        <p:nvSpPr>
          <p:cNvPr id="25" name="Shape 7"/>
          <p:cNvSpPr/>
          <p:nvPr/>
        </p:nvSpPr>
        <p:spPr>
          <a:xfrm>
            <a:off x="237451" y="3944529"/>
            <a:ext cx="5082910" cy="1342520"/>
          </a:xfrm>
          <a:prstGeom prst="roundRect">
            <a:avLst>
              <a:gd name="adj" fmla="val 6015"/>
            </a:avLst>
          </a:prstGeom>
          <a:solidFill>
            <a:srgbClr val="542C49"/>
          </a:solidFill>
          <a:ln w="4763">
            <a:solidFill>
              <a:srgbClr val="6D4562"/>
            </a:solidFill>
            <a:prstDash val="solid"/>
          </a:ln>
        </p:spPr>
      </p:sp>
      <p:sp>
        <p:nvSpPr>
          <p:cNvPr id="26" name="Text 8"/>
          <p:cNvSpPr/>
          <p:nvPr/>
        </p:nvSpPr>
        <p:spPr>
          <a:xfrm>
            <a:off x="3193749" y="3988427"/>
            <a:ext cx="1933951" cy="371633"/>
          </a:xfrm>
          <a:prstGeom prst="rect">
            <a:avLst/>
          </a:prstGeom>
          <a:noFill/>
          <a:ln/>
        </p:spPr>
        <p:txBody>
          <a:bodyPr wrap="none" lIns="0" tIns="0" rIns="0" bIns="0" rtlCol="0" anchor="t"/>
          <a:lstStyle/>
          <a:p>
            <a:pPr marL="0" indent="0" algn="r" rtl="1">
              <a:lnSpc>
                <a:spcPct val="104000"/>
              </a:lnSpc>
              <a:buNone/>
            </a:pPr>
            <a:r>
              <a:rPr lang="ar-SA" sz="2400" b="1" dirty="0">
                <a:solidFill>
                  <a:schemeClr val="bg1"/>
                </a:solidFill>
                <a:latin typeface="Simplified Arabic" panose="02020603050405020304" pitchFamily="18" charset="-78"/>
                <a:cs typeface="Simplified Arabic" panose="02020603050405020304" pitchFamily="18" charset="-78"/>
              </a:rPr>
              <a:t>الآفاق المستقبلية</a:t>
            </a:r>
          </a:p>
        </p:txBody>
      </p:sp>
      <p:sp>
        <p:nvSpPr>
          <p:cNvPr id="27" name="Text 9"/>
          <p:cNvSpPr/>
          <p:nvPr/>
        </p:nvSpPr>
        <p:spPr>
          <a:xfrm>
            <a:off x="237451" y="4499481"/>
            <a:ext cx="4858775" cy="719044"/>
          </a:xfrm>
          <a:prstGeom prst="rect">
            <a:avLst/>
          </a:prstGeom>
          <a:noFill/>
          <a:ln/>
        </p:spPr>
        <p:txBody>
          <a:bodyPr wrap="square" lIns="0" tIns="0" rIns="0" bIns="0" rtlCol="0" anchor="t">
            <a:normAutofit fontScale="92500"/>
          </a:bodyPr>
          <a:lstStyle/>
          <a:p>
            <a:pPr marL="0" indent="0" algn="r" rtl="1">
              <a:lnSpc>
                <a:spcPct val="125000"/>
              </a:lnSpc>
              <a:buNone/>
            </a:pPr>
            <a:r>
              <a:rPr lang="ar-SA" sz="2000" b="1" dirty="0">
                <a:solidFill>
                  <a:schemeClr val="bg1"/>
                </a:solidFill>
                <a:latin typeface="Simplified Arabic" panose="02020603050405020304" pitchFamily="18" charset="-78"/>
                <a:cs typeface="Simplified Arabic" panose="02020603050405020304" pitchFamily="18" charset="-78"/>
              </a:rPr>
              <a:t>دعم التصوير الميداني عبر الهاتف المحمول، إضافة أمراض جديدة، وتطوير نسخة تعمل دون اتصال بالإنترنت </a:t>
            </a:r>
            <a:r>
              <a:rPr lang="en-US" sz="2000" b="1" dirty="0">
                <a:solidFill>
                  <a:schemeClr val="bg1"/>
                </a:solidFill>
                <a:latin typeface="Simplified Arabic" panose="02020603050405020304" pitchFamily="18" charset="-78"/>
                <a:cs typeface="Simplified Arabic" panose="02020603050405020304" pitchFamily="18" charset="-78"/>
              </a:rPr>
              <a:t>(</a:t>
            </a:r>
            <a:r>
              <a:rPr lang="en-US" sz="1900" b="1" dirty="0">
                <a:solidFill>
                  <a:schemeClr val="bg1"/>
                </a:solidFill>
                <a:latin typeface="Simplified Arabic" panose="02020603050405020304" pitchFamily="18" charset="-78"/>
                <a:cs typeface="Simplified Arabic" panose="02020603050405020304" pitchFamily="18" charset="-78"/>
              </a:rPr>
              <a:t>Offline</a:t>
            </a:r>
            <a:r>
              <a:rPr lang="en-US" sz="2000" b="1" dirty="0">
                <a:solidFill>
                  <a:schemeClr val="bg1"/>
                </a:solidFill>
                <a:latin typeface="Simplified Arabic" panose="02020603050405020304" pitchFamily="18" charset="-78"/>
                <a:cs typeface="Simplified Arabic" panose="02020603050405020304" pitchFamily="18" charset="-78"/>
              </a:rPr>
              <a:t>)</a:t>
            </a:r>
            <a:r>
              <a:rPr lang="ar-SA" sz="2000" b="1" dirty="0">
                <a:solidFill>
                  <a:schemeClr val="bg1"/>
                </a:solidFill>
                <a:latin typeface="Simplified Arabic" panose="02020603050405020304" pitchFamily="18" charset="-78"/>
                <a:cs typeface="Simplified Arabic" panose="02020603050405020304" pitchFamily="18" charset="-78"/>
              </a:rPr>
              <a:t>.</a:t>
            </a:r>
          </a:p>
        </p:txBody>
      </p:sp>
      <p:sp>
        <p:nvSpPr>
          <p:cNvPr id="28" name="Shape 10"/>
          <p:cNvSpPr/>
          <p:nvPr/>
        </p:nvSpPr>
        <p:spPr>
          <a:xfrm>
            <a:off x="-15173" y="5369149"/>
            <a:ext cx="5447662" cy="1316097"/>
          </a:xfrm>
          <a:prstGeom prst="roundRect">
            <a:avLst>
              <a:gd name="adj" fmla="val 8139"/>
            </a:avLst>
          </a:prstGeom>
          <a:solidFill>
            <a:srgbClr val="EDDEE9"/>
          </a:solidFill>
          <a:ln/>
        </p:spPr>
      </p:sp>
      <p:sp>
        <p:nvSpPr>
          <p:cNvPr id="30" name="Text 11"/>
          <p:cNvSpPr/>
          <p:nvPr/>
        </p:nvSpPr>
        <p:spPr>
          <a:xfrm>
            <a:off x="86942" y="5457794"/>
            <a:ext cx="5082910" cy="1309552"/>
          </a:xfrm>
          <a:prstGeom prst="rect">
            <a:avLst/>
          </a:prstGeom>
          <a:noFill/>
          <a:ln/>
        </p:spPr>
        <p:txBody>
          <a:bodyPr wrap="square" lIns="0" tIns="0" rIns="0" bIns="0" rtlCol="0" anchor="t">
            <a:noAutofit/>
          </a:bodyPr>
          <a:lstStyle/>
          <a:p>
            <a:pPr>
              <a:lnSpc>
                <a:spcPct val="125000"/>
              </a:lnSpc>
            </a:pPr>
            <a:r>
              <a:rPr lang="ar-SA" sz="2400" b="1" dirty="0">
                <a:latin typeface="Simplified Arabic" panose="02020603050405020304" pitchFamily="18" charset="-78"/>
                <a:cs typeface="Simplified Arabic" panose="02020603050405020304" pitchFamily="18" charset="-78"/>
              </a:rPr>
              <a:t>الكلمات المفتاحية: </a:t>
            </a:r>
            <a:r>
              <a:rPr lang="ar-SA" sz="2000" b="1" dirty="0">
                <a:latin typeface="Simplified Arabic" panose="02020603050405020304" pitchFamily="18" charset="-78"/>
                <a:cs typeface="Simplified Arabic" panose="02020603050405020304" pitchFamily="18" charset="-78"/>
              </a:rPr>
              <a:t>أمراض الزيتون، أمراض الحمضيات، معالجة الصور الرقمية، التعلم العميق، </a:t>
            </a:r>
            <a:r>
              <a:rPr lang="en-US" sz="2000" b="1" dirty="0">
                <a:latin typeface="Simplified Arabic" panose="02020603050405020304" pitchFamily="18" charset="-78"/>
                <a:cs typeface="Simplified Arabic" panose="02020603050405020304" pitchFamily="18" charset="-78"/>
              </a:rPr>
              <a:t>EfficientNet-B0، PyTorch </a:t>
            </a:r>
            <a:r>
              <a:rPr lang="ar-SA" sz="2000" b="1" dirty="0">
                <a:latin typeface="Simplified Arabic" panose="02020603050405020304" pitchFamily="18" charset="-78"/>
                <a:cs typeface="Simplified Arabic" panose="02020603050405020304" pitchFamily="18" charset="-78"/>
              </a:rPr>
              <a:t>، تصنيف الصور، الزراعة الذكية، </a:t>
            </a:r>
            <a:r>
              <a:rPr lang="en-US" sz="2000" b="1" dirty="0">
                <a:latin typeface="Simplified Arabic" panose="02020603050405020304" pitchFamily="18" charset="-78"/>
                <a:cs typeface="Simplified Arabic" panose="02020603050405020304" pitchFamily="18" charset="-78"/>
              </a:rPr>
              <a:t>Django.</a:t>
            </a:r>
            <a:endParaRPr lang="ar-SA" sz="2000" b="1" dirty="0">
              <a:latin typeface="Simplified Arabic" panose="02020603050405020304" pitchFamily="18" charset="-78"/>
              <a:cs typeface="Simplified Arabic" panose="02020603050405020304" pitchFamily="18" charset="-78"/>
            </a:endParaRPr>
          </a:p>
        </p:txBody>
      </p:sp>
      <p:sp>
        <p:nvSpPr>
          <p:cNvPr id="16" name="Text 2">
            <a:extLst>
              <a:ext uri="{FF2B5EF4-FFF2-40B4-BE49-F238E27FC236}">
                <a16:creationId xmlns:a16="http://schemas.microsoft.com/office/drawing/2014/main" id="{ECFA928E-DD56-4333-B993-C1AC9343EC9E}"/>
              </a:ext>
            </a:extLst>
          </p:cNvPr>
          <p:cNvSpPr/>
          <p:nvPr/>
        </p:nvSpPr>
        <p:spPr>
          <a:xfrm>
            <a:off x="915908" y="805277"/>
            <a:ext cx="1550673" cy="406744"/>
          </a:xfrm>
          <a:prstGeom prst="rect">
            <a:avLst/>
          </a:prstGeom>
          <a:noFill/>
          <a:ln/>
        </p:spPr>
        <p:txBody>
          <a:bodyPr wrap="none" lIns="0" tIns="0" rIns="0" bIns="0" rtlCol="0" anchor="t"/>
          <a:lstStyle/>
          <a:p>
            <a:r>
              <a:rPr lang="ar-SY" sz="2400" b="1" dirty="0">
                <a:solidFill>
                  <a:schemeClr val="bg1"/>
                </a:solidFill>
                <a:latin typeface="Simplified Arabic" panose="02020603050405020304" pitchFamily="18" charset="-78"/>
                <a:cs typeface="Simplified Arabic" panose="02020603050405020304" pitchFamily="18" charset="-78"/>
              </a:rPr>
              <a:t>التوصيات</a:t>
            </a:r>
            <a:endParaRPr lang="ar-SY" sz="2000" b="1" dirty="0">
              <a:solidFill>
                <a:schemeClr val="bg1"/>
              </a:solidFill>
              <a:latin typeface="Simplified Arabic" panose="02020603050405020304" pitchFamily="18" charset="-78"/>
              <a:cs typeface="Simplified Arabic" panose="02020603050405020304" pitchFamily="18" charset="-78"/>
            </a:endParaRPr>
          </a:p>
        </p:txBody>
      </p:sp>
      <p:sp>
        <p:nvSpPr>
          <p:cNvPr id="4" name="Slide Number Placeholder 3">
            <a:extLst>
              <a:ext uri="{FF2B5EF4-FFF2-40B4-BE49-F238E27FC236}">
                <a16:creationId xmlns:a16="http://schemas.microsoft.com/office/drawing/2014/main" id="{EC8BD5DE-7C59-49C1-8311-82CECB1D3205}"/>
              </a:ext>
            </a:extLst>
          </p:cNvPr>
          <p:cNvSpPr>
            <a:spLocks noGrp="1"/>
          </p:cNvSpPr>
          <p:nvPr>
            <p:ph type="sldNum" sz="quarter" idx="12"/>
          </p:nvPr>
        </p:nvSpPr>
        <p:spPr>
          <a:xfrm>
            <a:off x="5100903" y="6470745"/>
            <a:ext cx="586408" cy="365125"/>
          </a:xfrm>
        </p:spPr>
        <p:txBody>
          <a:bodyPr/>
          <a:lstStyle/>
          <a:p>
            <a:fld id="{0B34F065-1154-456A-91E3-76DE8E75E17B}" type="slidenum">
              <a:rPr lang="ar-SA" sz="2000" b="1" smtClean="0">
                <a:latin typeface="Simplified Arabic" panose="02020603050405020304" pitchFamily="18" charset="-78"/>
                <a:cs typeface="Simplified Arabic" panose="02020603050405020304" pitchFamily="18" charset="-78"/>
              </a:rPr>
              <a:t>21</a:t>
            </a:fld>
            <a:endParaRPr lang="ar-SA" b="1" dirty="0">
              <a:latin typeface="Simplified Arabic" panose="02020603050405020304" pitchFamily="18" charset="-78"/>
              <a:cs typeface="Simplified Arabic" panose="02020603050405020304" pitchFamily="18" charset="-78"/>
            </a:endParaRPr>
          </a:p>
        </p:txBody>
      </p:sp>
    </p:spTree>
    <p:extLst>
      <p:ext uri="{BB962C8B-B14F-4D97-AF65-F5344CB8AC3E}">
        <p14:creationId xmlns:p14="http://schemas.microsoft.com/office/powerpoint/2010/main" val="21821830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8EDE80C-A9ED-4A7D-8DBD-A6CD18D75DF4}"/>
              </a:ext>
            </a:extLst>
          </p:cNvPr>
          <p:cNvSpPr txBox="1"/>
          <p:nvPr/>
        </p:nvSpPr>
        <p:spPr>
          <a:xfrm>
            <a:off x="3455876" y="332656"/>
            <a:ext cx="2232248" cy="646331"/>
          </a:xfrm>
          <a:prstGeom prst="rect">
            <a:avLst/>
          </a:prstGeom>
          <a:noFill/>
        </p:spPr>
        <p:txBody>
          <a:bodyPr wrap="square">
            <a:spAutoFit/>
          </a:bodyPr>
          <a:lstStyle/>
          <a:p>
            <a:r>
              <a:rPr lang="ar-SA" sz="3600" dirty="0">
                <a:latin typeface="Simplified Arabic" panose="02020603050405020304" pitchFamily="18" charset="-78"/>
                <a:cs typeface="Simplified Arabic" panose="02020603050405020304" pitchFamily="18" charset="-78"/>
              </a:rPr>
              <a:t>بعض المراجع</a:t>
            </a:r>
            <a:endParaRPr lang="ar-SY" sz="1000" dirty="0"/>
          </a:p>
        </p:txBody>
      </p:sp>
      <p:sp>
        <p:nvSpPr>
          <p:cNvPr id="9" name="Slide Number Placeholder 8">
            <a:extLst>
              <a:ext uri="{FF2B5EF4-FFF2-40B4-BE49-F238E27FC236}">
                <a16:creationId xmlns:a16="http://schemas.microsoft.com/office/drawing/2014/main" id="{CCB231DF-6714-41D4-A966-BEDAB7FC74E5}"/>
              </a:ext>
            </a:extLst>
          </p:cNvPr>
          <p:cNvSpPr>
            <a:spLocks noGrp="1"/>
          </p:cNvSpPr>
          <p:nvPr>
            <p:ph type="sldNum" sz="quarter" idx="12"/>
          </p:nvPr>
        </p:nvSpPr>
        <p:spPr>
          <a:xfrm>
            <a:off x="8244408" y="6237312"/>
            <a:ext cx="586408" cy="365125"/>
          </a:xfrm>
        </p:spPr>
        <p:txBody>
          <a:bodyPr/>
          <a:lstStyle/>
          <a:p>
            <a:fld id="{0B34F065-1154-456A-91E3-76DE8E75E17B}" type="slidenum">
              <a:rPr lang="ar-SA" sz="2000" b="1" smtClean="0">
                <a:latin typeface="Simplified Arabic" panose="02020603050405020304" pitchFamily="18" charset="-78"/>
                <a:cs typeface="Simplified Arabic" panose="02020603050405020304" pitchFamily="18" charset="-78"/>
              </a:rPr>
              <a:t>22</a:t>
            </a:fld>
            <a:endParaRPr lang="ar-SA" b="1" dirty="0">
              <a:latin typeface="Simplified Arabic" panose="02020603050405020304" pitchFamily="18" charset="-78"/>
              <a:cs typeface="Simplified Arabic" panose="02020603050405020304" pitchFamily="18" charset="-78"/>
            </a:endParaRPr>
          </a:p>
        </p:txBody>
      </p:sp>
      <p:sp>
        <p:nvSpPr>
          <p:cNvPr id="7" name="TextBox 6">
            <a:extLst>
              <a:ext uri="{FF2B5EF4-FFF2-40B4-BE49-F238E27FC236}">
                <a16:creationId xmlns:a16="http://schemas.microsoft.com/office/drawing/2014/main" id="{4693EB3A-5682-4C6F-8725-68B3155B82AD}"/>
              </a:ext>
            </a:extLst>
          </p:cNvPr>
          <p:cNvSpPr txBox="1"/>
          <p:nvPr/>
        </p:nvSpPr>
        <p:spPr>
          <a:xfrm>
            <a:off x="457200" y="1311963"/>
            <a:ext cx="8080412" cy="830997"/>
          </a:xfrm>
          <a:prstGeom prst="rect">
            <a:avLst/>
          </a:prstGeom>
          <a:noFill/>
        </p:spPr>
        <p:txBody>
          <a:bodyPr wrap="square">
            <a:spAutoFit/>
          </a:bodyPr>
          <a:lstStyle/>
          <a:p>
            <a:pPr marL="342900" indent="-342900" algn="just" rtl="1">
              <a:spcBef>
                <a:spcPts val="600"/>
              </a:spcBef>
              <a:spcAft>
                <a:spcPts val="600"/>
              </a:spcAft>
              <a:buFont typeface="Arial" panose="020B0604020202020204" pitchFamily="34" charset="0"/>
              <a:buChar char="•"/>
            </a:pPr>
            <a:r>
              <a:rPr lang="ar-SA" sz="2400" kern="100" dirty="0">
                <a:effectLst/>
                <a:latin typeface="Simplified Arabic" panose="02020603050405020304" pitchFamily="18" charset="-78"/>
                <a:cs typeface="Simplified Arabic" panose="02020603050405020304" pitchFamily="18" charset="-78"/>
              </a:rPr>
              <a:t>د. سلمان، عصام، تقانات تعلم الآلة (</a:t>
            </a:r>
            <a:r>
              <a:rPr lang="en-US" sz="2000" kern="100" dirty="0">
                <a:effectLst/>
                <a:latin typeface="Simplified Arabic" panose="02020603050405020304" pitchFamily="18" charset="-78"/>
                <a:cs typeface="Simplified Arabic" panose="02020603050405020304" pitchFamily="18" charset="-78"/>
              </a:rPr>
              <a:t>Machine Learning Technique</a:t>
            </a:r>
            <a:r>
              <a:rPr lang="ar-SA" sz="2400" kern="100" dirty="0">
                <a:effectLst/>
                <a:latin typeface="Simplified Arabic" panose="02020603050405020304" pitchFamily="18" charset="-78"/>
                <a:cs typeface="Simplified Arabic" panose="02020603050405020304" pitchFamily="18" charset="-78"/>
              </a:rPr>
              <a:t>)، سوريا: الجامعة الافتراضية السورية، 2025. </a:t>
            </a:r>
            <a:endParaRPr lang="en-US" kern="100" dirty="0">
              <a:effectLst/>
              <a:latin typeface="Simplified Arabic" panose="02020603050405020304" pitchFamily="18" charset="-78"/>
              <a:ea typeface="Calibri" panose="020F0502020204030204" pitchFamily="34" charset="0"/>
              <a:cs typeface="Simplified Arabic" panose="02020603050405020304" pitchFamily="18" charset="-78"/>
            </a:endParaRPr>
          </a:p>
        </p:txBody>
      </p:sp>
      <p:sp>
        <p:nvSpPr>
          <p:cNvPr id="10" name="TextBox 9">
            <a:extLst>
              <a:ext uri="{FF2B5EF4-FFF2-40B4-BE49-F238E27FC236}">
                <a16:creationId xmlns:a16="http://schemas.microsoft.com/office/drawing/2014/main" id="{89210E40-225D-4C89-8F31-C4A3333D4FF2}"/>
              </a:ext>
            </a:extLst>
          </p:cNvPr>
          <p:cNvSpPr txBox="1"/>
          <p:nvPr/>
        </p:nvSpPr>
        <p:spPr>
          <a:xfrm>
            <a:off x="457200" y="2192394"/>
            <a:ext cx="8080412" cy="830997"/>
          </a:xfrm>
          <a:prstGeom prst="rect">
            <a:avLst/>
          </a:prstGeom>
          <a:noFill/>
        </p:spPr>
        <p:txBody>
          <a:bodyPr wrap="square">
            <a:spAutoFit/>
          </a:bodyPr>
          <a:lstStyle/>
          <a:p>
            <a:pPr marL="342900" indent="-342900" algn="just" rtl="1">
              <a:spcBef>
                <a:spcPts val="600"/>
              </a:spcBef>
              <a:spcAft>
                <a:spcPts val="600"/>
              </a:spcAft>
              <a:buFont typeface="Arial" panose="020B0604020202020204" pitchFamily="34" charset="0"/>
              <a:buChar char="•"/>
            </a:pPr>
            <a:r>
              <a:rPr lang="ar-SA" sz="2400" kern="100" dirty="0">
                <a:latin typeface="Simplified Arabic" panose="02020603050405020304" pitchFamily="18" charset="-78"/>
                <a:cs typeface="Simplified Arabic" panose="02020603050405020304" pitchFamily="18" charset="-78"/>
              </a:rPr>
              <a:t>د. الخطيب، باسل، مقدمة إلى الذكاء الصنعي (</a:t>
            </a:r>
            <a:r>
              <a:rPr lang="en-US" sz="2000" kern="100" dirty="0">
                <a:latin typeface="Simplified Arabic" panose="02020603050405020304" pitchFamily="18" charset="-78"/>
                <a:cs typeface="Simplified Arabic" panose="02020603050405020304" pitchFamily="18" charset="-78"/>
              </a:rPr>
              <a:t>Introduction to Artificial Intelligence</a:t>
            </a:r>
            <a:r>
              <a:rPr lang="ar-SA" sz="2400" kern="100" dirty="0">
                <a:latin typeface="Simplified Arabic" panose="02020603050405020304" pitchFamily="18" charset="-78"/>
                <a:cs typeface="Simplified Arabic" panose="02020603050405020304" pitchFamily="18" charset="-78"/>
              </a:rPr>
              <a:t>)، سوريا: الجامعة الافتراضية السورية، 2025. </a:t>
            </a:r>
            <a:endParaRPr lang="en-US" sz="2400" kern="100" dirty="0">
              <a:latin typeface="Simplified Arabic" panose="02020603050405020304" pitchFamily="18" charset="-78"/>
              <a:cs typeface="Simplified Arabic" panose="02020603050405020304" pitchFamily="18" charset="-78"/>
            </a:endParaRPr>
          </a:p>
        </p:txBody>
      </p:sp>
      <p:sp>
        <p:nvSpPr>
          <p:cNvPr id="11" name="TextBox 10">
            <a:extLst>
              <a:ext uri="{FF2B5EF4-FFF2-40B4-BE49-F238E27FC236}">
                <a16:creationId xmlns:a16="http://schemas.microsoft.com/office/drawing/2014/main" id="{89F01266-E8F7-4EF7-BAAA-9970CEFBD96C}"/>
              </a:ext>
            </a:extLst>
          </p:cNvPr>
          <p:cNvSpPr txBox="1"/>
          <p:nvPr/>
        </p:nvSpPr>
        <p:spPr>
          <a:xfrm>
            <a:off x="457200" y="3102318"/>
            <a:ext cx="8080412" cy="830997"/>
          </a:xfrm>
          <a:prstGeom prst="rect">
            <a:avLst/>
          </a:prstGeom>
          <a:noFill/>
        </p:spPr>
        <p:txBody>
          <a:bodyPr wrap="square">
            <a:spAutoFit/>
          </a:bodyPr>
          <a:lstStyle/>
          <a:p>
            <a:pPr marL="342900" indent="-342900" algn="just">
              <a:spcBef>
                <a:spcPts val="600"/>
              </a:spcBef>
              <a:spcAft>
                <a:spcPts val="600"/>
              </a:spcAft>
              <a:buFont typeface="Arial" panose="020B0604020202020204" pitchFamily="34" charset="0"/>
              <a:buChar char="•"/>
            </a:pPr>
            <a:r>
              <a:rPr lang="ar-SA" sz="2400" kern="100" dirty="0">
                <a:latin typeface="Simplified Arabic" panose="02020603050405020304" pitchFamily="18" charset="-78"/>
                <a:cs typeface="Simplified Arabic" panose="02020603050405020304" pitchFamily="18" charset="-78"/>
              </a:rPr>
              <a:t>د. الخطيب, باسل، التعلم العميق في الويب (</a:t>
            </a:r>
            <a:r>
              <a:rPr lang="en-US" sz="2000" kern="100" dirty="0">
                <a:latin typeface="Simplified Arabic" panose="02020603050405020304" pitchFamily="18" charset="-78"/>
                <a:cs typeface="Simplified Arabic" panose="02020603050405020304" pitchFamily="18" charset="-78"/>
              </a:rPr>
              <a:t>Web Deep Learning</a:t>
            </a:r>
            <a:r>
              <a:rPr lang="ar-SA" sz="2400" kern="100" dirty="0">
                <a:latin typeface="Simplified Arabic" panose="02020603050405020304" pitchFamily="18" charset="-78"/>
                <a:cs typeface="Simplified Arabic" panose="02020603050405020304" pitchFamily="18" charset="-78"/>
              </a:rPr>
              <a:t>)، سوريا: الجامعة الافتراضية السورية, 2025</a:t>
            </a:r>
            <a:r>
              <a:rPr lang="en-US" sz="2400" kern="100" dirty="0">
                <a:latin typeface="Simplified Arabic" panose="02020603050405020304" pitchFamily="18" charset="-78"/>
                <a:cs typeface="Simplified Arabic" panose="02020603050405020304" pitchFamily="18" charset="-78"/>
              </a:rPr>
              <a:t>.</a:t>
            </a:r>
          </a:p>
        </p:txBody>
      </p:sp>
      <p:sp>
        <p:nvSpPr>
          <p:cNvPr id="13" name="TextBox 12">
            <a:extLst>
              <a:ext uri="{FF2B5EF4-FFF2-40B4-BE49-F238E27FC236}">
                <a16:creationId xmlns:a16="http://schemas.microsoft.com/office/drawing/2014/main" id="{ECBD1CFA-558E-4F6C-A4CD-1BB9A61618B2}"/>
              </a:ext>
            </a:extLst>
          </p:cNvPr>
          <p:cNvSpPr txBox="1"/>
          <p:nvPr/>
        </p:nvSpPr>
        <p:spPr>
          <a:xfrm>
            <a:off x="606388" y="4995144"/>
            <a:ext cx="7931224" cy="1107996"/>
          </a:xfrm>
          <a:prstGeom prst="rect">
            <a:avLst/>
          </a:prstGeom>
          <a:noFill/>
        </p:spPr>
        <p:txBody>
          <a:bodyPr wrap="square">
            <a:spAutoFit/>
          </a:bodyPr>
          <a:lstStyle/>
          <a:p>
            <a:pPr marL="342900" indent="-342900" algn="just" rtl="0">
              <a:spcBef>
                <a:spcPts val="600"/>
              </a:spcBef>
              <a:spcAft>
                <a:spcPts val="600"/>
              </a:spcAft>
              <a:buFont typeface="Arial" panose="020B0604020202020204" pitchFamily="34" charset="0"/>
              <a:buChar char="•"/>
            </a:pPr>
            <a:r>
              <a:rPr lang="en-US" sz="2200" kern="100" dirty="0">
                <a:effectLst/>
                <a:cs typeface="+mj-cs"/>
              </a:rPr>
              <a:t>M. Tan and Q. V. Le, "EfficientNet: Rethinking Model Scaling for Convolutional Neural Networks," in International Conference on Machine Learning (ICML), 2019. </a:t>
            </a:r>
            <a:endParaRPr lang="en-US" sz="2200" kern="100" dirty="0">
              <a:effectLst/>
              <a:latin typeface="Calibri" panose="020F0502020204030204" pitchFamily="34" charset="0"/>
              <a:ea typeface="Calibri" panose="020F0502020204030204" pitchFamily="34" charset="0"/>
              <a:cs typeface="+mj-cs"/>
            </a:endParaRPr>
          </a:p>
        </p:txBody>
      </p:sp>
      <p:sp>
        <p:nvSpPr>
          <p:cNvPr id="15" name="TextBox 14">
            <a:extLst>
              <a:ext uri="{FF2B5EF4-FFF2-40B4-BE49-F238E27FC236}">
                <a16:creationId xmlns:a16="http://schemas.microsoft.com/office/drawing/2014/main" id="{D563F714-4661-4BF2-9677-35C31EB959C9}"/>
              </a:ext>
            </a:extLst>
          </p:cNvPr>
          <p:cNvSpPr txBox="1"/>
          <p:nvPr/>
        </p:nvSpPr>
        <p:spPr>
          <a:xfrm>
            <a:off x="606388" y="3933315"/>
            <a:ext cx="7931224" cy="769441"/>
          </a:xfrm>
          <a:prstGeom prst="rect">
            <a:avLst/>
          </a:prstGeom>
          <a:noFill/>
        </p:spPr>
        <p:txBody>
          <a:bodyPr wrap="square">
            <a:spAutoFit/>
          </a:bodyPr>
          <a:lstStyle/>
          <a:p>
            <a:pPr marL="342900" indent="-342900" algn="just" rtl="0">
              <a:spcBef>
                <a:spcPts val="600"/>
              </a:spcBef>
              <a:spcAft>
                <a:spcPts val="600"/>
              </a:spcAft>
              <a:buFont typeface="Arial" panose="020B0604020202020204" pitchFamily="34" charset="0"/>
              <a:buChar char="•"/>
            </a:pPr>
            <a:r>
              <a:rPr lang="en-US" sz="2200" kern="100" dirty="0">
                <a:effectLst/>
                <a:cs typeface="+mj-cs"/>
              </a:rPr>
              <a:t>S. Russell and P. Norvig, Artificial Intelligence: A Modern Approach, 4th ed., Pearson, 2022.</a:t>
            </a:r>
            <a:endParaRPr lang="en-US" sz="2200" kern="100" dirty="0">
              <a:effectLst/>
              <a:latin typeface="Calibri" panose="020F0502020204030204" pitchFamily="34" charset="0"/>
              <a:ea typeface="Calibri" panose="020F0502020204030204" pitchFamily="34" charset="0"/>
              <a:cs typeface="+mj-cs"/>
            </a:endParaRPr>
          </a:p>
        </p:txBody>
      </p:sp>
    </p:spTree>
    <p:extLst>
      <p:ext uri="{BB962C8B-B14F-4D97-AF65-F5344CB8AC3E}">
        <p14:creationId xmlns:p14="http://schemas.microsoft.com/office/powerpoint/2010/main" val="38575249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8EDE80C-A9ED-4A7D-8DBD-A6CD18D75DF4}"/>
              </a:ext>
            </a:extLst>
          </p:cNvPr>
          <p:cNvSpPr txBox="1"/>
          <p:nvPr/>
        </p:nvSpPr>
        <p:spPr>
          <a:xfrm>
            <a:off x="323528" y="1340768"/>
            <a:ext cx="8352928" cy="2400657"/>
          </a:xfrm>
          <a:prstGeom prst="rect">
            <a:avLst/>
          </a:prstGeom>
          <a:noFill/>
        </p:spPr>
        <p:txBody>
          <a:bodyPr wrap="square">
            <a:spAutoFit/>
          </a:bodyPr>
          <a:lstStyle/>
          <a:p>
            <a:endParaRPr lang="ar-SY" dirty="0"/>
          </a:p>
          <a:p>
            <a:pPr algn="ctr"/>
            <a:r>
              <a:rPr lang="ar-SY" sz="6600" dirty="0">
                <a:effectLst/>
                <a:latin typeface="Simplified Arabic" panose="02020603050405020304" pitchFamily="18" charset="-78"/>
                <a:cs typeface="Simplified Arabic" panose="02020603050405020304" pitchFamily="18" charset="-78"/>
              </a:rPr>
              <a:t>شكراً على حسن إصغائكم</a:t>
            </a:r>
          </a:p>
          <a:p>
            <a:pPr algn="ctr"/>
            <a:r>
              <a:rPr lang="ar-SY" sz="6600" dirty="0">
                <a:effectLst/>
                <a:latin typeface="Simplified Arabic" panose="02020603050405020304" pitchFamily="18" charset="-78"/>
                <a:cs typeface="Simplified Arabic" panose="02020603050405020304" pitchFamily="18" charset="-78"/>
              </a:rPr>
              <a:t>واهتمامكم</a:t>
            </a:r>
          </a:p>
        </p:txBody>
      </p:sp>
      <p:sp>
        <p:nvSpPr>
          <p:cNvPr id="9" name="Slide Number Placeholder 8">
            <a:extLst>
              <a:ext uri="{FF2B5EF4-FFF2-40B4-BE49-F238E27FC236}">
                <a16:creationId xmlns:a16="http://schemas.microsoft.com/office/drawing/2014/main" id="{CCB231DF-6714-41D4-A966-BEDAB7FC74E5}"/>
              </a:ext>
            </a:extLst>
          </p:cNvPr>
          <p:cNvSpPr>
            <a:spLocks noGrp="1"/>
          </p:cNvSpPr>
          <p:nvPr>
            <p:ph type="sldNum" sz="quarter" idx="12"/>
          </p:nvPr>
        </p:nvSpPr>
        <p:spPr>
          <a:xfrm>
            <a:off x="8244408" y="6237312"/>
            <a:ext cx="586408" cy="365125"/>
          </a:xfrm>
        </p:spPr>
        <p:txBody>
          <a:bodyPr/>
          <a:lstStyle/>
          <a:p>
            <a:fld id="{0B34F065-1154-456A-91E3-76DE8E75E17B}" type="slidenum">
              <a:rPr lang="ar-SA" sz="2000" b="1" smtClean="0">
                <a:latin typeface="Simplified Arabic" panose="02020603050405020304" pitchFamily="18" charset="-78"/>
                <a:cs typeface="Simplified Arabic" panose="02020603050405020304" pitchFamily="18" charset="-78"/>
              </a:rPr>
              <a:t>23</a:t>
            </a:fld>
            <a:endParaRPr lang="ar-SA" b="1" dirty="0">
              <a:latin typeface="Simplified Arabic" panose="02020603050405020304" pitchFamily="18" charset="-78"/>
              <a:cs typeface="Simplified Arabic" panose="02020603050405020304" pitchFamily="18" charset="-78"/>
            </a:endParaRPr>
          </a:p>
        </p:txBody>
      </p:sp>
    </p:spTree>
    <p:extLst>
      <p:ext uri="{BB962C8B-B14F-4D97-AF65-F5344CB8AC3E}">
        <p14:creationId xmlns:p14="http://schemas.microsoft.com/office/powerpoint/2010/main" val="2465752160"/>
      </p:ext>
    </p:extLst>
  </p:cSld>
  <p:clrMapOvr>
    <a:masterClrMapping/>
  </p:clrMapOvr>
</p:sld>
</file>

<file path=ppt/theme/theme1.xml><?xml version="1.0" encoding="utf-8"?>
<a:theme xmlns:a="http://schemas.openxmlformats.org/drawingml/2006/main" name="سمة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نسق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Wisp</Template>
  <TotalTime>1310</TotalTime>
  <Words>1442</Words>
  <Application>Microsoft Office PowerPoint</Application>
  <PresentationFormat>On-screen Show (4:3)</PresentationFormat>
  <Paragraphs>224</Paragraphs>
  <Slides>23</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Simplified Arabic</vt:lpstr>
      <vt:lpstr>Times New Roman</vt:lpstr>
      <vt:lpstr>سمة Office</vt:lpstr>
      <vt:lpstr>نظام ذكي لتشخيص أمراض أشجار الزيتون والحمضيات وتقديم توصيات المعالجة باستخدام التعلم العميق</vt:lpstr>
      <vt:lpstr>محتوى العرض</vt:lpstr>
      <vt:lpstr>فكرة المشروع</vt:lpstr>
      <vt:lpstr>مشكلة البحث</vt:lpstr>
      <vt:lpstr>أهداف المشروع وأهميته</vt:lpstr>
      <vt:lpstr>المتطلبات الوظيفية</vt:lpstr>
      <vt:lpstr>متطلبات الأداء</vt:lpstr>
      <vt:lpstr>يتكون النظام من أربع طبقات رئيسية تعمل بتناغم لتوفير تشخيص دقيق وفعال: الطبقة الأمامية (Frontend): واجهة المستخدم المبنية بتقنيات Django Templates، تتيح رفع الصور وعرض النتائج والتوصيات. طبقة المعالجة (Processing Layer): مسؤولة عن المعالجة المسبقة للصور (تغيير الحجم، التطبيع ...) وتحويل البيانات إلى Tensor. طبقة النموذج (Model Layer): تتضمن نموذج EfficientNet-B0 المدرَّب، لاستخلاص الميزات وتصنيف الأمراض إلى 20 فئة. طبقة قاعدة البيانات (Database Layer) لتخزين بيانات المستخدمين والصور، وقاعدة بيانات الأمراض والتوصيات، وسجل التصنيفات.</vt:lpstr>
      <vt:lpstr>PowerPoint Presentation</vt:lpstr>
      <vt:lpstr>مخطط حالات الاستخدام</vt:lpstr>
      <vt:lpstr>مخطط التسلسل لأنشطة المستخدم</vt:lpstr>
      <vt:lpstr>مخطط الكيان والعلاقة (ERD) لقاعدة بيانات النظام</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نظام ذكي لتشخيص أمراض أشجار الزيتون والحمضيات وتقديم توصيات المعالجة باستخدام التعلم العميق</dc:title>
  <dc:creator>R</dc:creator>
  <cp:lastModifiedBy>mohamad alras</cp:lastModifiedBy>
  <cp:revision>175</cp:revision>
  <dcterms:created xsi:type="dcterms:W3CDTF">2026-07-29T08:17:47Z</dcterms:created>
  <dcterms:modified xsi:type="dcterms:W3CDTF">2026-09-04T20:41:27Z</dcterms:modified>
</cp:coreProperties>
</file>